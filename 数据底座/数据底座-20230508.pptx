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tags/tag8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38"/>
  </p:notesMasterIdLst>
  <p:handoutMasterIdLst>
    <p:handoutMasterId r:id="rId39"/>
  </p:handoutMasterIdLst>
  <p:sldIdLst>
    <p:sldId id="379" r:id="rId6"/>
    <p:sldId id="472" r:id="rId7"/>
    <p:sldId id="495" r:id="rId8"/>
    <p:sldId id="499" r:id="rId9"/>
    <p:sldId id="526" r:id="rId10"/>
    <p:sldId id="496" r:id="rId11"/>
    <p:sldId id="518" r:id="rId12"/>
    <p:sldId id="525" r:id="rId13"/>
    <p:sldId id="521" r:id="rId14"/>
    <p:sldId id="523" r:id="rId15"/>
    <p:sldId id="520" r:id="rId16"/>
    <p:sldId id="519" r:id="rId17"/>
    <p:sldId id="537" r:id="rId18"/>
    <p:sldId id="538" r:id="rId19"/>
    <p:sldId id="535" r:id="rId20"/>
    <p:sldId id="556" r:id="rId21"/>
    <p:sldId id="554" r:id="rId22"/>
    <p:sldId id="555" r:id="rId23"/>
    <p:sldId id="557" r:id="rId24"/>
    <p:sldId id="527" r:id="rId25"/>
    <p:sldId id="497" r:id="rId26"/>
    <p:sldId id="498" r:id="rId27"/>
    <p:sldId id="507" r:id="rId28"/>
    <p:sldId id="539" r:id="rId29"/>
    <p:sldId id="505" r:id="rId30"/>
    <p:sldId id="501" r:id="rId31"/>
    <p:sldId id="494" r:id="rId32"/>
    <p:sldId id="553" r:id="rId33"/>
    <p:sldId id="502" r:id="rId34"/>
    <p:sldId id="503" r:id="rId35"/>
    <p:sldId id="524" r:id="rId36"/>
    <p:sldId id="477" r:id="rId37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 Du(LUXSHARE-ICT)" initials="WD" lastIdx="1" clrIdx="0"/>
  <p:cmAuthor id="2" name="Yuanyuan Shao(LUXSHARE-ICT)" initials="YS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FC"/>
    <a:srgbClr val="A6A6A6"/>
    <a:srgbClr val="1F63A3"/>
    <a:srgbClr val="B4BB2B"/>
    <a:srgbClr val="014F97"/>
    <a:srgbClr val="D0D57A"/>
    <a:srgbClr val="EDEDED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98" autoAdjust="0"/>
    <p:restoredTop sz="93202" autoAdjust="0"/>
  </p:normalViewPr>
  <p:slideViewPr>
    <p:cSldViewPr snapToGrid="0" showGuides="1">
      <p:cViewPr varScale="1">
        <p:scale>
          <a:sx n="64" d="100"/>
          <a:sy n="64" d="100"/>
        </p:scale>
        <p:origin x="884" y="48"/>
      </p:cViewPr>
      <p:guideLst>
        <p:guide orient="horz" pos="2141"/>
        <p:guide pos="3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5" d="100"/>
        <a:sy n="195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7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tags" Target="tags/tag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5FD19F-983D-4039-81CD-20045122F089}" type="doc">
      <dgm:prSet loTypeId="urn:microsoft.com/office/officeart/2005/8/layout/hierarchy4" loCatId="hierarchy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zh-CN" altLang="en-US"/>
        </a:p>
      </dgm:t>
    </dgm:pt>
    <dgm:pt modelId="{885B0E83-0B1C-47B9-B344-BC95BC5CB2AB}">
      <dgm:prSet phldrT="[文本]" cust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1600" dirty="0" smtClean="0"/>
            <a:t>数据抽取和同步</a:t>
          </a:r>
          <a:endParaRPr lang="zh-CN" altLang="en-US" sz="1600" dirty="0"/>
        </a:p>
      </dgm:t>
    </dgm:pt>
    <dgm:pt modelId="{2BE8B1FF-23D1-449E-9558-7F51A12EA6F3}" type="parTrans" cxnId="{A4413188-A124-4464-8D9E-BF06D1D6188A}">
      <dgm:prSet/>
      <dgm:spPr/>
      <dgm:t>
        <a:bodyPr/>
        <a:lstStyle/>
        <a:p>
          <a:endParaRPr lang="zh-CN" altLang="en-US"/>
        </a:p>
      </dgm:t>
    </dgm:pt>
    <dgm:pt modelId="{94A9ACBB-DBDB-4A14-9D11-2CC4A73E7708}" type="sibTrans" cxnId="{A4413188-A124-4464-8D9E-BF06D1D6188A}">
      <dgm:prSet/>
      <dgm:spPr/>
      <dgm:t>
        <a:bodyPr/>
        <a:lstStyle/>
        <a:p>
          <a:endParaRPr lang="zh-CN" altLang="en-US"/>
        </a:p>
      </dgm:t>
    </dgm:pt>
    <dgm:pt modelId="{A7295DE8-DFB6-4007-94A3-4F8814EA92B3}">
      <dgm:prSet phldrT="[文本]"/>
      <dgm:spPr/>
      <dgm:t>
        <a:bodyPr/>
        <a:lstStyle/>
        <a:p>
          <a:r>
            <a:rPr lang="en-US" altLang="zh-CN" dirty="0" smtClean="0"/>
            <a:t>……</a:t>
          </a:r>
          <a:endParaRPr lang="zh-CN" altLang="en-US" dirty="0"/>
        </a:p>
      </dgm:t>
    </dgm:pt>
    <dgm:pt modelId="{F588CBE9-6E1E-42E3-BF49-2BE7799E15B3}" type="parTrans" cxnId="{143F6A09-4573-4F9A-8A72-A075A6EE6584}">
      <dgm:prSet/>
      <dgm:spPr/>
      <dgm:t>
        <a:bodyPr/>
        <a:lstStyle/>
        <a:p>
          <a:endParaRPr lang="zh-CN" altLang="en-US"/>
        </a:p>
      </dgm:t>
    </dgm:pt>
    <dgm:pt modelId="{8A342073-4951-4E2C-BD4F-71AA52B407B2}" type="sibTrans" cxnId="{143F6A09-4573-4F9A-8A72-A075A6EE6584}">
      <dgm:prSet/>
      <dgm:spPr/>
      <dgm:t>
        <a:bodyPr/>
        <a:lstStyle/>
        <a:p>
          <a:endParaRPr lang="zh-CN" altLang="en-US"/>
        </a:p>
      </dgm:t>
    </dgm:pt>
    <dgm:pt modelId="{AD2E296D-B372-4BD1-83BA-980C2FF89913}">
      <dgm:prSet phldrT="[文本]"/>
      <dgm:spPr/>
      <dgm:t>
        <a:bodyPr/>
        <a:lstStyle/>
        <a:p>
          <a:r>
            <a:rPr lang="en-US" altLang="zh-CN" dirty="0" smtClean="0"/>
            <a:t>MES</a:t>
          </a:r>
          <a:endParaRPr lang="zh-CN" altLang="en-US" dirty="0"/>
        </a:p>
      </dgm:t>
    </dgm:pt>
    <dgm:pt modelId="{0589ABFD-BE99-47A8-AD20-FE12CD43292F}" type="parTrans" cxnId="{E14A785C-96EB-417C-8933-71606528D055}">
      <dgm:prSet/>
      <dgm:spPr/>
      <dgm:t>
        <a:bodyPr/>
        <a:lstStyle/>
        <a:p>
          <a:endParaRPr lang="zh-CN" altLang="en-US"/>
        </a:p>
      </dgm:t>
    </dgm:pt>
    <dgm:pt modelId="{7F31D8CA-76D4-4645-B6B7-6989AE8B72C9}" type="sibTrans" cxnId="{E14A785C-96EB-417C-8933-71606528D055}">
      <dgm:prSet/>
      <dgm:spPr/>
      <dgm:t>
        <a:bodyPr/>
        <a:lstStyle/>
        <a:p>
          <a:endParaRPr lang="zh-CN" altLang="en-US"/>
        </a:p>
      </dgm:t>
    </dgm:pt>
    <dgm:pt modelId="{16C22297-E8A8-465D-9803-8A89B7EBB9AA}">
      <dgm:prSet phldrT="[文本]"/>
      <dgm:spPr/>
      <dgm:t>
        <a:bodyPr/>
        <a:lstStyle/>
        <a:p>
          <a:r>
            <a:rPr lang="en-US" altLang="zh-CN" dirty="0" smtClean="0"/>
            <a:t>HR</a:t>
          </a:r>
          <a:endParaRPr lang="zh-CN" altLang="en-US" dirty="0"/>
        </a:p>
      </dgm:t>
    </dgm:pt>
    <dgm:pt modelId="{DA5AEDD9-B7F1-417F-9CFF-1F212B40FB21}" type="parTrans" cxnId="{01166FE8-89A6-4C44-A749-0C3C235E887A}">
      <dgm:prSet/>
      <dgm:spPr/>
      <dgm:t>
        <a:bodyPr/>
        <a:lstStyle/>
        <a:p>
          <a:endParaRPr lang="zh-CN" altLang="en-US"/>
        </a:p>
      </dgm:t>
    </dgm:pt>
    <dgm:pt modelId="{82E7525D-6A8A-4AA2-9E8D-12C907CB6313}" type="sibTrans" cxnId="{01166FE8-89A6-4C44-A749-0C3C235E887A}">
      <dgm:prSet/>
      <dgm:spPr/>
      <dgm:t>
        <a:bodyPr/>
        <a:lstStyle/>
        <a:p>
          <a:endParaRPr lang="zh-CN" altLang="en-US"/>
        </a:p>
      </dgm:t>
    </dgm:pt>
    <dgm:pt modelId="{C3E35CD1-7DEA-4EEF-9C96-90134420D4E6}">
      <dgm:prSet phldrT="[文本]"/>
      <dgm:spPr/>
      <dgm:t>
        <a:bodyPr/>
        <a:lstStyle/>
        <a:p>
          <a:r>
            <a:rPr lang="en-US" altLang="zh-CN" dirty="0" smtClean="0"/>
            <a:t>WMS</a:t>
          </a:r>
          <a:endParaRPr lang="zh-CN" altLang="en-US" dirty="0"/>
        </a:p>
      </dgm:t>
    </dgm:pt>
    <dgm:pt modelId="{59A43819-ECDC-4FC2-8DD8-B6BD4431209E}" type="parTrans" cxnId="{5DA5B55F-1A6F-4716-879B-9395D4041B09}">
      <dgm:prSet/>
      <dgm:spPr/>
      <dgm:t>
        <a:bodyPr/>
        <a:lstStyle/>
        <a:p>
          <a:endParaRPr lang="zh-CN" altLang="en-US"/>
        </a:p>
      </dgm:t>
    </dgm:pt>
    <dgm:pt modelId="{0869E901-FD57-403F-8076-CDE0864A50BB}" type="sibTrans" cxnId="{5DA5B55F-1A6F-4716-879B-9395D4041B09}">
      <dgm:prSet/>
      <dgm:spPr/>
      <dgm:t>
        <a:bodyPr/>
        <a:lstStyle/>
        <a:p>
          <a:endParaRPr lang="zh-CN" altLang="en-US"/>
        </a:p>
      </dgm:t>
    </dgm:pt>
    <dgm:pt modelId="{570F46F9-8FDB-4E5F-9028-818D31A9E101}">
      <dgm:prSet phldrT="[文本]"/>
      <dgm:spPr/>
      <dgm:t>
        <a:bodyPr/>
        <a:lstStyle/>
        <a:p>
          <a:r>
            <a:rPr lang="en-US" altLang="zh-CN" dirty="0" smtClean="0"/>
            <a:t>OHS</a:t>
          </a:r>
          <a:endParaRPr lang="zh-CN" altLang="en-US" dirty="0"/>
        </a:p>
      </dgm:t>
    </dgm:pt>
    <dgm:pt modelId="{1C0D48C3-62A8-45D0-8DE8-19B06BB714DF}" type="parTrans" cxnId="{DF30ABF1-8CCB-4C9C-BCED-BD127572F173}">
      <dgm:prSet/>
      <dgm:spPr/>
      <dgm:t>
        <a:bodyPr/>
        <a:lstStyle/>
        <a:p>
          <a:endParaRPr lang="zh-CN" altLang="en-US"/>
        </a:p>
      </dgm:t>
    </dgm:pt>
    <dgm:pt modelId="{BCBCB990-6049-4A9D-B8D5-6B07D51E16BD}" type="sibTrans" cxnId="{DF30ABF1-8CCB-4C9C-BCED-BD127572F173}">
      <dgm:prSet/>
      <dgm:spPr/>
      <dgm:t>
        <a:bodyPr/>
        <a:lstStyle/>
        <a:p>
          <a:endParaRPr lang="zh-CN" altLang="en-US"/>
        </a:p>
      </dgm:t>
    </dgm:pt>
    <dgm:pt modelId="{29D3325F-AF12-41E8-B8D6-BAE9F8D5C85C}">
      <dgm:prSet phldrT="[文本]"/>
      <dgm:spPr/>
      <dgm:t>
        <a:bodyPr/>
        <a:lstStyle/>
        <a:p>
          <a:r>
            <a:rPr lang="en-US" altLang="zh-CN" dirty="0" smtClean="0"/>
            <a:t>SAP</a:t>
          </a:r>
          <a:endParaRPr lang="zh-CN" altLang="en-US" dirty="0"/>
        </a:p>
      </dgm:t>
    </dgm:pt>
    <dgm:pt modelId="{842B930D-E689-4C8C-A429-8834762B5E68}" type="parTrans" cxnId="{C2D7231B-A294-4026-B471-14F4AA9F6D1E}">
      <dgm:prSet/>
      <dgm:spPr/>
      <dgm:t>
        <a:bodyPr/>
        <a:lstStyle/>
        <a:p>
          <a:endParaRPr lang="zh-CN" altLang="en-US"/>
        </a:p>
      </dgm:t>
    </dgm:pt>
    <dgm:pt modelId="{AE5BA328-BE45-4AF6-8D7C-505348D49ADB}" type="sibTrans" cxnId="{C2D7231B-A294-4026-B471-14F4AA9F6D1E}">
      <dgm:prSet/>
      <dgm:spPr/>
      <dgm:t>
        <a:bodyPr/>
        <a:lstStyle/>
        <a:p>
          <a:endParaRPr lang="zh-CN" altLang="en-US"/>
        </a:p>
      </dgm:t>
    </dgm:pt>
    <dgm:pt modelId="{99D8966D-1935-4C04-888C-6B0F4E3980F0}" type="pres">
      <dgm:prSet presAssocID="{455FD19F-983D-4039-81CD-20045122F08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A48C91C1-420A-4004-B35C-B39F51CDD69F}" type="pres">
      <dgm:prSet presAssocID="{885B0E83-0B1C-47B9-B344-BC95BC5CB2AB}" presName="vertOne" presStyleCnt="0"/>
      <dgm:spPr/>
    </dgm:pt>
    <dgm:pt modelId="{F3F0BB7F-9358-4B35-BE72-BF7687F3EEAB}" type="pres">
      <dgm:prSet presAssocID="{885B0E83-0B1C-47B9-B344-BC95BC5CB2AB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85FF98C-69BA-4003-BCAA-FB7A73E024F9}" type="pres">
      <dgm:prSet presAssocID="{885B0E83-0B1C-47B9-B344-BC95BC5CB2AB}" presName="parTransOne" presStyleCnt="0"/>
      <dgm:spPr/>
    </dgm:pt>
    <dgm:pt modelId="{66FAD345-8A9C-417D-BFBA-D23CA8389ECF}" type="pres">
      <dgm:prSet presAssocID="{885B0E83-0B1C-47B9-B344-BC95BC5CB2AB}" presName="horzOne" presStyleCnt="0"/>
      <dgm:spPr/>
    </dgm:pt>
    <dgm:pt modelId="{FF06CFAF-C571-41F7-9A9F-5508A5B79CFC}" type="pres">
      <dgm:prSet presAssocID="{29D3325F-AF12-41E8-B8D6-BAE9F8D5C85C}" presName="vertTwo" presStyleCnt="0"/>
      <dgm:spPr/>
    </dgm:pt>
    <dgm:pt modelId="{9BF45803-5904-450D-86BA-CE86072D502F}" type="pres">
      <dgm:prSet presAssocID="{29D3325F-AF12-41E8-B8D6-BAE9F8D5C85C}" presName="txTwo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C393CB9-1BA7-43E6-A346-768610C33A06}" type="pres">
      <dgm:prSet presAssocID="{29D3325F-AF12-41E8-B8D6-BAE9F8D5C85C}" presName="horzTwo" presStyleCnt="0"/>
      <dgm:spPr/>
    </dgm:pt>
    <dgm:pt modelId="{DC1771EA-2698-49B0-9E4C-AE25A53FB588}" type="pres">
      <dgm:prSet presAssocID="{AE5BA328-BE45-4AF6-8D7C-505348D49ADB}" presName="sibSpaceTwo" presStyleCnt="0"/>
      <dgm:spPr/>
    </dgm:pt>
    <dgm:pt modelId="{0594CBE6-7173-4E6C-B1B2-3F918F3D7AAD}" type="pres">
      <dgm:prSet presAssocID="{AD2E296D-B372-4BD1-83BA-980C2FF89913}" presName="vertTwo" presStyleCnt="0"/>
      <dgm:spPr/>
    </dgm:pt>
    <dgm:pt modelId="{A58AE443-1F10-4E23-AD9D-AB19A7BA59E0}" type="pres">
      <dgm:prSet presAssocID="{AD2E296D-B372-4BD1-83BA-980C2FF89913}" presName="txTwo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88E3B56-7B63-470A-8FC5-1214FBF0C5CF}" type="pres">
      <dgm:prSet presAssocID="{AD2E296D-B372-4BD1-83BA-980C2FF89913}" presName="horzTwo" presStyleCnt="0"/>
      <dgm:spPr/>
    </dgm:pt>
    <dgm:pt modelId="{C675BE0B-BE3B-4798-9370-BAD284119605}" type="pres">
      <dgm:prSet presAssocID="{7F31D8CA-76D4-4645-B6B7-6989AE8B72C9}" presName="sibSpaceTwo" presStyleCnt="0"/>
      <dgm:spPr/>
    </dgm:pt>
    <dgm:pt modelId="{7577AEFA-19C1-4396-B8DA-549791D3B05A}" type="pres">
      <dgm:prSet presAssocID="{16C22297-E8A8-465D-9803-8A89B7EBB9AA}" presName="vertTwo" presStyleCnt="0"/>
      <dgm:spPr/>
    </dgm:pt>
    <dgm:pt modelId="{807C8F80-D73B-4294-90D0-40B7C1C049CF}" type="pres">
      <dgm:prSet presAssocID="{16C22297-E8A8-465D-9803-8A89B7EBB9AA}" presName="txTwo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3FDEAC9-0E31-46EE-99C5-E0D971F9B890}" type="pres">
      <dgm:prSet presAssocID="{16C22297-E8A8-465D-9803-8A89B7EBB9AA}" presName="horzTwo" presStyleCnt="0"/>
      <dgm:spPr/>
    </dgm:pt>
    <dgm:pt modelId="{176EDEA1-3408-4812-994D-198B804C538D}" type="pres">
      <dgm:prSet presAssocID="{82E7525D-6A8A-4AA2-9E8D-12C907CB6313}" presName="sibSpaceTwo" presStyleCnt="0"/>
      <dgm:spPr/>
    </dgm:pt>
    <dgm:pt modelId="{C37F1990-4D92-4243-8E85-428F623ADD0A}" type="pres">
      <dgm:prSet presAssocID="{C3E35CD1-7DEA-4EEF-9C96-90134420D4E6}" presName="vertTwo" presStyleCnt="0"/>
      <dgm:spPr/>
    </dgm:pt>
    <dgm:pt modelId="{358417B1-80A9-489F-BA7A-43CC837A9054}" type="pres">
      <dgm:prSet presAssocID="{C3E35CD1-7DEA-4EEF-9C96-90134420D4E6}" presName="txTwo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74C5880-F442-43F0-ACF4-A5E42229E5E3}" type="pres">
      <dgm:prSet presAssocID="{C3E35CD1-7DEA-4EEF-9C96-90134420D4E6}" presName="horzTwo" presStyleCnt="0"/>
      <dgm:spPr/>
    </dgm:pt>
    <dgm:pt modelId="{DEE621C0-3308-4E28-9E31-5FEDC21A8170}" type="pres">
      <dgm:prSet presAssocID="{0869E901-FD57-403F-8076-CDE0864A50BB}" presName="sibSpaceTwo" presStyleCnt="0"/>
      <dgm:spPr/>
    </dgm:pt>
    <dgm:pt modelId="{DD659985-313B-4D77-8F3A-D2F00EBCF0A8}" type="pres">
      <dgm:prSet presAssocID="{570F46F9-8FDB-4E5F-9028-818D31A9E101}" presName="vertTwo" presStyleCnt="0"/>
      <dgm:spPr/>
    </dgm:pt>
    <dgm:pt modelId="{0D0C3DFA-FE79-4A21-B8BF-D67228AF4405}" type="pres">
      <dgm:prSet presAssocID="{570F46F9-8FDB-4E5F-9028-818D31A9E101}" presName="txTwo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F3F2B1A-1D90-49A3-8623-A4DB1447FC33}" type="pres">
      <dgm:prSet presAssocID="{570F46F9-8FDB-4E5F-9028-818D31A9E101}" presName="horzTwo" presStyleCnt="0"/>
      <dgm:spPr/>
    </dgm:pt>
    <dgm:pt modelId="{11595D07-1DBE-4DAE-925B-B1C17A61AE06}" type="pres">
      <dgm:prSet presAssocID="{BCBCB990-6049-4A9D-B8D5-6B07D51E16BD}" presName="sibSpaceTwo" presStyleCnt="0"/>
      <dgm:spPr/>
    </dgm:pt>
    <dgm:pt modelId="{0F54949D-E04D-4401-B67E-2DA97CBF52D0}" type="pres">
      <dgm:prSet presAssocID="{A7295DE8-DFB6-4007-94A3-4F8814EA92B3}" presName="vertTwo" presStyleCnt="0"/>
      <dgm:spPr/>
    </dgm:pt>
    <dgm:pt modelId="{324E39B0-F153-434D-9BE1-6E4D87CF8170}" type="pres">
      <dgm:prSet presAssocID="{A7295DE8-DFB6-4007-94A3-4F8814EA92B3}" presName="txTwo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7147FC5-B4DF-4B81-A1FF-5A82D24E7F7F}" type="pres">
      <dgm:prSet presAssocID="{A7295DE8-DFB6-4007-94A3-4F8814EA92B3}" presName="horzTwo" presStyleCnt="0"/>
      <dgm:spPr/>
    </dgm:pt>
  </dgm:ptLst>
  <dgm:cxnLst>
    <dgm:cxn modelId="{40AFE3CC-A8C8-4193-881E-CDDACFB5B04F}" type="presOf" srcId="{29D3325F-AF12-41E8-B8D6-BAE9F8D5C85C}" destId="{9BF45803-5904-450D-86BA-CE86072D502F}" srcOrd="0" destOrd="0" presId="urn:microsoft.com/office/officeart/2005/8/layout/hierarchy4"/>
    <dgm:cxn modelId="{C2D7231B-A294-4026-B471-14F4AA9F6D1E}" srcId="{885B0E83-0B1C-47B9-B344-BC95BC5CB2AB}" destId="{29D3325F-AF12-41E8-B8D6-BAE9F8D5C85C}" srcOrd="0" destOrd="0" parTransId="{842B930D-E689-4C8C-A429-8834762B5E68}" sibTransId="{AE5BA328-BE45-4AF6-8D7C-505348D49ADB}"/>
    <dgm:cxn modelId="{DF30ABF1-8CCB-4C9C-BCED-BD127572F173}" srcId="{885B0E83-0B1C-47B9-B344-BC95BC5CB2AB}" destId="{570F46F9-8FDB-4E5F-9028-818D31A9E101}" srcOrd="4" destOrd="0" parTransId="{1C0D48C3-62A8-45D0-8DE8-19B06BB714DF}" sibTransId="{BCBCB990-6049-4A9D-B8D5-6B07D51E16BD}"/>
    <dgm:cxn modelId="{C4B481A8-A8A5-4422-A8DE-F26F1B3AB8FA}" type="presOf" srcId="{16C22297-E8A8-465D-9803-8A89B7EBB9AA}" destId="{807C8F80-D73B-4294-90D0-40B7C1C049CF}" srcOrd="0" destOrd="0" presId="urn:microsoft.com/office/officeart/2005/8/layout/hierarchy4"/>
    <dgm:cxn modelId="{01166FE8-89A6-4C44-A749-0C3C235E887A}" srcId="{885B0E83-0B1C-47B9-B344-BC95BC5CB2AB}" destId="{16C22297-E8A8-465D-9803-8A89B7EBB9AA}" srcOrd="2" destOrd="0" parTransId="{DA5AEDD9-B7F1-417F-9CFF-1F212B40FB21}" sibTransId="{82E7525D-6A8A-4AA2-9E8D-12C907CB6313}"/>
    <dgm:cxn modelId="{00809B8D-F518-4710-A8D4-F1FB6CE58CC5}" type="presOf" srcId="{570F46F9-8FDB-4E5F-9028-818D31A9E101}" destId="{0D0C3DFA-FE79-4A21-B8BF-D67228AF4405}" srcOrd="0" destOrd="0" presId="urn:microsoft.com/office/officeart/2005/8/layout/hierarchy4"/>
    <dgm:cxn modelId="{72703AEB-58C2-46CB-BB00-2CD516A2194A}" type="presOf" srcId="{455FD19F-983D-4039-81CD-20045122F089}" destId="{99D8966D-1935-4C04-888C-6B0F4E3980F0}" srcOrd="0" destOrd="0" presId="urn:microsoft.com/office/officeart/2005/8/layout/hierarchy4"/>
    <dgm:cxn modelId="{F6B9E9F3-228F-4D3D-A6CF-201525593E3F}" type="presOf" srcId="{AD2E296D-B372-4BD1-83BA-980C2FF89913}" destId="{A58AE443-1F10-4E23-AD9D-AB19A7BA59E0}" srcOrd="0" destOrd="0" presId="urn:microsoft.com/office/officeart/2005/8/layout/hierarchy4"/>
    <dgm:cxn modelId="{A4413188-A124-4464-8D9E-BF06D1D6188A}" srcId="{455FD19F-983D-4039-81CD-20045122F089}" destId="{885B0E83-0B1C-47B9-B344-BC95BC5CB2AB}" srcOrd="0" destOrd="0" parTransId="{2BE8B1FF-23D1-449E-9558-7F51A12EA6F3}" sibTransId="{94A9ACBB-DBDB-4A14-9D11-2CC4A73E7708}"/>
    <dgm:cxn modelId="{143F6A09-4573-4F9A-8A72-A075A6EE6584}" srcId="{885B0E83-0B1C-47B9-B344-BC95BC5CB2AB}" destId="{A7295DE8-DFB6-4007-94A3-4F8814EA92B3}" srcOrd="5" destOrd="0" parTransId="{F588CBE9-6E1E-42E3-BF49-2BE7799E15B3}" sibTransId="{8A342073-4951-4E2C-BD4F-71AA52B407B2}"/>
    <dgm:cxn modelId="{89EFA5F9-F357-470A-8971-28ACB2D1A2A5}" type="presOf" srcId="{A7295DE8-DFB6-4007-94A3-4F8814EA92B3}" destId="{324E39B0-F153-434D-9BE1-6E4D87CF8170}" srcOrd="0" destOrd="0" presId="urn:microsoft.com/office/officeart/2005/8/layout/hierarchy4"/>
    <dgm:cxn modelId="{805BF155-F41B-4E6C-B6D2-1390B52E2BE6}" type="presOf" srcId="{885B0E83-0B1C-47B9-B344-BC95BC5CB2AB}" destId="{F3F0BB7F-9358-4B35-BE72-BF7687F3EEAB}" srcOrd="0" destOrd="0" presId="urn:microsoft.com/office/officeart/2005/8/layout/hierarchy4"/>
    <dgm:cxn modelId="{252C063E-0C5B-4BE4-A0F4-F82211DBD002}" type="presOf" srcId="{C3E35CD1-7DEA-4EEF-9C96-90134420D4E6}" destId="{358417B1-80A9-489F-BA7A-43CC837A9054}" srcOrd="0" destOrd="0" presId="urn:microsoft.com/office/officeart/2005/8/layout/hierarchy4"/>
    <dgm:cxn modelId="{E14A785C-96EB-417C-8933-71606528D055}" srcId="{885B0E83-0B1C-47B9-B344-BC95BC5CB2AB}" destId="{AD2E296D-B372-4BD1-83BA-980C2FF89913}" srcOrd="1" destOrd="0" parTransId="{0589ABFD-BE99-47A8-AD20-FE12CD43292F}" sibTransId="{7F31D8CA-76D4-4645-B6B7-6989AE8B72C9}"/>
    <dgm:cxn modelId="{5DA5B55F-1A6F-4716-879B-9395D4041B09}" srcId="{885B0E83-0B1C-47B9-B344-BC95BC5CB2AB}" destId="{C3E35CD1-7DEA-4EEF-9C96-90134420D4E6}" srcOrd="3" destOrd="0" parTransId="{59A43819-ECDC-4FC2-8DD8-B6BD4431209E}" sibTransId="{0869E901-FD57-403F-8076-CDE0864A50BB}"/>
    <dgm:cxn modelId="{9A63AE77-F89B-4801-A010-C201FE649C8F}" type="presParOf" srcId="{99D8966D-1935-4C04-888C-6B0F4E3980F0}" destId="{A48C91C1-420A-4004-B35C-B39F51CDD69F}" srcOrd="0" destOrd="0" presId="urn:microsoft.com/office/officeart/2005/8/layout/hierarchy4"/>
    <dgm:cxn modelId="{7AF10D12-294C-40BC-A0D2-3E1CA9C927A9}" type="presParOf" srcId="{A48C91C1-420A-4004-B35C-B39F51CDD69F}" destId="{F3F0BB7F-9358-4B35-BE72-BF7687F3EEAB}" srcOrd="0" destOrd="0" presId="urn:microsoft.com/office/officeart/2005/8/layout/hierarchy4"/>
    <dgm:cxn modelId="{826A3293-9C9A-436D-8C9F-075F6869E785}" type="presParOf" srcId="{A48C91C1-420A-4004-B35C-B39F51CDD69F}" destId="{285FF98C-69BA-4003-BCAA-FB7A73E024F9}" srcOrd="1" destOrd="0" presId="urn:microsoft.com/office/officeart/2005/8/layout/hierarchy4"/>
    <dgm:cxn modelId="{5174AC5D-C420-422C-BE8F-CE1362FC9C9E}" type="presParOf" srcId="{A48C91C1-420A-4004-B35C-B39F51CDD69F}" destId="{66FAD345-8A9C-417D-BFBA-D23CA8389ECF}" srcOrd="2" destOrd="0" presId="urn:microsoft.com/office/officeart/2005/8/layout/hierarchy4"/>
    <dgm:cxn modelId="{B7FEC8C7-D1DD-48C9-94EC-98047C174191}" type="presParOf" srcId="{66FAD345-8A9C-417D-BFBA-D23CA8389ECF}" destId="{FF06CFAF-C571-41F7-9A9F-5508A5B79CFC}" srcOrd="0" destOrd="0" presId="urn:microsoft.com/office/officeart/2005/8/layout/hierarchy4"/>
    <dgm:cxn modelId="{309AA901-D247-4365-930F-D337ED8D2B7B}" type="presParOf" srcId="{FF06CFAF-C571-41F7-9A9F-5508A5B79CFC}" destId="{9BF45803-5904-450D-86BA-CE86072D502F}" srcOrd="0" destOrd="0" presId="urn:microsoft.com/office/officeart/2005/8/layout/hierarchy4"/>
    <dgm:cxn modelId="{A3BBD0F4-33DC-4876-85C2-697C0AD55182}" type="presParOf" srcId="{FF06CFAF-C571-41F7-9A9F-5508A5B79CFC}" destId="{DC393CB9-1BA7-43E6-A346-768610C33A06}" srcOrd="1" destOrd="0" presId="urn:microsoft.com/office/officeart/2005/8/layout/hierarchy4"/>
    <dgm:cxn modelId="{B0EBA92A-66BB-4ED6-8797-1814C0DE0F01}" type="presParOf" srcId="{66FAD345-8A9C-417D-BFBA-D23CA8389ECF}" destId="{DC1771EA-2698-49B0-9E4C-AE25A53FB588}" srcOrd="1" destOrd="0" presId="urn:microsoft.com/office/officeart/2005/8/layout/hierarchy4"/>
    <dgm:cxn modelId="{1ABCA56D-A7CD-40FB-87BF-8CAAC905CA7B}" type="presParOf" srcId="{66FAD345-8A9C-417D-BFBA-D23CA8389ECF}" destId="{0594CBE6-7173-4E6C-B1B2-3F918F3D7AAD}" srcOrd="2" destOrd="0" presId="urn:microsoft.com/office/officeart/2005/8/layout/hierarchy4"/>
    <dgm:cxn modelId="{071F7F25-AC01-460E-AE75-D462AA419D7F}" type="presParOf" srcId="{0594CBE6-7173-4E6C-B1B2-3F918F3D7AAD}" destId="{A58AE443-1F10-4E23-AD9D-AB19A7BA59E0}" srcOrd="0" destOrd="0" presId="urn:microsoft.com/office/officeart/2005/8/layout/hierarchy4"/>
    <dgm:cxn modelId="{92B2FFEA-774C-487B-9872-250C5A1F416A}" type="presParOf" srcId="{0594CBE6-7173-4E6C-B1B2-3F918F3D7AAD}" destId="{288E3B56-7B63-470A-8FC5-1214FBF0C5CF}" srcOrd="1" destOrd="0" presId="urn:microsoft.com/office/officeart/2005/8/layout/hierarchy4"/>
    <dgm:cxn modelId="{B06A3427-08A9-4EA0-82F5-92D23BEE23C2}" type="presParOf" srcId="{66FAD345-8A9C-417D-BFBA-D23CA8389ECF}" destId="{C675BE0B-BE3B-4798-9370-BAD284119605}" srcOrd="3" destOrd="0" presId="urn:microsoft.com/office/officeart/2005/8/layout/hierarchy4"/>
    <dgm:cxn modelId="{310B69FE-E800-4184-8764-10FE57BA16A7}" type="presParOf" srcId="{66FAD345-8A9C-417D-BFBA-D23CA8389ECF}" destId="{7577AEFA-19C1-4396-B8DA-549791D3B05A}" srcOrd="4" destOrd="0" presId="urn:microsoft.com/office/officeart/2005/8/layout/hierarchy4"/>
    <dgm:cxn modelId="{FD8AACAC-741B-4D53-A0B2-9FD74AF699D5}" type="presParOf" srcId="{7577AEFA-19C1-4396-B8DA-549791D3B05A}" destId="{807C8F80-D73B-4294-90D0-40B7C1C049CF}" srcOrd="0" destOrd="0" presId="urn:microsoft.com/office/officeart/2005/8/layout/hierarchy4"/>
    <dgm:cxn modelId="{E16DD987-E036-4CD5-A2A3-097DD3400124}" type="presParOf" srcId="{7577AEFA-19C1-4396-B8DA-549791D3B05A}" destId="{43FDEAC9-0E31-46EE-99C5-E0D971F9B890}" srcOrd="1" destOrd="0" presId="urn:microsoft.com/office/officeart/2005/8/layout/hierarchy4"/>
    <dgm:cxn modelId="{68B926B5-9D23-4ED9-BF4C-2FEB42324115}" type="presParOf" srcId="{66FAD345-8A9C-417D-BFBA-D23CA8389ECF}" destId="{176EDEA1-3408-4812-994D-198B804C538D}" srcOrd="5" destOrd="0" presId="urn:microsoft.com/office/officeart/2005/8/layout/hierarchy4"/>
    <dgm:cxn modelId="{3B5160B3-8B1E-414D-A5CE-D352C1930412}" type="presParOf" srcId="{66FAD345-8A9C-417D-BFBA-D23CA8389ECF}" destId="{C37F1990-4D92-4243-8E85-428F623ADD0A}" srcOrd="6" destOrd="0" presId="urn:microsoft.com/office/officeart/2005/8/layout/hierarchy4"/>
    <dgm:cxn modelId="{EF91541D-A6FD-41E3-89DC-2E586927699D}" type="presParOf" srcId="{C37F1990-4D92-4243-8E85-428F623ADD0A}" destId="{358417B1-80A9-489F-BA7A-43CC837A9054}" srcOrd="0" destOrd="0" presId="urn:microsoft.com/office/officeart/2005/8/layout/hierarchy4"/>
    <dgm:cxn modelId="{C467CBE5-2400-4B1A-A8F4-CF2A8DA45746}" type="presParOf" srcId="{C37F1990-4D92-4243-8E85-428F623ADD0A}" destId="{E74C5880-F442-43F0-ACF4-A5E42229E5E3}" srcOrd="1" destOrd="0" presId="urn:microsoft.com/office/officeart/2005/8/layout/hierarchy4"/>
    <dgm:cxn modelId="{3E09C689-5783-410C-8E77-C28AF7CC7A7C}" type="presParOf" srcId="{66FAD345-8A9C-417D-BFBA-D23CA8389ECF}" destId="{DEE621C0-3308-4E28-9E31-5FEDC21A8170}" srcOrd="7" destOrd="0" presId="urn:microsoft.com/office/officeart/2005/8/layout/hierarchy4"/>
    <dgm:cxn modelId="{90632648-9073-4A81-A77C-843C4E9D6A4C}" type="presParOf" srcId="{66FAD345-8A9C-417D-BFBA-D23CA8389ECF}" destId="{DD659985-313B-4D77-8F3A-D2F00EBCF0A8}" srcOrd="8" destOrd="0" presId="urn:microsoft.com/office/officeart/2005/8/layout/hierarchy4"/>
    <dgm:cxn modelId="{6A0AC5EE-893E-4CE1-8A1A-BC6DA023CAC3}" type="presParOf" srcId="{DD659985-313B-4D77-8F3A-D2F00EBCF0A8}" destId="{0D0C3DFA-FE79-4A21-B8BF-D67228AF4405}" srcOrd="0" destOrd="0" presId="urn:microsoft.com/office/officeart/2005/8/layout/hierarchy4"/>
    <dgm:cxn modelId="{EE962D1A-D88D-4AC7-9D2E-D9D70A25F885}" type="presParOf" srcId="{DD659985-313B-4D77-8F3A-D2F00EBCF0A8}" destId="{BF3F2B1A-1D90-49A3-8623-A4DB1447FC33}" srcOrd="1" destOrd="0" presId="urn:microsoft.com/office/officeart/2005/8/layout/hierarchy4"/>
    <dgm:cxn modelId="{11B04259-9CB3-4D25-97A1-D908B6F46DCF}" type="presParOf" srcId="{66FAD345-8A9C-417D-BFBA-D23CA8389ECF}" destId="{11595D07-1DBE-4DAE-925B-B1C17A61AE06}" srcOrd="9" destOrd="0" presId="urn:microsoft.com/office/officeart/2005/8/layout/hierarchy4"/>
    <dgm:cxn modelId="{E6375850-7FDF-4B27-A431-802608CA88ED}" type="presParOf" srcId="{66FAD345-8A9C-417D-BFBA-D23CA8389ECF}" destId="{0F54949D-E04D-4401-B67E-2DA97CBF52D0}" srcOrd="10" destOrd="0" presId="urn:microsoft.com/office/officeart/2005/8/layout/hierarchy4"/>
    <dgm:cxn modelId="{8EE3ABC9-577B-41E3-B508-10C8D3F4F3B5}" type="presParOf" srcId="{0F54949D-E04D-4401-B67E-2DA97CBF52D0}" destId="{324E39B0-F153-434D-9BE1-6E4D87CF8170}" srcOrd="0" destOrd="0" presId="urn:microsoft.com/office/officeart/2005/8/layout/hierarchy4"/>
    <dgm:cxn modelId="{99FD7C8C-5B4D-4AE3-8945-A5054F64C760}" type="presParOf" srcId="{0F54949D-E04D-4401-B67E-2DA97CBF52D0}" destId="{F7147FC5-B4DF-4B81-A1FF-5A82D24E7F7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C88DE1-1CA1-4117-8ED1-3C0FDE4D3308}" type="doc">
      <dgm:prSet loTypeId="urn:microsoft.com/office/officeart/2005/8/layout/hList1" loCatId="list" qsTypeId="urn:microsoft.com/office/officeart/2005/8/quickstyle/3d1#1" qsCatId="3D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0427BE7F-B50A-483D-8AAC-C3ADC4CB6EA5}">
      <dgm:prSet phldrT="[文本]" custT="1"/>
      <dgm:spPr/>
      <dgm:t>
        <a:bodyPr/>
        <a:lstStyle/>
        <a:p>
          <a:r>
            <a:rPr lang="zh-CN" altLang="en-US" sz="1800" dirty="0" smtClean="0"/>
            <a:t>业务数据</a:t>
          </a:r>
          <a:r>
            <a:rPr lang="en-US" altLang="zh-CN" sz="1800" dirty="0" smtClean="0"/>
            <a:t>ETL</a:t>
          </a:r>
          <a:r>
            <a:rPr lang="zh-CN" altLang="en-US" sz="1800" dirty="0" smtClean="0"/>
            <a:t>角色（</a:t>
          </a:r>
          <a:r>
            <a:rPr lang="en-US" altLang="zh-CN" sz="1800" dirty="0" smtClean="0"/>
            <a:t>2~3</a:t>
          </a:r>
          <a:r>
            <a:rPr lang="zh-CN" altLang="en-US" sz="1800" dirty="0" smtClean="0"/>
            <a:t>人）</a:t>
          </a:r>
          <a:endParaRPr lang="zh-CN" altLang="en-US" sz="1800" dirty="0"/>
        </a:p>
      </dgm:t>
    </dgm:pt>
    <dgm:pt modelId="{77BFC1E6-F6DE-44B7-AF68-48986A3B39F4}" type="parTrans" cxnId="{0C01E64C-22B4-4820-A612-1A48ACDB83F6}">
      <dgm:prSet/>
      <dgm:spPr/>
      <dgm:t>
        <a:bodyPr/>
        <a:lstStyle/>
        <a:p>
          <a:endParaRPr lang="zh-CN" altLang="en-US" sz="1800"/>
        </a:p>
      </dgm:t>
    </dgm:pt>
    <dgm:pt modelId="{16E0D1E1-BE88-4EB9-BAE6-00CF3A8BE6CB}" type="sibTrans" cxnId="{0C01E64C-22B4-4820-A612-1A48ACDB83F6}">
      <dgm:prSet/>
      <dgm:spPr/>
      <dgm:t>
        <a:bodyPr/>
        <a:lstStyle/>
        <a:p>
          <a:endParaRPr lang="zh-CN" altLang="en-US" sz="1800"/>
        </a:p>
      </dgm:t>
    </dgm:pt>
    <dgm:pt modelId="{6964EFC9-8259-4A51-A85B-374C13E94E4D}">
      <dgm:prSet phldrT="[文本]" custT="1"/>
      <dgm:spPr/>
      <dgm:t>
        <a:bodyPr/>
        <a:lstStyle/>
        <a:p>
          <a:r>
            <a:rPr lang="zh-CN" altLang="en-US" sz="1600" dirty="0" smtClean="0"/>
            <a:t>负责业务数据入湖事项，工作内容：需求评估，设计，开发，测试，运维，</a:t>
          </a:r>
          <a:r>
            <a:rPr lang="en-US" altLang="zh-CN" sz="1600" dirty="0" smtClean="0"/>
            <a:t>ODS</a:t>
          </a:r>
          <a:r>
            <a:rPr lang="zh-CN" altLang="en-US" sz="1600" dirty="0" smtClean="0"/>
            <a:t>层数据抽取，整合，检验工作</a:t>
          </a:r>
          <a:endParaRPr lang="zh-CN" altLang="en-US" sz="1600" dirty="0"/>
        </a:p>
      </dgm:t>
    </dgm:pt>
    <dgm:pt modelId="{DE739691-143D-476E-A634-7CC895760A2E}" type="parTrans" cxnId="{CD11BA03-9E42-4261-9E6A-8544F8B1655D}">
      <dgm:prSet/>
      <dgm:spPr/>
      <dgm:t>
        <a:bodyPr/>
        <a:lstStyle/>
        <a:p>
          <a:endParaRPr lang="zh-CN" altLang="en-US" sz="1800"/>
        </a:p>
      </dgm:t>
    </dgm:pt>
    <dgm:pt modelId="{D522442E-9E87-4BAC-ABEC-219EB044831A}" type="sibTrans" cxnId="{CD11BA03-9E42-4261-9E6A-8544F8B1655D}">
      <dgm:prSet/>
      <dgm:spPr/>
      <dgm:t>
        <a:bodyPr/>
        <a:lstStyle/>
        <a:p>
          <a:endParaRPr lang="zh-CN" altLang="en-US" sz="1800"/>
        </a:p>
      </dgm:t>
    </dgm:pt>
    <dgm:pt modelId="{104A6760-42CA-44B2-A9A2-8C4BF008B3AC}">
      <dgm:prSet phldrT="[文本]" custT="1"/>
      <dgm:spPr/>
      <dgm:t>
        <a:bodyPr/>
        <a:lstStyle/>
        <a:p>
          <a:r>
            <a:rPr lang="zh-CN" altLang="en-US" sz="1600" dirty="0" smtClean="0"/>
            <a:t>负责业务数据出湖</a:t>
          </a:r>
          <a:r>
            <a:rPr lang="en-US" altLang="zh-CN" sz="1600" dirty="0" smtClean="0"/>
            <a:t>(</a:t>
          </a:r>
          <a:r>
            <a:rPr lang="zh-CN" altLang="en-US" sz="1600" dirty="0" smtClean="0"/>
            <a:t>应用程序</a:t>
          </a:r>
          <a:r>
            <a:rPr lang="en-US" altLang="zh-CN" sz="1600" dirty="0" smtClean="0"/>
            <a:t>)</a:t>
          </a:r>
          <a:r>
            <a:rPr lang="zh-CN" altLang="en-US" sz="1600" dirty="0" smtClean="0"/>
            <a:t>消费数据，工作内容：</a:t>
          </a:r>
          <a:r>
            <a:rPr lang="en-US" altLang="zh-CN" sz="1600" dirty="0" smtClean="0"/>
            <a:t>API</a:t>
          </a:r>
          <a:r>
            <a:rPr lang="zh-CN" altLang="en-US" sz="1600" dirty="0" smtClean="0"/>
            <a:t>接口开发，运维，测试，上线，数据安全限制，主要负责</a:t>
          </a:r>
          <a:r>
            <a:rPr lang="en-US" altLang="zh-CN" sz="1600" dirty="0" smtClean="0"/>
            <a:t>DM</a:t>
          </a:r>
          <a:r>
            <a:rPr lang="zh-CN" altLang="en-US" sz="1600" dirty="0" smtClean="0"/>
            <a:t>层和数据对外发布</a:t>
          </a:r>
          <a:endParaRPr lang="zh-CN" altLang="en-US" sz="1600" dirty="0"/>
        </a:p>
      </dgm:t>
    </dgm:pt>
    <dgm:pt modelId="{6C554E0D-C8B2-4EEE-AC60-2C9A0950A669}" type="parTrans" cxnId="{674E85B2-B107-4924-A3DF-084F615E022F}">
      <dgm:prSet/>
      <dgm:spPr/>
      <dgm:t>
        <a:bodyPr/>
        <a:lstStyle/>
        <a:p>
          <a:endParaRPr lang="zh-CN" altLang="en-US" sz="1800"/>
        </a:p>
      </dgm:t>
    </dgm:pt>
    <dgm:pt modelId="{0BDF9EA0-25FD-47A6-8D17-5BF0527745F1}" type="sibTrans" cxnId="{674E85B2-B107-4924-A3DF-084F615E022F}">
      <dgm:prSet/>
      <dgm:spPr/>
      <dgm:t>
        <a:bodyPr/>
        <a:lstStyle/>
        <a:p>
          <a:endParaRPr lang="zh-CN" altLang="en-US" sz="1800"/>
        </a:p>
      </dgm:t>
    </dgm:pt>
    <dgm:pt modelId="{7C0D58C9-317C-48C3-A821-44C82CD1EBBB}">
      <dgm:prSet phldrT="[文本]" custT="1"/>
      <dgm:spPr/>
      <dgm:t>
        <a:bodyPr/>
        <a:lstStyle/>
        <a:p>
          <a:r>
            <a:rPr lang="zh-CN" altLang="en-US" sz="1800" dirty="0" smtClean="0"/>
            <a:t>业务数据开发角色</a:t>
          </a:r>
          <a:r>
            <a:rPr lang="en-US" altLang="zh-CN" sz="1800" dirty="0" smtClean="0"/>
            <a:t>(Team</a:t>
          </a:r>
          <a:r>
            <a:rPr lang="zh-CN" altLang="en-US" sz="1800" dirty="0" smtClean="0"/>
            <a:t>开发人员）</a:t>
          </a:r>
          <a:endParaRPr lang="zh-CN" altLang="en-US" sz="1800" dirty="0"/>
        </a:p>
      </dgm:t>
    </dgm:pt>
    <dgm:pt modelId="{6571A891-2BC9-4DB0-996E-49D36E0728D2}" type="parTrans" cxnId="{2141ABAD-6ADB-4A66-81D6-E5FE414382D3}">
      <dgm:prSet/>
      <dgm:spPr/>
      <dgm:t>
        <a:bodyPr/>
        <a:lstStyle/>
        <a:p>
          <a:endParaRPr lang="zh-CN" altLang="en-US" sz="1800"/>
        </a:p>
      </dgm:t>
    </dgm:pt>
    <dgm:pt modelId="{4CD87767-29F8-4A48-9EFB-9ADE5E655C5F}" type="sibTrans" cxnId="{2141ABAD-6ADB-4A66-81D6-E5FE414382D3}">
      <dgm:prSet/>
      <dgm:spPr/>
      <dgm:t>
        <a:bodyPr/>
        <a:lstStyle/>
        <a:p>
          <a:endParaRPr lang="zh-CN" altLang="en-US" sz="1800"/>
        </a:p>
      </dgm:t>
    </dgm:pt>
    <dgm:pt modelId="{2A884CE2-5FB1-48E0-895D-2AB9727DF5E4}">
      <dgm:prSet phldrT="[文本]" custT="1"/>
      <dgm:spPr/>
      <dgm:t>
        <a:bodyPr/>
        <a:lstStyle/>
        <a:p>
          <a:r>
            <a:rPr lang="zh-CN" altLang="en-US" sz="1600" dirty="0" smtClean="0"/>
            <a:t>按照数据底座标准，按照业务场景，用户需求进行设计，开发，测试，上线</a:t>
          </a:r>
          <a:endParaRPr lang="zh-CN" altLang="en-US" sz="1600" dirty="0"/>
        </a:p>
      </dgm:t>
    </dgm:pt>
    <dgm:pt modelId="{0B38DC7D-2456-48D2-86B5-D1AB78F4DEB2}" type="parTrans" cxnId="{4918CD18-3E0E-4FDC-907B-413973226BEE}">
      <dgm:prSet/>
      <dgm:spPr/>
      <dgm:t>
        <a:bodyPr/>
        <a:lstStyle/>
        <a:p>
          <a:endParaRPr lang="zh-CN" altLang="en-US" sz="1800"/>
        </a:p>
      </dgm:t>
    </dgm:pt>
    <dgm:pt modelId="{98646499-DB6A-4792-87FB-12F5B4C88CE2}" type="sibTrans" cxnId="{4918CD18-3E0E-4FDC-907B-413973226BEE}">
      <dgm:prSet/>
      <dgm:spPr/>
      <dgm:t>
        <a:bodyPr/>
        <a:lstStyle/>
        <a:p>
          <a:endParaRPr lang="zh-CN" altLang="en-US" sz="1800"/>
        </a:p>
      </dgm:t>
    </dgm:pt>
    <dgm:pt modelId="{D8FBFD6E-13E5-47F3-A2A4-6B00478D22C4}">
      <dgm:prSet phldrT="[文本]" custT="1"/>
      <dgm:spPr/>
      <dgm:t>
        <a:bodyPr/>
        <a:lstStyle/>
        <a:p>
          <a:r>
            <a:rPr lang="zh-CN" altLang="en-US" sz="1600" dirty="0" smtClean="0"/>
            <a:t>将数据加工的成品，按数据仓库存放</a:t>
          </a:r>
          <a:r>
            <a:rPr lang="en-US" altLang="zh-CN" sz="1600" dirty="0" smtClean="0"/>
            <a:t>DWD,DWS,DM,DIM</a:t>
          </a:r>
          <a:r>
            <a:rPr lang="zh-CN" altLang="en-US" sz="1600" dirty="0" smtClean="0"/>
            <a:t>层</a:t>
          </a:r>
          <a:endParaRPr lang="zh-CN" altLang="en-US" sz="1600" dirty="0"/>
        </a:p>
      </dgm:t>
    </dgm:pt>
    <dgm:pt modelId="{8CDAC1FF-48FF-4DD7-8F05-E0DCA4850D49}" type="parTrans" cxnId="{232523F7-63F7-439B-814E-83FC45D04B9B}">
      <dgm:prSet/>
      <dgm:spPr/>
      <dgm:t>
        <a:bodyPr/>
        <a:lstStyle/>
        <a:p>
          <a:endParaRPr lang="zh-CN" altLang="en-US" sz="1800"/>
        </a:p>
      </dgm:t>
    </dgm:pt>
    <dgm:pt modelId="{CD154002-2CCC-48D0-AEE5-7117B4AF18E3}" type="sibTrans" cxnId="{232523F7-63F7-439B-814E-83FC45D04B9B}">
      <dgm:prSet/>
      <dgm:spPr/>
      <dgm:t>
        <a:bodyPr/>
        <a:lstStyle/>
        <a:p>
          <a:endParaRPr lang="zh-CN" altLang="en-US" sz="1800"/>
        </a:p>
      </dgm:t>
    </dgm:pt>
    <dgm:pt modelId="{C43D5E00-B5BF-417F-85D1-C10A858FDBF7}">
      <dgm:prSet phldrT="[文本]" custT="1"/>
      <dgm:spPr/>
      <dgm:t>
        <a:bodyPr/>
        <a:lstStyle/>
        <a:p>
          <a:r>
            <a:rPr lang="zh-CN" altLang="en-US" sz="1800" dirty="0" smtClean="0"/>
            <a:t>数据底座平台管理员（</a:t>
          </a:r>
          <a:r>
            <a:rPr lang="en-US" altLang="zh-CN" sz="1800" dirty="0" smtClean="0"/>
            <a:t>2</a:t>
          </a:r>
          <a:r>
            <a:rPr lang="zh-CN" altLang="en-US" sz="1800" dirty="0" smtClean="0"/>
            <a:t>人）</a:t>
          </a:r>
          <a:endParaRPr lang="zh-CN" altLang="en-US" sz="1800" dirty="0"/>
        </a:p>
      </dgm:t>
    </dgm:pt>
    <dgm:pt modelId="{29EAC319-BC42-4164-ACC2-A24A2835BB5A}" type="parTrans" cxnId="{FEC74884-D31E-4A2A-9710-018AAE310713}">
      <dgm:prSet/>
      <dgm:spPr/>
      <dgm:t>
        <a:bodyPr/>
        <a:lstStyle/>
        <a:p>
          <a:endParaRPr lang="zh-CN" altLang="en-US" sz="1800"/>
        </a:p>
      </dgm:t>
    </dgm:pt>
    <dgm:pt modelId="{D6F73FBA-F88A-4A5F-B0A0-6A00E59186BE}" type="sibTrans" cxnId="{FEC74884-D31E-4A2A-9710-018AAE310713}">
      <dgm:prSet/>
      <dgm:spPr/>
      <dgm:t>
        <a:bodyPr/>
        <a:lstStyle/>
        <a:p>
          <a:endParaRPr lang="zh-CN" altLang="en-US" sz="1800"/>
        </a:p>
      </dgm:t>
    </dgm:pt>
    <dgm:pt modelId="{3E2DD1E4-8B93-4ECE-A646-9273E7F4315B}">
      <dgm:prSet phldrT="[文本]" custT="1"/>
      <dgm:spPr/>
      <dgm:t>
        <a:bodyPr/>
        <a:lstStyle/>
        <a:p>
          <a:r>
            <a:rPr lang="zh-CN" altLang="en-US" sz="1600" dirty="0" smtClean="0"/>
            <a:t>建立</a:t>
          </a:r>
          <a:r>
            <a:rPr lang="en-US" altLang="zh-CN" sz="1600" dirty="0" smtClean="0"/>
            <a:t>Table</a:t>
          </a:r>
          <a:endParaRPr lang="zh-CN" altLang="en-US" sz="1600" dirty="0"/>
        </a:p>
      </dgm:t>
    </dgm:pt>
    <dgm:pt modelId="{0627BFD8-F527-4E84-9956-0F0D47F6727A}" type="parTrans" cxnId="{4A8CE743-90D5-44AA-B727-139965297D3F}">
      <dgm:prSet/>
      <dgm:spPr/>
      <dgm:t>
        <a:bodyPr/>
        <a:lstStyle/>
        <a:p>
          <a:endParaRPr lang="zh-CN" altLang="en-US" sz="1800"/>
        </a:p>
      </dgm:t>
    </dgm:pt>
    <dgm:pt modelId="{FA668ADE-DD4A-4636-B560-7FCF9F4F23DE}" type="sibTrans" cxnId="{4A8CE743-90D5-44AA-B727-139965297D3F}">
      <dgm:prSet/>
      <dgm:spPr/>
      <dgm:t>
        <a:bodyPr/>
        <a:lstStyle/>
        <a:p>
          <a:endParaRPr lang="zh-CN" altLang="en-US" sz="1800"/>
        </a:p>
      </dgm:t>
    </dgm:pt>
    <dgm:pt modelId="{31139F10-F701-4664-A68E-56ABC49BB068}">
      <dgm:prSet phldrT="[文本]" custT="1"/>
      <dgm:spPr/>
      <dgm:t>
        <a:bodyPr/>
        <a:lstStyle/>
        <a:p>
          <a:r>
            <a:rPr lang="zh-CN" altLang="en-US" sz="1600" dirty="0" smtClean="0"/>
            <a:t>建立</a:t>
          </a:r>
          <a:r>
            <a:rPr lang="en-US" altLang="zh-CN" sz="1600" dirty="0" smtClean="0"/>
            <a:t>View</a:t>
          </a:r>
          <a:endParaRPr lang="zh-CN" altLang="en-US" sz="1600" dirty="0"/>
        </a:p>
      </dgm:t>
    </dgm:pt>
    <dgm:pt modelId="{C04456B8-D871-4DC8-A16D-11D639CA8935}" type="parTrans" cxnId="{B569B15A-0DF0-4AE2-9319-08F7C4591DEE}">
      <dgm:prSet/>
      <dgm:spPr/>
      <dgm:t>
        <a:bodyPr/>
        <a:lstStyle/>
        <a:p>
          <a:endParaRPr lang="zh-CN" altLang="en-US" sz="1800"/>
        </a:p>
      </dgm:t>
    </dgm:pt>
    <dgm:pt modelId="{801BD39C-5634-4246-96EE-A12669C64DB2}" type="sibTrans" cxnId="{B569B15A-0DF0-4AE2-9319-08F7C4591DEE}">
      <dgm:prSet/>
      <dgm:spPr/>
      <dgm:t>
        <a:bodyPr/>
        <a:lstStyle/>
        <a:p>
          <a:endParaRPr lang="zh-CN" altLang="en-US" sz="1800"/>
        </a:p>
      </dgm:t>
    </dgm:pt>
    <dgm:pt modelId="{F274071C-0A32-473A-8CE3-2F0BA530E282}">
      <dgm:prSet phldrT="[文本]" custT="1"/>
      <dgm:spPr/>
      <dgm:t>
        <a:bodyPr/>
        <a:lstStyle/>
        <a:p>
          <a:endParaRPr lang="zh-CN" altLang="en-US" sz="1800" dirty="0"/>
        </a:p>
      </dgm:t>
    </dgm:pt>
    <dgm:pt modelId="{6984C121-2A76-4362-82C0-A29CA3FEC4E6}" type="parTrans" cxnId="{DC10E741-D0B7-4CD4-AF76-38293DA3660D}">
      <dgm:prSet/>
      <dgm:spPr/>
      <dgm:t>
        <a:bodyPr/>
        <a:lstStyle/>
        <a:p>
          <a:endParaRPr lang="zh-CN" altLang="en-US" sz="1800"/>
        </a:p>
      </dgm:t>
    </dgm:pt>
    <dgm:pt modelId="{8AA29DB0-9C58-4859-8698-560C7F5011E8}" type="sibTrans" cxnId="{DC10E741-D0B7-4CD4-AF76-38293DA3660D}">
      <dgm:prSet/>
      <dgm:spPr/>
      <dgm:t>
        <a:bodyPr/>
        <a:lstStyle/>
        <a:p>
          <a:endParaRPr lang="zh-CN" altLang="en-US" sz="1800"/>
        </a:p>
      </dgm:t>
    </dgm:pt>
    <dgm:pt modelId="{F0AA8476-09B3-4F48-A0FD-58D84F43C5DA}">
      <dgm:prSet phldrT="[文本]" custT="1"/>
      <dgm:spPr/>
      <dgm:t>
        <a:bodyPr/>
        <a:lstStyle/>
        <a:p>
          <a:endParaRPr lang="zh-CN" altLang="en-US" sz="1800" dirty="0"/>
        </a:p>
      </dgm:t>
    </dgm:pt>
    <dgm:pt modelId="{3D5789F8-83BD-4CB5-A4DE-B375A0EFE008}" type="parTrans" cxnId="{CB34C9F9-5721-4BDF-866B-2EC2D00E9F9E}">
      <dgm:prSet/>
      <dgm:spPr/>
      <dgm:t>
        <a:bodyPr/>
        <a:lstStyle/>
        <a:p>
          <a:endParaRPr lang="zh-CN" altLang="en-US" sz="1800"/>
        </a:p>
      </dgm:t>
    </dgm:pt>
    <dgm:pt modelId="{22EBB691-BA5F-477B-B97C-F23C476FB80C}" type="sibTrans" cxnId="{CB34C9F9-5721-4BDF-866B-2EC2D00E9F9E}">
      <dgm:prSet/>
      <dgm:spPr/>
      <dgm:t>
        <a:bodyPr/>
        <a:lstStyle/>
        <a:p>
          <a:endParaRPr lang="zh-CN" altLang="en-US" sz="1800"/>
        </a:p>
      </dgm:t>
    </dgm:pt>
    <dgm:pt modelId="{256D2E29-7282-4458-B8B5-036C322751A2}">
      <dgm:prSet phldrT="[文本]" custT="1"/>
      <dgm:spPr/>
      <dgm:t>
        <a:bodyPr/>
        <a:lstStyle/>
        <a:p>
          <a:r>
            <a:rPr lang="zh-CN" altLang="en-US" sz="1600" smtClean="0"/>
            <a:t>申请访问跨</a:t>
          </a:r>
          <a:r>
            <a:rPr lang="en-US" altLang="zh-CN" sz="1600" smtClean="0"/>
            <a:t>Team ODS&amp;DM</a:t>
          </a:r>
          <a:r>
            <a:rPr lang="zh-CN" altLang="en-US" sz="1600" smtClean="0"/>
            <a:t>的数据的权限</a:t>
          </a:r>
          <a:endParaRPr lang="zh-CN" altLang="en-US" sz="1600" dirty="0"/>
        </a:p>
      </dgm:t>
    </dgm:pt>
    <dgm:pt modelId="{CFAD9D82-A270-4325-84C9-8BB5EFCE1842}" type="parTrans" cxnId="{716D8125-93D8-4384-B092-8FAF772378F3}">
      <dgm:prSet/>
      <dgm:spPr/>
      <dgm:t>
        <a:bodyPr/>
        <a:lstStyle/>
        <a:p>
          <a:endParaRPr lang="zh-CN" altLang="en-US" sz="1800"/>
        </a:p>
      </dgm:t>
    </dgm:pt>
    <dgm:pt modelId="{9356974D-9EF3-4740-B551-B92D26DEDC5B}" type="sibTrans" cxnId="{716D8125-93D8-4384-B092-8FAF772378F3}">
      <dgm:prSet/>
      <dgm:spPr/>
      <dgm:t>
        <a:bodyPr/>
        <a:lstStyle/>
        <a:p>
          <a:endParaRPr lang="zh-CN" altLang="en-US" sz="1800"/>
        </a:p>
      </dgm:t>
    </dgm:pt>
    <dgm:pt modelId="{206D785C-843D-4215-9ED4-48574D3D8FE6}">
      <dgm:prSet phldrT="[文本]" custT="1"/>
      <dgm:spPr/>
      <dgm:t>
        <a:bodyPr/>
        <a:lstStyle/>
        <a:p>
          <a:r>
            <a:rPr lang="zh-CN" altLang="en-US" sz="1600" dirty="0" smtClean="0"/>
            <a:t>审核</a:t>
          </a:r>
          <a:r>
            <a:rPr lang="en-US" altLang="zh-CN" sz="1600" dirty="0" smtClean="0"/>
            <a:t>API</a:t>
          </a:r>
          <a:r>
            <a:rPr lang="zh-CN" altLang="en-US" sz="1600" dirty="0" smtClean="0"/>
            <a:t>放行的权限</a:t>
          </a:r>
          <a:endParaRPr lang="zh-CN" altLang="en-US" sz="1600" dirty="0"/>
        </a:p>
      </dgm:t>
    </dgm:pt>
    <dgm:pt modelId="{D941F4E7-5823-4334-B2F5-06FAA1D6E2AD}" type="parTrans" cxnId="{9D837C88-0487-4BB6-8245-F90797DDEE62}">
      <dgm:prSet/>
      <dgm:spPr/>
      <dgm:t>
        <a:bodyPr/>
        <a:lstStyle/>
        <a:p>
          <a:endParaRPr lang="zh-CN" altLang="en-US" sz="1800"/>
        </a:p>
      </dgm:t>
    </dgm:pt>
    <dgm:pt modelId="{F3EF3956-7627-4119-B6DC-18E886BC4762}" type="sibTrans" cxnId="{9D837C88-0487-4BB6-8245-F90797DDEE62}">
      <dgm:prSet/>
      <dgm:spPr/>
      <dgm:t>
        <a:bodyPr/>
        <a:lstStyle/>
        <a:p>
          <a:endParaRPr lang="zh-CN" altLang="en-US" sz="1800"/>
        </a:p>
      </dgm:t>
    </dgm:pt>
    <dgm:pt modelId="{4F90AA7F-F765-4DDC-85AC-651525F9386E}">
      <dgm:prSet phldrT="[文本]" custT="1"/>
      <dgm:spPr/>
      <dgm:t>
        <a:bodyPr/>
        <a:lstStyle/>
        <a:p>
          <a:r>
            <a:rPr lang="zh-CN" altLang="en-US" sz="1600" dirty="0" smtClean="0"/>
            <a:t>负责</a:t>
          </a:r>
          <a:r>
            <a:rPr lang="en-US" altLang="zh-CN" sz="1600" dirty="0" err="1" smtClean="0"/>
            <a:t>Hadoop&amp;Doris</a:t>
          </a:r>
          <a:r>
            <a:rPr lang="en-US" altLang="zh-CN" sz="1600" dirty="0" smtClean="0"/>
            <a:t>&amp;</a:t>
          </a:r>
          <a:r>
            <a:rPr lang="zh-CN" altLang="en-US" sz="1600" dirty="0" smtClean="0"/>
            <a:t>数据底座日常运维，异常处理，升级等相关工作</a:t>
          </a:r>
          <a:endParaRPr lang="zh-CN" altLang="en-US" sz="1600" dirty="0"/>
        </a:p>
      </dgm:t>
    </dgm:pt>
    <dgm:pt modelId="{5AA53BEC-9687-42F8-9F5A-B301FAFE9151}" type="parTrans" cxnId="{CBD155F8-9D68-4704-9586-EE328592FA76}">
      <dgm:prSet/>
      <dgm:spPr/>
      <dgm:t>
        <a:bodyPr/>
        <a:lstStyle/>
        <a:p>
          <a:endParaRPr lang="zh-CN" altLang="en-US" sz="1800"/>
        </a:p>
      </dgm:t>
    </dgm:pt>
    <dgm:pt modelId="{219E0273-E741-4D60-90C4-7A85CBACBFB1}" type="sibTrans" cxnId="{CBD155F8-9D68-4704-9586-EE328592FA76}">
      <dgm:prSet/>
      <dgm:spPr/>
      <dgm:t>
        <a:bodyPr/>
        <a:lstStyle/>
        <a:p>
          <a:endParaRPr lang="zh-CN" altLang="en-US" sz="1800"/>
        </a:p>
      </dgm:t>
    </dgm:pt>
    <dgm:pt modelId="{CB1A7098-838D-4E12-9C57-E5F9870B6AF7}">
      <dgm:prSet phldrT="[文本]" custT="1"/>
      <dgm:spPr/>
      <dgm:t>
        <a:bodyPr/>
        <a:lstStyle/>
        <a:p>
          <a:r>
            <a:rPr lang="zh-CN" altLang="en-US" sz="1600" dirty="0" smtClean="0"/>
            <a:t>管理</a:t>
          </a:r>
          <a:r>
            <a:rPr lang="en-US" altLang="zh-CN" sz="1600" dirty="0" err="1" smtClean="0"/>
            <a:t>Hadoop&amp;Doris</a:t>
          </a:r>
          <a:r>
            <a:rPr lang="zh-CN" altLang="en-US" sz="1600" dirty="0" smtClean="0"/>
            <a:t>库的表或</a:t>
          </a:r>
          <a:r>
            <a:rPr lang="en-US" altLang="zh-CN" sz="1600" dirty="0" smtClean="0"/>
            <a:t>View</a:t>
          </a:r>
          <a:r>
            <a:rPr lang="zh-CN" altLang="en-US" sz="1600" dirty="0" smtClean="0"/>
            <a:t>及资源权限和安全事项</a:t>
          </a:r>
          <a:endParaRPr lang="zh-CN" altLang="en-US" sz="1600" dirty="0"/>
        </a:p>
      </dgm:t>
    </dgm:pt>
    <dgm:pt modelId="{F76688D6-B45C-4334-B44B-8863FBF8AF30}" type="parTrans" cxnId="{3EA2CA08-5660-4E00-8103-87520E1884AF}">
      <dgm:prSet/>
      <dgm:spPr/>
      <dgm:t>
        <a:bodyPr/>
        <a:lstStyle/>
        <a:p>
          <a:endParaRPr lang="zh-CN" altLang="en-US" sz="1800"/>
        </a:p>
      </dgm:t>
    </dgm:pt>
    <dgm:pt modelId="{1C186964-F454-4162-8B90-EB3A89A402CA}" type="sibTrans" cxnId="{3EA2CA08-5660-4E00-8103-87520E1884AF}">
      <dgm:prSet/>
      <dgm:spPr/>
      <dgm:t>
        <a:bodyPr/>
        <a:lstStyle/>
        <a:p>
          <a:endParaRPr lang="zh-CN" altLang="en-US" sz="1800"/>
        </a:p>
      </dgm:t>
    </dgm:pt>
    <dgm:pt modelId="{E752DC91-85AC-43A6-9F16-CF99BEBEBDF6}">
      <dgm:prSet phldrT="[文本]" custT="1"/>
      <dgm:spPr/>
      <dgm:t>
        <a:bodyPr/>
        <a:lstStyle/>
        <a:p>
          <a:r>
            <a:rPr lang="zh-CN" altLang="en-US" sz="1600" dirty="0" smtClean="0"/>
            <a:t>负责</a:t>
          </a:r>
          <a:r>
            <a:rPr lang="en-US" altLang="zh-CN" sz="1600" dirty="0" smtClean="0"/>
            <a:t>DIM</a:t>
          </a:r>
          <a:r>
            <a:rPr lang="zh-CN" altLang="en-US" sz="1600" dirty="0" smtClean="0"/>
            <a:t>层的数据建立</a:t>
          </a:r>
          <a:endParaRPr lang="zh-CN" altLang="en-US" sz="1600" dirty="0"/>
        </a:p>
      </dgm:t>
    </dgm:pt>
    <dgm:pt modelId="{962E6140-52CB-42A4-8C19-9EFEFBEC0B33}" type="parTrans" cxnId="{CF13D1C6-3618-425B-A8CD-996743873285}">
      <dgm:prSet/>
      <dgm:spPr/>
      <dgm:t>
        <a:bodyPr/>
        <a:lstStyle/>
        <a:p>
          <a:endParaRPr lang="zh-CN" altLang="en-US"/>
        </a:p>
      </dgm:t>
    </dgm:pt>
    <dgm:pt modelId="{CE931F7C-77AA-4DBA-95B2-0EA69E554C34}" type="sibTrans" cxnId="{CF13D1C6-3618-425B-A8CD-996743873285}">
      <dgm:prSet/>
      <dgm:spPr/>
      <dgm:t>
        <a:bodyPr/>
        <a:lstStyle/>
        <a:p>
          <a:endParaRPr lang="zh-CN" altLang="en-US"/>
        </a:p>
      </dgm:t>
    </dgm:pt>
    <dgm:pt modelId="{067DF85C-B05A-48A3-8BB7-03DFFE7C9D19}">
      <dgm:prSet phldrT="[文本]" custT="1"/>
      <dgm:spPr/>
      <dgm:t>
        <a:bodyPr/>
        <a:lstStyle/>
        <a:p>
          <a:r>
            <a:rPr lang="zh-CN" altLang="en-US" sz="1600" dirty="0" smtClean="0"/>
            <a:t>建立</a:t>
          </a:r>
          <a:r>
            <a:rPr lang="en-US" altLang="zh-CN" sz="1600" dirty="0" err="1" smtClean="0"/>
            <a:t>DataSource</a:t>
          </a:r>
          <a:r>
            <a:rPr lang="en-US" altLang="zh-CN" sz="1600" dirty="0" smtClean="0"/>
            <a:t>(</a:t>
          </a:r>
          <a:r>
            <a:rPr lang="zh-CN" altLang="en-US" sz="1600" dirty="0" smtClean="0"/>
            <a:t>数据源</a:t>
          </a:r>
          <a:r>
            <a:rPr lang="en-US" altLang="zh-CN" sz="1600" dirty="0" smtClean="0"/>
            <a:t>)</a:t>
          </a:r>
          <a:endParaRPr lang="zh-CN" altLang="en-US" sz="1600" dirty="0"/>
        </a:p>
      </dgm:t>
    </dgm:pt>
    <dgm:pt modelId="{E0A0153B-78A1-4311-B274-4EF3B6F427D7}" type="parTrans" cxnId="{87898DAD-4650-422B-8631-0A0CC12BC5A0}">
      <dgm:prSet/>
      <dgm:spPr/>
      <dgm:t>
        <a:bodyPr/>
        <a:lstStyle/>
        <a:p>
          <a:endParaRPr lang="zh-CN" altLang="en-US"/>
        </a:p>
      </dgm:t>
    </dgm:pt>
    <dgm:pt modelId="{960E288E-5B44-474F-86AA-0C13B0C8C541}" type="sibTrans" cxnId="{87898DAD-4650-422B-8631-0A0CC12BC5A0}">
      <dgm:prSet/>
      <dgm:spPr/>
      <dgm:t>
        <a:bodyPr/>
        <a:lstStyle/>
        <a:p>
          <a:endParaRPr lang="zh-CN" altLang="en-US"/>
        </a:p>
      </dgm:t>
    </dgm:pt>
    <dgm:pt modelId="{0F8B0B7A-C5FB-490F-8B97-7D59DFC357E0}" type="pres">
      <dgm:prSet presAssocID="{E1C88DE1-1CA1-4117-8ED1-3C0FDE4D330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39E2948-24C8-4F3B-9FF2-CAB4237F1D6C}" type="pres">
      <dgm:prSet presAssocID="{0427BE7F-B50A-483D-8AAC-C3ADC4CB6EA5}" presName="composite" presStyleCnt="0"/>
      <dgm:spPr/>
      <dgm:t>
        <a:bodyPr/>
        <a:lstStyle/>
        <a:p>
          <a:endParaRPr lang="zh-CN" altLang="en-US"/>
        </a:p>
      </dgm:t>
    </dgm:pt>
    <dgm:pt modelId="{7A6EDC2D-9A3D-42A6-82D2-A7FBBB2CDFCE}" type="pres">
      <dgm:prSet presAssocID="{0427BE7F-B50A-483D-8AAC-C3ADC4CB6EA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0E2547F-C293-4F07-AB5B-2ADF045EDF4E}" type="pres">
      <dgm:prSet presAssocID="{0427BE7F-B50A-483D-8AAC-C3ADC4CB6EA5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88D4D53-09CB-4CF9-A21F-80E720FEE9CE}" type="pres">
      <dgm:prSet presAssocID="{16E0D1E1-BE88-4EB9-BAE6-00CF3A8BE6CB}" presName="space" presStyleCnt="0"/>
      <dgm:spPr/>
      <dgm:t>
        <a:bodyPr/>
        <a:lstStyle/>
        <a:p>
          <a:endParaRPr lang="zh-CN" altLang="en-US"/>
        </a:p>
      </dgm:t>
    </dgm:pt>
    <dgm:pt modelId="{569B6CCB-3A50-4643-A287-97132731993D}" type="pres">
      <dgm:prSet presAssocID="{7C0D58C9-317C-48C3-A821-44C82CD1EBBB}" presName="composite" presStyleCnt="0"/>
      <dgm:spPr/>
      <dgm:t>
        <a:bodyPr/>
        <a:lstStyle/>
        <a:p>
          <a:endParaRPr lang="zh-CN" altLang="en-US"/>
        </a:p>
      </dgm:t>
    </dgm:pt>
    <dgm:pt modelId="{1EF545BD-486E-474F-BF00-E7E7F1E12BDC}" type="pres">
      <dgm:prSet presAssocID="{7C0D58C9-317C-48C3-A821-44C82CD1EBB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96E0AE-A14D-4B9D-A170-BA2284CF2536}" type="pres">
      <dgm:prSet presAssocID="{7C0D58C9-317C-48C3-A821-44C82CD1EBBB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024D31-3A74-46DC-B59E-4C71979AB0B1}" type="pres">
      <dgm:prSet presAssocID="{4CD87767-29F8-4A48-9EFB-9ADE5E655C5F}" presName="space" presStyleCnt="0"/>
      <dgm:spPr/>
      <dgm:t>
        <a:bodyPr/>
        <a:lstStyle/>
        <a:p>
          <a:endParaRPr lang="zh-CN" altLang="en-US"/>
        </a:p>
      </dgm:t>
    </dgm:pt>
    <dgm:pt modelId="{3523D5BF-909D-4857-B6C3-2B0009D88EEC}" type="pres">
      <dgm:prSet presAssocID="{C43D5E00-B5BF-417F-85D1-C10A858FDBF7}" presName="composite" presStyleCnt="0"/>
      <dgm:spPr/>
      <dgm:t>
        <a:bodyPr/>
        <a:lstStyle/>
        <a:p>
          <a:endParaRPr lang="zh-CN" altLang="en-US"/>
        </a:p>
      </dgm:t>
    </dgm:pt>
    <dgm:pt modelId="{65404C05-39F4-4859-8DB2-9BF5D06FE02E}" type="pres">
      <dgm:prSet presAssocID="{C43D5E00-B5BF-417F-85D1-C10A858FDBF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F50A72E-CE44-4100-A92F-3D52E69C8D4C}" type="pres">
      <dgm:prSet presAssocID="{C43D5E00-B5BF-417F-85D1-C10A858FDBF7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22E1865-B00F-4E54-8BC8-74AABBDBE55D}" type="presOf" srcId="{CB1A7098-838D-4E12-9C57-E5F9870B6AF7}" destId="{1F50A72E-CE44-4100-A92F-3D52E69C8D4C}" srcOrd="0" destOrd="0" presId="urn:microsoft.com/office/officeart/2005/8/layout/hList1"/>
    <dgm:cxn modelId="{48BE807E-BA7B-4E1E-A549-AC51165D12BE}" type="presOf" srcId="{206D785C-843D-4215-9ED4-48574D3D8FE6}" destId="{1F50A72E-CE44-4100-A92F-3D52E69C8D4C}" srcOrd="0" destOrd="4" presId="urn:microsoft.com/office/officeart/2005/8/layout/hList1"/>
    <dgm:cxn modelId="{4918CD18-3E0E-4FDC-907B-413973226BEE}" srcId="{7C0D58C9-317C-48C3-A821-44C82CD1EBBB}" destId="{2A884CE2-5FB1-48E0-895D-2AB9727DF5E4}" srcOrd="1" destOrd="0" parTransId="{0B38DC7D-2456-48D2-86B5-D1AB78F4DEB2}" sibTransId="{98646499-DB6A-4792-87FB-12F5B4C88CE2}"/>
    <dgm:cxn modelId="{E13F6E93-4663-4C18-A758-84BB6F997A81}" type="presOf" srcId="{7C0D58C9-317C-48C3-A821-44C82CD1EBBB}" destId="{1EF545BD-486E-474F-BF00-E7E7F1E12BDC}" srcOrd="0" destOrd="0" presId="urn:microsoft.com/office/officeart/2005/8/layout/hList1"/>
    <dgm:cxn modelId="{4A8CE743-90D5-44AA-B727-139965297D3F}" srcId="{C43D5E00-B5BF-417F-85D1-C10A858FDBF7}" destId="{3E2DD1E4-8B93-4ECE-A646-9273E7F4315B}" srcOrd="2" destOrd="0" parTransId="{0627BFD8-F527-4E84-9956-0F0D47F6727A}" sibTransId="{FA668ADE-DD4A-4636-B560-7FCF9F4F23DE}"/>
    <dgm:cxn modelId="{0C01E64C-22B4-4820-A612-1A48ACDB83F6}" srcId="{E1C88DE1-1CA1-4117-8ED1-3C0FDE4D3308}" destId="{0427BE7F-B50A-483D-8AAC-C3ADC4CB6EA5}" srcOrd="0" destOrd="0" parTransId="{77BFC1E6-F6DE-44B7-AF68-48986A3B39F4}" sibTransId="{16E0D1E1-BE88-4EB9-BAE6-00CF3A8BE6CB}"/>
    <dgm:cxn modelId="{DC10E741-D0B7-4CD4-AF76-38293DA3660D}" srcId="{0427BE7F-B50A-483D-8AAC-C3ADC4CB6EA5}" destId="{F274071C-0A32-473A-8CE3-2F0BA530E282}" srcOrd="3" destOrd="0" parTransId="{6984C121-2A76-4362-82C0-A29CA3FEC4E6}" sibTransId="{8AA29DB0-9C58-4859-8698-560C7F5011E8}"/>
    <dgm:cxn modelId="{6097BB55-5FE4-4FCC-82EC-AC943BF24627}" type="presOf" srcId="{256D2E29-7282-4458-B8B5-036C322751A2}" destId="{6C96E0AE-A14D-4B9D-A170-BA2284CF2536}" srcOrd="0" destOrd="0" presId="urn:microsoft.com/office/officeart/2005/8/layout/hList1"/>
    <dgm:cxn modelId="{CF13D1C6-3618-425B-A8CD-996743873285}" srcId="{0427BE7F-B50A-483D-8AAC-C3ADC4CB6EA5}" destId="{E752DC91-85AC-43A6-9F16-CF99BEBEBDF6}" srcOrd="2" destOrd="0" parTransId="{962E6140-52CB-42A4-8C19-9EFEFBEC0B33}" sibTransId="{CE931F7C-77AA-4DBA-95B2-0EA69E554C34}"/>
    <dgm:cxn modelId="{CB34C9F9-5721-4BDF-866B-2EC2D00E9F9E}" srcId="{7C0D58C9-317C-48C3-A821-44C82CD1EBBB}" destId="{F0AA8476-09B3-4F48-A0FD-58D84F43C5DA}" srcOrd="3" destOrd="0" parTransId="{3D5789F8-83BD-4CB5-A4DE-B375A0EFE008}" sibTransId="{22EBB691-BA5F-477B-B97C-F23C476FB80C}"/>
    <dgm:cxn modelId="{BFFA8435-7D97-493B-A503-FBF8095E05D2}" type="presOf" srcId="{F0AA8476-09B3-4F48-A0FD-58D84F43C5DA}" destId="{6C96E0AE-A14D-4B9D-A170-BA2284CF2536}" srcOrd="0" destOrd="3" presId="urn:microsoft.com/office/officeart/2005/8/layout/hList1"/>
    <dgm:cxn modelId="{56649719-54E3-4F05-AD5A-A63422728CD0}" type="presOf" srcId="{31139F10-F701-4664-A68E-56ABC49BB068}" destId="{1F50A72E-CE44-4100-A92F-3D52E69C8D4C}" srcOrd="0" destOrd="3" presId="urn:microsoft.com/office/officeart/2005/8/layout/hList1"/>
    <dgm:cxn modelId="{55E5B455-BE05-4ED7-95CC-1F1AE87A63BD}" type="presOf" srcId="{E752DC91-85AC-43A6-9F16-CF99BEBEBDF6}" destId="{60E2547F-C293-4F07-AB5B-2ADF045EDF4E}" srcOrd="0" destOrd="2" presId="urn:microsoft.com/office/officeart/2005/8/layout/hList1"/>
    <dgm:cxn modelId="{FEC74884-D31E-4A2A-9710-018AAE310713}" srcId="{E1C88DE1-1CA1-4117-8ED1-3C0FDE4D3308}" destId="{C43D5E00-B5BF-417F-85D1-C10A858FDBF7}" srcOrd="2" destOrd="0" parTransId="{29EAC319-BC42-4164-ACC2-A24A2835BB5A}" sibTransId="{D6F73FBA-F88A-4A5F-B0A0-6A00E59186BE}"/>
    <dgm:cxn modelId="{99651FAE-92FC-41B5-A85E-321D404DDAB7}" type="presOf" srcId="{3E2DD1E4-8B93-4ECE-A646-9273E7F4315B}" destId="{1F50A72E-CE44-4100-A92F-3D52E69C8D4C}" srcOrd="0" destOrd="2" presId="urn:microsoft.com/office/officeart/2005/8/layout/hList1"/>
    <dgm:cxn modelId="{674E85B2-B107-4924-A3DF-084F615E022F}" srcId="{0427BE7F-B50A-483D-8AAC-C3ADC4CB6EA5}" destId="{104A6760-42CA-44B2-A9A2-8C4BF008B3AC}" srcOrd="1" destOrd="0" parTransId="{6C554E0D-C8B2-4EEE-AC60-2C9A0950A669}" sibTransId="{0BDF9EA0-25FD-47A6-8D17-5BF0527745F1}"/>
    <dgm:cxn modelId="{4146C28C-A89C-4A10-8AF9-9B19FA20467C}" type="presOf" srcId="{F274071C-0A32-473A-8CE3-2F0BA530E282}" destId="{60E2547F-C293-4F07-AB5B-2ADF045EDF4E}" srcOrd="0" destOrd="3" presId="urn:microsoft.com/office/officeart/2005/8/layout/hList1"/>
    <dgm:cxn modelId="{966A2C84-F707-4C61-BD4D-0D5D8F119791}" type="presOf" srcId="{104A6760-42CA-44B2-A9A2-8C4BF008B3AC}" destId="{60E2547F-C293-4F07-AB5B-2ADF045EDF4E}" srcOrd="0" destOrd="1" presId="urn:microsoft.com/office/officeart/2005/8/layout/hList1"/>
    <dgm:cxn modelId="{60FF7CA1-1541-40EA-BB4A-EB6C3BF35EB0}" type="presOf" srcId="{D8FBFD6E-13E5-47F3-A2A4-6B00478D22C4}" destId="{6C96E0AE-A14D-4B9D-A170-BA2284CF2536}" srcOrd="0" destOrd="2" presId="urn:microsoft.com/office/officeart/2005/8/layout/hList1"/>
    <dgm:cxn modelId="{716D8125-93D8-4384-B092-8FAF772378F3}" srcId="{7C0D58C9-317C-48C3-A821-44C82CD1EBBB}" destId="{256D2E29-7282-4458-B8B5-036C322751A2}" srcOrd="0" destOrd="0" parTransId="{CFAD9D82-A270-4325-84C9-8BB5EFCE1842}" sibTransId="{9356974D-9EF3-4740-B551-B92D26DEDC5B}"/>
    <dgm:cxn modelId="{4F4ADD4F-107C-494C-95C9-435982AD912E}" type="presOf" srcId="{4F90AA7F-F765-4DDC-85AC-651525F9386E}" destId="{1F50A72E-CE44-4100-A92F-3D52E69C8D4C}" srcOrd="0" destOrd="5" presId="urn:microsoft.com/office/officeart/2005/8/layout/hList1"/>
    <dgm:cxn modelId="{A2B4EF43-D458-43C5-B780-86C04867B724}" type="presOf" srcId="{067DF85C-B05A-48A3-8BB7-03DFFE7C9D19}" destId="{1F50A72E-CE44-4100-A92F-3D52E69C8D4C}" srcOrd="0" destOrd="1" presId="urn:microsoft.com/office/officeart/2005/8/layout/hList1"/>
    <dgm:cxn modelId="{CBD155F8-9D68-4704-9586-EE328592FA76}" srcId="{C43D5E00-B5BF-417F-85D1-C10A858FDBF7}" destId="{4F90AA7F-F765-4DDC-85AC-651525F9386E}" srcOrd="5" destOrd="0" parTransId="{5AA53BEC-9687-42F8-9F5A-B301FAFE9151}" sibTransId="{219E0273-E741-4D60-90C4-7A85CBACBFB1}"/>
    <dgm:cxn modelId="{2141ABAD-6ADB-4A66-81D6-E5FE414382D3}" srcId="{E1C88DE1-1CA1-4117-8ED1-3C0FDE4D3308}" destId="{7C0D58C9-317C-48C3-A821-44C82CD1EBBB}" srcOrd="1" destOrd="0" parTransId="{6571A891-2BC9-4DB0-996E-49D36E0728D2}" sibTransId="{4CD87767-29F8-4A48-9EFB-9ADE5E655C5F}"/>
    <dgm:cxn modelId="{0DA3CEB0-BDD4-4CC1-97FE-A68B0709C242}" type="presOf" srcId="{E1C88DE1-1CA1-4117-8ED1-3C0FDE4D3308}" destId="{0F8B0B7A-C5FB-490F-8B97-7D59DFC357E0}" srcOrd="0" destOrd="0" presId="urn:microsoft.com/office/officeart/2005/8/layout/hList1"/>
    <dgm:cxn modelId="{B569B15A-0DF0-4AE2-9319-08F7C4591DEE}" srcId="{C43D5E00-B5BF-417F-85D1-C10A858FDBF7}" destId="{31139F10-F701-4664-A68E-56ABC49BB068}" srcOrd="3" destOrd="0" parTransId="{C04456B8-D871-4DC8-A16D-11D639CA8935}" sibTransId="{801BD39C-5634-4246-96EE-A12669C64DB2}"/>
    <dgm:cxn modelId="{6659CE43-533C-4BC5-B8AD-F9680E357FDA}" type="presOf" srcId="{0427BE7F-B50A-483D-8AAC-C3ADC4CB6EA5}" destId="{7A6EDC2D-9A3D-42A6-82D2-A7FBBB2CDFCE}" srcOrd="0" destOrd="0" presId="urn:microsoft.com/office/officeart/2005/8/layout/hList1"/>
    <dgm:cxn modelId="{9D837C88-0487-4BB6-8245-F90797DDEE62}" srcId="{C43D5E00-B5BF-417F-85D1-C10A858FDBF7}" destId="{206D785C-843D-4215-9ED4-48574D3D8FE6}" srcOrd="4" destOrd="0" parTransId="{D941F4E7-5823-4334-B2F5-06FAA1D6E2AD}" sibTransId="{F3EF3956-7627-4119-B6DC-18E886BC4762}"/>
    <dgm:cxn modelId="{232523F7-63F7-439B-814E-83FC45D04B9B}" srcId="{7C0D58C9-317C-48C3-A821-44C82CD1EBBB}" destId="{D8FBFD6E-13E5-47F3-A2A4-6B00478D22C4}" srcOrd="2" destOrd="0" parTransId="{8CDAC1FF-48FF-4DD7-8F05-E0DCA4850D49}" sibTransId="{CD154002-2CCC-48D0-AEE5-7117B4AF18E3}"/>
    <dgm:cxn modelId="{CD11BA03-9E42-4261-9E6A-8544F8B1655D}" srcId="{0427BE7F-B50A-483D-8AAC-C3ADC4CB6EA5}" destId="{6964EFC9-8259-4A51-A85B-374C13E94E4D}" srcOrd="0" destOrd="0" parTransId="{DE739691-143D-476E-A634-7CC895760A2E}" sibTransId="{D522442E-9E87-4BAC-ABEC-219EB044831A}"/>
    <dgm:cxn modelId="{87898DAD-4650-422B-8631-0A0CC12BC5A0}" srcId="{C43D5E00-B5BF-417F-85D1-C10A858FDBF7}" destId="{067DF85C-B05A-48A3-8BB7-03DFFE7C9D19}" srcOrd="1" destOrd="0" parTransId="{E0A0153B-78A1-4311-B274-4EF3B6F427D7}" sibTransId="{960E288E-5B44-474F-86AA-0C13B0C8C541}"/>
    <dgm:cxn modelId="{80F0A324-06DB-4975-9914-41375375114E}" type="presOf" srcId="{6964EFC9-8259-4A51-A85B-374C13E94E4D}" destId="{60E2547F-C293-4F07-AB5B-2ADF045EDF4E}" srcOrd="0" destOrd="0" presId="urn:microsoft.com/office/officeart/2005/8/layout/hList1"/>
    <dgm:cxn modelId="{3EA2CA08-5660-4E00-8103-87520E1884AF}" srcId="{C43D5E00-B5BF-417F-85D1-C10A858FDBF7}" destId="{CB1A7098-838D-4E12-9C57-E5F9870B6AF7}" srcOrd="0" destOrd="0" parTransId="{F76688D6-B45C-4334-B44B-8863FBF8AF30}" sibTransId="{1C186964-F454-4162-8B90-EB3A89A402CA}"/>
    <dgm:cxn modelId="{75055B03-0644-4FE8-B63F-CBCB6C7F4725}" type="presOf" srcId="{C43D5E00-B5BF-417F-85D1-C10A858FDBF7}" destId="{65404C05-39F4-4859-8DB2-9BF5D06FE02E}" srcOrd="0" destOrd="0" presId="urn:microsoft.com/office/officeart/2005/8/layout/hList1"/>
    <dgm:cxn modelId="{34E320B2-85DB-499F-9D45-8EB16D439FF4}" type="presOf" srcId="{2A884CE2-5FB1-48E0-895D-2AB9727DF5E4}" destId="{6C96E0AE-A14D-4B9D-A170-BA2284CF2536}" srcOrd="0" destOrd="1" presId="urn:microsoft.com/office/officeart/2005/8/layout/hList1"/>
    <dgm:cxn modelId="{66D10C71-DD40-4CED-B111-566BF4DE0F08}" type="presParOf" srcId="{0F8B0B7A-C5FB-490F-8B97-7D59DFC357E0}" destId="{839E2948-24C8-4F3B-9FF2-CAB4237F1D6C}" srcOrd="0" destOrd="0" presId="urn:microsoft.com/office/officeart/2005/8/layout/hList1"/>
    <dgm:cxn modelId="{78A0783D-B26E-482C-93BB-50BBB1189737}" type="presParOf" srcId="{839E2948-24C8-4F3B-9FF2-CAB4237F1D6C}" destId="{7A6EDC2D-9A3D-42A6-82D2-A7FBBB2CDFCE}" srcOrd="0" destOrd="0" presId="urn:microsoft.com/office/officeart/2005/8/layout/hList1"/>
    <dgm:cxn modelId="{47C86FC7-B346-4A8D-BF93-6CEA54DBED90}" type="presParOf" srcId="{839E2948-24C8-4F3B-9FF2-CAB4237F1D6C}" destId="{60E2547F-C293-4F07-AB5B-2ADF045EDF4E}" srcOrd="1" destOrd="0" presId="urn:microsoft.com/office/officeart/2005/8/layout/hList1"/>
    <dgm:cxn modelId="{52CEBB88-8E70-4225-BCD8-4026FD98E505}" type="presParOf" srcId="{0F8B0B7A-C5FB-490F-8B97-7D59DFC357E0}" destId="{288D4D53-09CB-4CF9-A21F-80E720FEE9CE}" srcOrd="1" destOrd="0" presId="urn:microsoft.com/office/officeart/2005/8/layout/hList1"/>
    <dgm:cxn modelId="{1BA83DF6-DCD0-4DE4-A784-FBAEE4F5B046}" type="presParOf" srcId="{0F8B0B7A-C5FB-490F-8B97-7D59DFC357E0}" destId="{569B6CCB-3A50-4643-A287-97132731993D}" srcOrd="2" destOrd="0" presId="urn:microsoft.com/office/officeart/2005/8/layout/hList1"/>
    <dgm:cxn modelId="{4EDA568F-C054-4F5B-9C2F-A9DD6FCC7318}" type="presParOf" srcId="{569B6CCB-3A50-4643-A287-97132731993D}" destId="{1EF545BD-486E-474F-BF00-E7E7F1E12BDC}" srcOrd="0" destOrd="0" presId="urn:microsoft.com/office/officeart/2005/8/layout/hList1"/>
    <dgm:cxn modelId="{2BB118A2-181B-4A18-A41C-5B1E7EC2A5AA}" type="presParOf" srcId="{569B6CCB-3A50-4643-A287-97132731993D}" destId="{6C96E0AE-A14D-4B9D-A170-BA2284CF2536}" srcOrd="1" destOrd="0" presId="urn:microsoft.com/office/officeart/2005/8/layout/hList1"/>
    <dgm:cxn modelId="{0695217D-C6D3-464E-9164-A199FDFF21FE}" type="presParOf" srcId="{0F8B0B7A-C5FB-490F-8B97-7D59DFC357E0}" destId="{29024D31-3A74-46DC-B59E-4C71979AB0B1}" srcOrd="3" destOrd="0" presId="urn:microsoft.com/office/officeart/2005/8/layout/hList1"/>
    <dgm:cxn modelId="{57DBE54F-08AD-4842-ADE9-D5651AF2267C}" type="presParOf" srcId="{0F8B0B7A-C5FB-490F-8B97-7D59DFC357E0}" destId="{3523D5BF-909D-4857-B6C3-2B0009D88EEC}" srcOrd="4" destOrd="0" presId="urn:microsoft.com/office/officeart/2005/8/layout/hList1"/>
    <dgm:cxn modelId="{FCA25B95-B65A-4A42-8C6B-826640DF8489}" type="presParOf" srcId="{3523D5BF-909D-4857-B6C3-2B0009D88EEC}" destId="{65404C05-39F4-4859-8DB2-9BF5D06FE02E}" srcOrd="0" destOrd="0" presId="urn:microsoft.com/office/officeart/2005/8/layout/hList1"/>
    <dgm:cxn modelId="{9A7714A7-16D7-49AD-88B1-D493E84ED3D9}" type="presParOf" srcId="{3523D5BF-909D-4857-B6C3-2B0009D88EEC}" destId="{1F50A72E-CE44-4100-A92F-3D52E69C8D4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BF51B8-7F14-465A-9380-BAB01A631107}" type="doc">
      <dgm:prSet loTypeId="urn:microsoft.com/office/officeart/2005/8/layout/process2" loCatId="process" qsTypeId="urn:microsoft.com/office/officeart/2005/8/quickstyle/simple1#3" qsCatId="simple" csTypeId="urn:microsoft.com/office/officeart/2005/8/colors/colorful1#2" csCatId="colorful" phldr="1"/>
      <dgm:spPr/>
    </dgm:pt>
    <dgm:pt modelId="{CCF6C9F0-4DD9-434D-A74C-87C26FCBFFFB}">
      <dgm:prSet phldrT="[文本]"/>
      <dgm:spPr/>
      <dgm:t>
        <a:bodyPr/>
        <a:lstStyle/>
        <a:p>
          <a:r>
            <a:rPr lang="zh-CN" altLang="en-US" dirty="0" smtClean="0"/>
            <a:t>开发</a:t>
          </a:r>
          <a:r>
            <a:rPr lang="en-US" altLang="zh-CN" dirty="0" smtClean="0"/>
            <a:t>Team</a:t>
          </a:r>
          <a:r>
            <a:rPr lang="zh-CN" altLang="en-US" dirty="0" smtClean="0"/>
            <a:t>建立群组权限</a:t>
          </a:r>
          <a:r>
            <a:rPr lang="en-US" altLang="zh-CN" dirty="0" smtClean="0"/>
            <a:t>,</a:t>
          </a:r>
          <a:r>
            <a:rPr lang="zh-CN" altLang="en-US" dirty="0" smtClean="0"/>
            <a:t>并设定数据读取和写入权限</a:t>
          </a:r>
          <a:r>
            <a:rPr lang="en-US" altLang="zh-CN" dirty="0" smtClean="0"/>
            <a:t>(</a:t>
          </a:r>
          <a:r>
            <a:rPr lang="zh-CN" altLang="en-US" dirty="0" smtClean="0"/>
            <a:t>数据源权限）</a:t>
          </a:r>
          <a:endParaRPr lang="zh-CN" altLang="en-US" dirty="0"/>
        </a:p>
      </dgm:t>
    </dgm:pt>
    <dgm:pt modelId="{2F0E9575-D553-4785-A511-90285220C81A}" type="parTrans" cxnId="{D8BCA530-47CE-4830-AC18-110E5642FDB3}">
      <dgm:prSet/>
      <dgm:spPr/>
      <dgm:t>
        <a:bodyPr/>
        <a:lstStyle/>
        <a:p>
          <a:endParaRPr lang="zh-CN" altLang="en-US"/>
        </a:p>
      </dgm:t>
    </dgm:pt>
    <dgm:pt modelId="{899FD68D-347B-459E-B8A1-89382522E9C6}" type="sibTrans" cxnId="{D8BCA530-47CE-4830-AC18-110E5642FDB3}">
      <dgm:prSet/>
      <dgm:spPr/>
      <dgm:t>
        <a:bodyPr/>
        <a:lstStyle/>
        <a:p>
          <a:endParaRPr lang="zh-CN" altLang="en-US"/>
        </a:p>
      </dgm:t>
    </dgm:pt>
    <dgm:pt modelId="{46A0D62C-291D-483B-ADC9-E5880BE91E56}">
      <dgm:prSet phldrT="[文本]"/>
      <dgm:spPr/>
      <dgm:t>
        <a:bodyPr/>
        <a:lstStyle/>
        <a:p>
          <a:r>
            <a:rPr lang="zh-CN" altLang="en-US" dirty="0" smtClean="0"/>
            <a:t>建立</a:t>
          </a:r>
          <a:r>
            <a:rPr lang="en-US" altLang="zh-CN" dirty="0" smtClean="0"/>
            <a:t>Team</a:t>
          </a:r>
          <a:r>
            <a:rPr lang="zh-CN" altLang="en-US" dirty="0" smtClean="0"/>
            <a:t>开发人员</a:t>
          </a:r>
          <a:endParaRPr lang="zh-CN" altLang="en-US" dirty="0"/>
        </a:p>
      </dgm:t>
    </dgm:pt>
    <dgm:pt modelId="{B4716766-9E29-44BE-980D-208B111A32B0}" type="parTrans" cxnId="{D6A73AC6-0D77-4FC9-BBB9-24334C80C234}">
      <dgm:prSet/>
      <dgm:spPr/>
      <dgm:t>
        <a:bodyPr/>
        <a:lstStyle/>
        <a:p>
          <a:endParaRPr lang="zh-CN" altLang="en-US"/>
        </a:p>
      </dgm:t>
    </dgm:pt>
    <dgm:pt modelId="{F81E75BC-9F2E-45E5-99AE-AD65D7521023}" type="sibTrans" cxnId="{D6A73AC6-0D77-4FC9-BBB9-24334C80C234}">
      <dgm:prSet/>
      <dgm:spPr/>
      <dgm:t>
        <a:bodyPr/>
        <a:lstStyle/>
        <a:p>
          <a:endParaRPr lang="zh-CN" altLang="en-US"/>
        </a:p>
      </dgm:t>
    </dgm:pt>
    <dgm:pt modelId="{43C2028F-1D94-4731-BC40-B21D1C9EA6E5}">
      <dgm:prSet phldrT="[文本]"/>
      <dgm:spPr/>
      <dgm:t>
        <a:bodyPr/>
        <a:lstStyle/>
        <a:p>
          <a:r>
            <a:rPr lang="zh-CN" altLang="en-US" dirty="0" smtClean="0"/>
            <a:t>开发人员属于</a:t>
          </a:r>
          <a:r>
            <a:rPr lang="en-US" altLang="zh-CN" dirty="0" smtClean="0"/>
            <a:t>Team,</a:t>
          </a:r>
          <a:r>
            <a:rPr lang="zh-CN" altLang="en-US" dirty="0" smtClean="0"/>
            <a:t>拥有</a:t>
          </a:r>
          <a:r>
            <a:rPr lang="en-US" altLang="zh-CN" dirty="0" smtClean="0"/>
            <a:t>Team</a:t>
          </a:r>
          <a:r>
            <a:rPr lang="zh-CN" altLang="en-US" dirty="0" smtClean="0"/>
            <a:t>权限</a:t>
          </a:r>
          <a:endParaRPr lang="zh-CN" altLang="en-US" dirty="0"/>
        </a:p>
      </dgm:t>
    </dgm:pt>
    <dgm:pt modelId="{01C83E63-0A46-4D57-8133-8B9C15BF8CB6}" type="parTrans" cxnId="{3A45C4E3-F6AA-4132-86EB-1BC6D3E0E2AF}">
      <dgm:prSet/>
      <dgm:spPr/>
      <dgm:t>
        <a:bodyPr/>
        <a:lstStyle/>
        <a:p>
          <a:endParaRPr lang="zh-CN" altLang="en-US"/>
        </a:p>
      </dgm:t>
    </dgm:pt>
    <dgm:pt modelId="{5760DC2B-B6E3-4275-BDD5-5DB0D6534957}" type="sibTrans" cxnId="{3A45C4E3-F6AA-4132-86EB-1BC6D3E0E2AF}">
      <dgm:prSet/>
      <dgm:spPr/>
      <dgm:t>
        <a:bodyPr/>
        <a:lstStyle/>
        <a:p>
          <a:endParaRPr lang="zh-CN" altLang="en-US"/>
        </a:p>
      </dgm:t>
    </dgm:pt>
    <dgm:pt modelId="{5A3368A9-FBE6-4D97-B335-DEE388754781}">
      <dgm:prSet phldrT="[文本]"/>
      <dgm:spPr/>
      <dgm:t>
        <a:bodyPr/>
        <a:lstStyle/>
        <a:p>
          <a:r>
            <a:rPr lang="zh-CN" altLang="en-US" dirty="0" smtClean="0"/>
            <a:t>以工号登陆平台进行协同开发，各</a:t>
          </a:r>
          <a:r>
            <a:rPr lang="en-US" altLang="zh-CN" dirty="0" smtClean="0"/>
            <a:t>Team</a:t>
          </a:r>
          <a:r>
            <a:rPr lang="zh-CN" altLang="en-US" dirty="0" smtClean="0"/>
            <a:t>之间业务开发互相独立</a:t>
          </a:r>
          <a:endParaRPr lang="zh-CN" altLang="en-US" dirty="0"/>
        </a:p>
      </dgm:t>
    </dgm:pt>
    <dgm:pt modelId="{7349D9FF-B625-4E68-9CC8-406B237ACD6D}" type="parTrans" cxnId="{A0D38A81-9668-4417-8661-C261B2DE2BAC}">
      <dgm:prSet/>
      <dgm:spPr/>
      <dgm:t>
        <a:bodyPr/>
        <a:lstStyle/>
        <a:p>
          <a:endParaRPr lang="zh-CN" altLang="en-US"/>
        </a:p>
      </dgm:t>
    </dgm:pt>
    <dgm:pt modelId="{DFF59870-5CBD-4E20-ABB8-C4ECD059B39E}" type="sibTrans" cxnId="{A0D38A81-9668-4417-8661-C261B2DE2BAC}">
      <dgm:prSet/>
      <dgm:spPr/>
      <dgm:t>
        <a:bodyPr/>
        <a:lstStyle/>
        <a:p>
          <a:endParaRPr lang="zh-CN" altLang="en-US"/>
        </a:p>
      </dgm:t>
    </dgm:pt>
    <dgm:pt modelId="{AC104516-2649-4245-B071-BA892BC6667D}" type="pres">
      <dgm:prSet presAssocID="{7BBF51B8-7F14-465A-9380-BAB01A631107}" presName="linearFlow" presStyleCnt="0">
        <dgm:presLayoutVars>
          <dgm:resizeHandles val="exact"/>
        </dgm:presLayoutVars>
      </dgm:prSet>
      <dgm:spPr/>
    </dgm:pt>
    <dgm:pt modelId="{73754EB3-A04C-4AD8-9F03-0DE9FF52EB22}" type="pres">
      <dgm:prSet presAssocID="{CCF6C9F0-4DD9-434D-A74C-87C26FCBFFFB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2FF0F1A-11AC-41C4-98B9-E21E9F0CA6BD}" type="pres">
      <dgm:prSet presAssocID="{899FD68D-347B-459E-B8A1-89382522E9C6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737FC23D-452F-42C0-BD8D-58FACF8CE0DE}" type="pres">
      <dgm:prSet presAssocID="{899FD68D-347B-459E-B8A1-89382522E9C6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B87D9C6C-B69D-4AFC-A5A0-EA87D609B35F}" type="pres">
      <dgm:prSet presAssocID="{46A0D62C-291D-483B-ADC9-E5880BE91E56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60999FF-37F0-4657-BA14-7DC9CBC09448}" type="pres">
      <dgm:prSet presAssocID="{F81E75BC-9F2E-45E5-99AE-AD65D7521023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00CDB860-355D-4B6D-917A-809CA9B6258B}" type="pres">
      <dgm:prSet presAssocID="{F81E75BC-9F2E-45E5-99AE-AD65D7521023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F35FDAB3-A7BD-4F7D-858B-031A1E72C786}" type="pres">
      <dgm:prSet presAssocID="{43C2028F-1D94-4731-BC40-B21D1C9EA6E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26DE158-DF5C-48AF-96CB-FCD9F1405DA9}" type="pres">
      <dgm:prSet presAssocID="{5760DC2B-B6E3-4275-BDD5-5DB0D6534957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9BD76F98-96BE-49B1-954A-BA22EB994B9D}" type="pres">
      <dgm:prSet presAssocID="{5760DC2B-B6E3-4275-BDD5-5DB0D6534957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6B9B112C-B44F-48BB-9C57-BA04484DCF2C}" type="pres">
      <dgm:prSet presAssocID="{5A3368A9-FBE6-4D97-B335-DEE388754781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3EBC951-8E3F-45B8-AECA-8CF4E0370F38}" type="presOf" srcId="{899FD68D-347B-459E-B8A1-89382522E9C6}" destId="{32FF0F1A-11AC-41C4-98B9-E21E9F0CA6BD}" srcOrd="0" destOrd="0" presId="urn:microsoft.com/office/officeart/2005/8/layout/process2"/>
    <dgm:cxn modelId="{AD61B014-2D53-4EFC-9DC3-74680ADC1023}" type="presOf" srcId="{43C2028F-1D94-4731-BC40-B21D1C9EA6E5}" destId="{F35FDAB3-A7BD-4F7D-858B-031A1E72C786}" srcOrd="0" destOrd="0" presId="urn:microsoft.com/office/officeart/2005/8/layout/process2"/>
    <dgm:cxn modelId="{4C0B29B2-F44B-4E8A-96EE-14F29DE551CE}" type="presOf" srcId="{46A0D62C-291D-483B-ADC9-E5880BE91E56}" destId="{B87D9C6C-B69D-4AFC-A5A0-EA87D609B35F}" srcOrd="0" destOrd="0" presId="urn:microsoft.com/office/officeart/2005/8/layout/process2"/>
    <dgm:cxn modelId="{27E99C5B-EC13-4950-93B3-B9DDD10C0D47}" type="presOf" srcId="{5760DC2B-B6E3-4275-BDD5-5DB0D6534957}" destId="{926DE158-DF5C-48AF-96CB-FCD9F1405DA9}" srcOrd="0" destOrd="0" presId="urn:microsoft.com/office/officeart/2005/8/layout/process2"/>
    <dgm:cxn modelId="{27783DE2-0B52-4BBB-864B-84429904C514}" type="presOf" srcId="{7BBF51B8-7F14-465A-9380-BAB01A631107}" destId="{AC104516-2649-4245-B071-BA892BC6667D}" srcOrd="0" destOrd="0" presId="urn:microsoft.com/office/officeart/2005/8/layout/process2"/>
    <dgm:cxn modelId="{A0D38A81-9668-4417-8661-C261B2DE2BAC}" srcId="{7BBF51B8-7F14-465A-9380-BAB01A631107}" destId="{5A3368A9-FBE6-4D97-B335-DEE388754781}" srcOrd="3" destOrd="0" parTransId="{7349D9FF-B625-4E68-9CC8-406B237ACD6D}" sibTransId="{DFF59870-5CBD-4E20-ABB8-C4ECD059B39E}"/>
    <dgm:cxn modelId="{F1432EE0-2D94-49D9-88FE-6069F4B66D27}" type="presOf" srcId="{5A3368A9-FBE6-4D97-B335-DEE388754781}" destId="{6B9B112C-B44F-48BB-9C57-BA04484DCF2C}" srcOrd="0" destOrd="0" presId="urn:microsoft.com/office/officeart/2005/8/layout/process2"/>
    <dgm:cxn modelId="{D6A73AC6-0D77-4FC9-BBB9-24334C80C234}" srcId="{7BBF51B8-7F14-465A-9380-BAB01A631107}" destId="{46A0D62C-291D-483B-ADC9-E5880BE91E56}" srcOrd="1" destOrd="0" parTransId="{B4716766-9E29-44BE-980D-208B111A32B0}" sibTransId="{F81E75BC-9F2E-45E5-99AE-AD65D7521023}"/>
    <dgm:cxn modelId="{D8BCA530-47CE-4830-AC18-110E5642FDB3}" srcId="{7BBF51B8-7F14-465A-9380-BAB01A631107}" destId="{CCF6C9F0-4DD9-434D-A74C-87C26FCBFFFB}" srcOrd="0" destOrd="0" parTransId="{2F0E9575-D553-4785-A511-90285220C81A}" sibTransId="{899FD68D-347B-459E-B8A1-89382522E9C6}"/>
    <dgm:cxn modelId="{4FA2D02E-AA2D-4AB9-9E1D-7D21C0E77D44}" type="presOf" srcId="{5760DC2B-B6E3-4275-BDD5-5DB0D6534957}" destId="{9BD76F98-96BE-49B1-954A-BA22EB994B9D}" srcOrd="1" destOrd="0" presId="urn:microsoft.com/office/officeart/2005/8/layout/process2"/>
    <dgm:cxn modelId="{3A45C4E3-F6AA-4132-86EB-1BC6D3E0E2AF}" srcId="{7BBF51B8-7F14-465A-9380-BAB01A631107}" destId="{43C2028F-1D94-4731-BC40-B21D1C9EA6E5}" srcOrd="2" destOrd="0" parTransId="{01C83E63-0A46-4D57-8133-8B9C15BF8CB6}" sibTransId="{5760DC2B-B6E3-4275-BDD5-5DB0D6534957}"/>
    <dgm:cxn modelId="{2AF125D3-9A23-43A2-8241-8CCD01A10D7C}" type="presOf" srcId="{F81E75BC-9F2E-45E5-99AE-AD65D7521023}" destId="{760999FF-37F0-4657-BA14-7DC9CBC09448}" srcOrd="0" destOrd="0" presId="urn:microsoft.com/office/officeart/2005/8/layout/process2"/>
    <dgm:cxn modelId="{8DCC185E-AE1A-4B6E-B089-DEE582729171}" type="presOf" srcId="{CCF6C9F0-4DD9-434D-A74C-87C26FCBFFFB}" destId="{73754EB3-A04C-4AD8-9F03-0DE9FF52EB22}" srcOrd="0" destOrd="0" presId="urn:microsoft.com/office/officeart/2005/8/layout/process2"/>
    <dgm:cxn modelId="{AD7913A0-E13B-4783-8E25-13B34624B81F}" type="presOf" srcId="{899FD68D-347B-459E-B8A1-89382522E9C6}" destId="{737FC23D-452F-42C0-BD8D-58FACF8CE0DE}" srcOrd="1" destOrd="0" presId="urn:microsoft.com/office/officeart/2005/8/layout/process2"/>
    <dgm:cxn modelId="{FD9900A1-242F-47C0-A1F4-DE7E94760DAE}" type="presOf" srcId="{F81E75BC-9F2E-45E5-99AE-AD65D7521023}" destId="{00CDB860-355D-4B6D-917A-809CA9B6258B}" srcOrd="1" destOrd="0" presId="urn:microsoft.com/office/officeart/2005/8/layout/process2"/>
    <dgm:cxn modelId="{43956B16-9FCA-4530-8D82-C0FE7A9FF0CA}" type="presParOf" srcId="{AC104516-2649-4245-B071-BA892BC6667D}" destId="{73754EB3-A04C-4AD8-9F03-0DE9FF52EB22}" srcOrd="0" destOrd="0" presId="urn:microsoft.com/office/officeart/2005/8/layout/process2"/>
    <dgm:cxn modelId="{9BAD98DC-42C4-4F55-8599-DEE7A9F8DAFC}" type="presParOf" srcId="{AC104516-2649-4245-B071-BA892BC6667D}" destId="{32FF0F1A-11AC-41C4-98B9-E21E9F0CA6BD}" srcOrd="1" destOrd="0" presId="urn:microsoft.com/office/officeart/2005/8/layout/process2"/>
    <dgm:cxn modelId="{E312B33F-B9A3-4327-8BE9-570EDF250F23}" type="presParOf" srcId="{32FF0F1A-11AC-41C4-98B9-E21E9F0CA6BD}" destId="{737FC23D-452F-42C0-BD8D-58FACF8CE0DE}" srcOrd="0" destOrd="0" presId="urn:microsoft.com/office/officeart/2005/8/layout/process2"/>
    <dgm:cxn modelId="{74F89783-80D6-4CAC-A704-7F7000EF1459}" type="presParOf" srcId="{AC104516-2649-4245-B071-BA892BC6667D}" destId="{B87D9C6C-B69D-4AFC-A5A0-EA87D609B35F}" srcOrd="2" destOrd="0" presId="urn:microsoft.com/office/officeart/2005/8/layout/process2"/>
    <dgm:cxn modelId="{9ACF0B5D-AE8F-403A-8804-F060EB00C92F}" type="presParOf" srcId="{AC104516-2649-4245-B071-BA892BC6667D}" destId="{760999FF-37F0-4657-BA14-7DC9CBC09448}" srcOrd="3" destOrd="0" presId="urn:microsoft.com/office/officeart/2005/8/layout/process2"/>
    <dgm:cxn modelId="{4D3E5396-4BA6-4607-909C-914710EB6DC8}" type="presParOf" srcId="{760999FF-37F0-4657-BA14-7DC9CBC09448}" destId="{00CDB860-355D-4B6D-917A-809CA9B6258B}" srcOrd="0" destOrd="0" presId="urn:microsoft.com/office/officeart/2005/8/layout/process2"/>
    <dgm:cxn modelId="{A05E1F28-77D1-48AA-A42E-372CF3883A3B}" type="presParOf" srcId="{AC104516-2649-4245-B071-BA892BC6667D}" destId="{F35FDAB3-A7BD-4F7D-858B-031A1E72C786}" srcOrd="4" destOrd="0" presId="urn:microsoft.com/office/officeart/2005/8/layout/process2"/>
    <dgm:cxn modelId="{51129450-EC29-4579-AF4B-2E875DE41069}" type="presParOf" srcId="{AC104516-2649-4245-B071-BA892BC6667D}" destId="{926DE158-DF5C-48AF-96CB-FCD9F1405DA9}" srcOrd="5" destOrd="0" presId="urn:microsoft.com/office/officeart/2005/8/layout/process2"/>
    <dgm:cxn modelId="{7BA1FE30-EABF-40EC-B88B-404683789EDA}" type="presParOf" srcId="{926DE158-DF5C-48AF-96CB-FCD9F1405DA9}" destId="{9BD76F98-96BE-49B1-954A-BA22EB994B9D}" srcOrd="0" destOrd="0" presId="urn:microsoft.com/office/officeart/2005/8/layout/process2"/>
    <dgm:cxn modelId="{565784CD-44F1-487E-B29F-A1B4AA1B350B}" type="presParOf" srcId="{AC104516-2649-4245-B071-BA892BC6667D}" destId="{6B9B112C-B44F-48BB-9C57-BA04484DCF2C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BF51B8-7F14-465A-9380-BAB01A631107}" type="doc">
      <dgm:prSet loTypeId="urn:microsoft.com/office/officeart/2005/8/layout/process2" loCatId="process" qsTypeId="urn:microsoft.com/office/officeart/2005/8/quickstyle/simple5#1" qsCatId="simple" csTypeId="urn:microsoft.com/office/officeart/2005/8/colors/colorful5#1" csCatId="colorful" phldr="1"/>
      <dgm:spPr/>
    </dgm:pt>
    <dgm:pt modelId="{CCF6C9F0-4DD9-434D-A74C-87C26FCBFFFB}">
      <dgm:prSet phldrT="[文本]"/>
      <dgm:spPr/>
      <dgm:t>
        <a:bodyPr/>
        <a:lstStyle/>
        <a:p>
          <a:r>
            <a:rPr lang="zh-CN" altLang="en-US" dirty="0" smtClean="0"/>
            <a:t>申请入湖需求单</a:t>
          </a:r>
          <a:r>
            <a:rPr lang="en-US" altLang="zh-CN" dirty="0" smtClean="0"/>
            <a:t>(</a:t>
          </a:r>
          <a:r>
            <a:rPr lang="zh-CN" altLang="en-US" dirty="0" smtClean="0"/>
            <a:t>业务背景，数据范围，数据内容，数据格式，数据安全</a:t>
          </a:r>
          <a:r>
            <a:rPr lang="en-US" altLang="zh-CN" dirty="0" smtClean="0"/>
            <a:t>(</a:t>
          </a:r>
          <a:r>
            <a:rPr lang="zh-CN" altLang="en-US" dirty="0" smtClean="0"/>
            <a:t>脱敏和密级）等</a:t>
          </a:r>
          <a:endParaRPr lang="zh-CN" altLang="en-US" dirty="0"/>
        </a:p>
      </dgm:t>
    </dgm:pt>
    <dgm:pt modelId="{2F0E9575-D553-4785-A511-90285220C81A}" type="parTrans" cxnId="{D8BCA530-47CE-4830-AC18-110E5642FDB3}">
      <dgm:prSet/>
      <dgm:spPr/>
      <dgm:t>
        <a:bodyPr/>
        <a:lstStyle/>
        <a:p>
          <a:endParaRPr lang="zh-CN" altLang="en-US"/>
        </a:p>
      </dgm:t>
    </dgm:pt>
    <dgm:pt modelId="{899FD68D-347B-459E-B8A1-89382522E9C6}" type="sibTrans" cxnId="{D8BCA530-47CE-4830-AC18-110E5642FDB3}">
      <dgm:prSet/>
      <dgm:spPr/>
      <dgm:t>
        <a:bodyPr/>
        <a:lstStyle/>
        <a:p>
          <a:endParaRPr lang="zh-CN" altLang="en-US"/>
        </a:p>
      </dgm:t>
    </dgm:pt>
    <dgm:pt modelId="{46A0D62C-291D-483B-ADC9-E5880BE91E56}">
      <dgm:prSet phldrT="[文本]"/>
      <dgm:spPr/>
      <dgm:t>
        <a:bodyPr/>
        <a:lstStyle/>
        <a:p>
          <a:r>
            <a:rPr lang="zh-CN" altLang="en-US" dirty="0" smtClean="0"/>
            <a:t>提供数据源配置信息，给数据底座管理员</a:t>
          </a:r>
          <a:r>
            <a:rPr lang="en-US" altLang="zh-CN" dirty="0" smtClean="0"/>
            <a:t>(</a:t>
          </a:r>
          <a:r>
            <a:rPr lang="zh-CN" altLang="en-US" dirty="0" smtClean="0"/>
            <a:t>申请窗口）</a:t>
          </a:r>
          <a:endParaRPr lang="zh-CN" altLang="en-US" dirty="0"/>
        </a:p>
      </dgm:t>
    </dgm:pt>
    <dgm:pt modelId="{B4716766-9E29-44BE-980D-208B111A32B0}" type="parTrans" cxnId="{D6A73AC6-0D77-4FC9-BBB9-24334C80C234}">
      <dgm:prSet/>
      <dgm:spPr/>
      <dgm:t>
        <a:bodyPr/>
        <a:lstStyle/>
        <a:p>
          <a:endParaRPr lang="zh-CN" altLang="en-US"/>
        </a:p>
      </dgm:t>
    </dgm:pt>
    <dgm:pt modelId="{F81E75BC-9F2E-45E5-99AE-AD65D7521023}" type="sibTrans" cxnId="{D6A73AC6-0D77-4FC9-BBB9-24334C80C234}">
      <dgm:prSet/>
      <dgm:spPr/>
      <dgm:t>
        <a:bodyPr/>
        <a:lstStyle/>
        <a:p>
          <a:endParaRPr lang="zh-CN" altLang="en-US"/>
        </a:p>
      </dgm:t>
    </dgm:pt>
    <dgm:pt modelId="{43C2028F-1D94-4731-BC40-B21D1C9EA6E5}">
      <dgm:prSet phldrT="[文本]" custT="1"/>
      <dgm:spPr/>
      <dgm:t>
        <a:bodyPr/>
        <a:lstStyle/>
        <a:p>
          <a:r>
            <a:rPr lang="zh-CN" altLang="en-US" sz="1400" dirty="0" smtClean="0"/>
            <a:t>建立数据源，</a:t>
          </a:r>
          <a:r>
            <a:rPr lang="en-US" altLang="zh-CN" sz="1600" b="1" dirty="0" smtClean="0"/>
            <a:t>ETL</a:t>
          </a:r>
          <a:r>
            <a:rPr lang="zh-CN" altLang="en-US" sz="1600" b="1" dirty="0" smtClean="0"/>
            <a:t>人员</a:t>
          </a:r>
          <a:r>
            <a:rPr lang="en-US" altLang="zh-CN" sz="1600" b="1" dirty="0" smtClean="0"/>
            <a:t>(</a:t>
          </a:r>
          <a:r>
            <a:rPr lang="zh-CN" altLang="en-US" sz="1600" b="1" dirty="0" smtClean="0"/>
            <a:t>专职人员）</a:t>
          </a:r>
          <a:r>
            <a:rPr lang="zh-CN" altLang="en-US" sz="1400" dirty="0" smtClean="0"/>
            <a:t>抽取数据到底座</a:t>
          </a:r>
          <a:endParaRPr lang="zh-CN" altLang="en-US" sz="1400" dirty="0"/>
        </a:p>
      </dgm:t>
    </dgm:pt>
    <dgm:pt modelId="{01C83E63-0A46-4D57-8133-8B9C15BF8CB6}" type="parTrans" cxnId="{3A45C4E3-F6AA-4132-86EB-1BC6D3E0E2AF}">
      <dgm:prSet/>
      <dgm:spPr/>
      <dgm:t>
        <a:bodyPr/>
        <a:lstStyle/>
        <a:p>
          <a:endParaRPr lang="zh-CN" altLang="en-US"/>
        </a:p>
      </dgm:t>
    </dgm:pt>
    <dgm:pt modelId="{5760DC2B-B6E3-4275-BDD5-5DB0D6534957}" type="sibTrans" cxnId="{3A45C4E3-F6AA-4132-86EB-1BC6D3E0E2AF}">
      <dgm:prSet/>
      <dgm:spPr/>
      <dgm:t>
        <a:bodyPr/>
        <a:lstStyle/>
        <a:p>
          <a:endParaRPr lang="zh-CN" altLang="en-US"/>
        </a:p>
      </dgm:t>
    </dgm:pt>
    <dgm:pt modelId="{5A3368A9-FBE6-4D97-B335-DEE388754781}">
      <dgm:prSet phldrT="[文本]"/>
      <dgm:spPr/>
      <dgm:t>
        <a:bodyPr/>
        <a:lstStyle/>
        <a:p>
          <a:r>
            <a:rPr lang="zh-CN" altLang="en-US" dirty="0" smtClean="0"/>
            <a:t>管理员授权开发人员，在底座或指定框架进行开发</a:t>
          </a:r>
          <a:endParaRPr lang="zh-CN" altLang="en-US" dirty="0"/>
        </a:p>
      </dgm:t>
    </dgm:pt>
    <dgm:pt modelId="{7349D9FF-B625-4E68-9CC8-406B237ACD6D}" type="parTrans" cxnId="{A0D38A81-9668-4417-8661-C261B2DE2BAC}">
      <dgm:prSet/>
      <dgm:spPr/>
      <dgm:t>
        <a:bodyPr/>
        <a:lstStyle/>
        <a:p>
          <a:endParaRPr lang="zh-CN" altLang="en-US"/>
        </a:p>
      </dgm:t>
    </dgm:pt>
    <dgm:pt modelId="{DFF59870-5CBD-4E20-ABB8-C4ECD059B39E}" type="sibTrans" cxnId="{A0D38A81-9668-4417-8661-C261B2DE2BAC}">
      <dgm:prSet/>
      <dgm:spPr/>
      <dgm:t>
        <a:bodyPr/>
        <a:lstStyle/>
        <a:p>
          <a:endParaRPr lang="zh-CN" altLang="en-US"/>
        </a:p>
      </dgm:t>
    </dgm:pt>
    <dgm:pt modelId="{9947B4CD-8B89-4EBE-B68F-DB98E05E8F6A}">
      <dgm:prSet phldrT="[文本]"/>
      <dgm:spPr/>
      <dgm:t>
        <a:bodyPr/>
        <a:lstStyle/>
        <a:p>
          <a:r>
            <a:rPr lang="zh-CN" altLang="en-US" dirty="0" smtClean="0"/>
            <a:t>将按数据资产发布或分享流程到底座或业务系统，进行应用和消费</a:t>
          </a:r>
          <a:endParaRPr lang="zh-CN" altLang="en-US" dirty="0"/>
        </a:p>
      </dgm:t>
    </dgm:pt>
    <dgm:pt modelId="{11C26D86-3108-4478-88D2-21F8504B8497}" type="parTrans" cxnId="{930C929E-385D-455A-A02E-8E6ECE42047D}">
      <dgm:prSet/>
      <dgm:spPr/>
      <dgm:t>
        <a:bodyPr/>
        <a:lstStyle/>
        <a:p>
          <a:endParaRPr lang="zh-CN" altLang="en-US"/>
        </a:p>
      </dgm:t>
    </dgm:pt>
    <dgm:pt modelId="{9CAC934A-405A-49F3-B46C-C88169B5A22F}" type="sibTrans" cxnId="{930C929E-385D-455A-A02E-8E6ECE42047D}">
      <dgm:prSet/>
      <dgm:spPr/>
      <dgm:t>
        <a:bodyPr/>
        <a:lstStyle/>
        <a:p>
          <a:endParaRPr lang="zh-CN" altLang="en-US"/>
        </a:p>
      </dgm:t>
    </dgm:pt>
    <dgm:pt modelId="{AC104516-2649-4245-B071-BA892BC6667D}" type="pres">
      <dgm:prSet presAssocID="{7BBF51B8-7F14-465A-9380-BAB01A631107}" presName="linearFlow" presStyleCnt="0">
        <dgm:presLayoutVars>
          <dgm:resizeHandles val="exact"/>
        </dgm:presLayoutVars>
      </dgm:prSet>
      <dgm:spPr/>
    </dgm:pt>
    <dgm:pt modelId="{73754EB3-A04C-4AD8-9F03-0DE9FF52EB22}" type="pres">
      <dgm:prSet presAssocID="{CCF6C9F0-4DD9-434D-A74C-87C26FCBFFFB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2FF0F1A-11AC-41C4-98B9-E21E9F0CA6BD}" type="pres">
      <dgm:prSet presAssocID="{899FD68D-347B-459E-B8A1-89382522E9C6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737FC23D-452F-42C0-BD8D-58FACF8CE0DE}" type="pres">
      <dgm:prSet presAssocID="{899FD68D-347B-459E-B8A1-89382522E9C6}" presName="connectorText" presStyleLbl="sibTrans2D1" presStyleIdx="0" presStyleCnt="4"/>
      <dgm:spPr/>
      <dgm:t>
        <a:bodyPr/>
        <a:lstStyle/>
        <a:p>
          <a:endParaRPr lang="zh-CN" altLang="en-US"/>
        </a:p>
      </dgm:t>
    </dgm:pt>
    <dgm:pt modelId="{B87D9C6C-B69D-4AFC-A5A0-EA87D609B35F}" type="pres">
      <dgm:prSet presAssocID="{46A0D62C-291D-483B-ADC9-E5880BE91E5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60999FF-37F0-4657-BA14-7DC9CBC09448}" type="pres">
      <dgm:prSet presAssocID="{F81E75BC-9F2E-45E5-99AE-AD65D7521023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00CDB860-355D-4B6D-917A-809CA9B6258B}" type="pres">
      <dgm:prSet presAssocID="{F81E75BC-9F2E-45E5-99AE-AD65D7521023}" presName="connectorText" presStyleLbl="sibTrans2D1" presStyleIdx="1" presStyleCnt="4"/>
      <dgm:spPr/>
      <dgm:t>
        <a:bodyPr/>
        <a:lstStyle/>
        <a:p>
          <a:endParaRPr lang="zh-CN" altLang="en-US"/>
        </a:p>
      </dgm:t>
    </dgm:pt>
    <dgm:pt modelId="{F35FDAB3-A7BD-4F7D-858B-031A1E72C786}" type="pres">
      <dgm:prSet presAssocID="{43C2028F-1D94-4731-BC40-B21D1C9EA6E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26DE158-DF5C-48AF-96CB-FCD9F1405DA9}" type="pres">
      <dgm:prSet presAssocID="{5760DC2B-B6E3-4275-BDD5-5DB0D6534957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9BD76F98-96BE-49B1-954A-BA22EB994B9D}" type="pres">
      <dgm:prSet presAssocID="{5760DC2B-B6E3-4275-BDD5-5DB0D6534957}" presName="connectorText" presStyleLbl="sibTrans2D1" presStyleIdx="2" presStyleCnt="4"/>
      <dgm:spPr/>
      <dgm:t>
        <a:bodyPr/>
        <a:lstStyle/>
        <a:p>
          <a:endParaRPr lang="zh-CN" altLang="en-US"/>
        </a:p>
      </dgm:t>
    </dgm:pt>
    <dgm:pt modelId="{6B9B112C-B44F-48BB-9C57-BA04484DCF2C}" type="pres">
      <dgm:prSet presAssocID="{5A3368A9-FBE6-4D97-B335-DEE388754781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D116428-AF3B-4875-ADEF-C18BFB3D6CFF}" type="pres">
      <dgm:prSet presAssocID="{DFF59870-5CBD-4E20-ABB8-C4ECD059B39E}" presName="sibTrans" presStyleLbl="sibTrans2D1" presStyleIdx="3" presStyleCnt="4"/>
      <dgm:spPr/>
      <dgm:t>
        <a:bodyPr/>
        <a:lstStyle/>
        <a:p>
          <a:endParaRPr lang="zh-CN" altLang="en-US"/>
        </a:p>
      </dgm:t>
    </dgm:pt>
    <dgm:pt modelId="{6D33C6A0-093D-4BF8-98B9-07365AD24073}" type="pres">
      <dgm:prSet presAssocID="{DFF59870-5CBD-4E20-ABB8-C4ECD059B39E}" presName="connectorText" presStyleLbl="sibTrans2D1" presStyleIdx="3" presStyleCnt="4"/>
      <dgm:spPr/>
      <dgm:t>
        <a:bodyPr/>
        <a:lstStyle/>
        <a:p>
          <a:endParaRPr lang="zh-CN" altLang="en-US"/>
        </a:p>
      </dgm:t>
    </dgm:pt>
    <dgm:pt modelId="{45DD93D9-69A9-450C-BAF1-D43ABA7D2859}" type="pres">
      <dgm:prSet presAssocID="{9947B4CD-8B89-4EBE-B68F-DB98E05E8F6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3EBC951-8E3F-45B8-AECA-8CF4E0370F38}" type="presOf" srcId="{899FD68D-347B-459E-B8A1-89382522E9C6}" destId="{32FF0F1A-11AC-41C4-98B9-E21E9F0CA6BD}" srcOrd="0" destOrd="0" presId="urn:microsoft.com/office/officeart/2005/8/layout/process2"/>
    <dgm:cxn modelId="{59365FD9-FB01-457A-B60C-E552F99BAFAC}" type="presOf" srcId="{9947B4CD-8B89-4EBE-B68F-DB98E05E8F6A}" destId="{45DD93D9-69A9-450C-BAF1-D43ABA7D2859}" srcOrd="0" destOrd="0" presId="urn:microsoft.com/office/officeart/2005/8/layout/process2"/>
    <dgm:cxn modelId="{AD61B014-2D53-4EFC-9DC3-74680ADC1023}" type="presOf" srcId="{43C2028F-1D94-4731-BC40-B21D1C9EA6E5}" destId="{F35FDAB3-A7BD-4F7D-858B-031A1E72C786}" srcOrd="0" destOrd="0" presId="urn:microsoft.com/office/officeart/2005/8/layout/process2"/>
    <dgm:cxn modelId="{4C0B29B2-F44B-4E8A-96EE-14F29DE551CE}" type="presOf" srcId="{46A0D62C-291D-483B-ADC9-E5880BE91E56}" destId="{B87D9C6C-B69D-4AFC-A5A0-EA87D609B35F}" srcOrd="0" destOrd="0" presId="urn:microsoft.com/office/officeart/2005/8/layout/process2"/>
    <dgm:cxn modelId="{27E99C5B-EC13-4950-93B3-B9DDD10C0D47}" type="presOf" srcId="{5760DC2B-B6E3-4275-BDD5-5DB0D6534957}" destId="{926DE158-DF5C-48AF-96CB-FCD9F1405DA9}" srcOrd="0" destOrd="0" presId="urn:microsoft.com/office/officeart/2005/8/layout/process2"/>
    <dgm:cxn modelId="{27783DE2-0B52-4BBB-864B-84429904C514}" type="presOf" srcId="{7BBF51B8-7F14-465A-9380-BAB01A631107}" destId="{AC104516-2649-4245-B071-BA892BC6667D}" srcOrd="0" destOrd="0" presId="urn:microsoft.com/office/officeart/2005/8/layout/process2"/>
    <dgm:cxn modelId="{A0D38A81-9668-4417-8661-C261B2DE2BAC}" srcId="{7BBF51B8-7F14-465A-9380-BAB01A631107}" destId="{5A3368A9-FBE6-4D97-B335-DEE388754781}" srcOrd="3" destOrd="0" parTransId="{7349D9FF-B625-4E68-9CC8-406B237ACD6D}" sibTransId="{DFF59870-5CBD-4E20-ABB8-C4ECD059B39E}"/>
    <dgm:cxn modelId="{F1432EE0-2D94-49D9-88FE-6069F4B66D27}" type="presOf" srcId="{5A3368A9-FBE6-4D97-B335-DEE388754781}" destId="{6B9B112C-B44F-48BB-9C57-BA04484DCF2C}" srcOrd="0" destOrd="0" presId="urn:microsoft.com/office/officeart/2005/8/layout/process2"/>
    <dgm:cxn modelId="{D6A73AC6-0D77-4FC9-BBB9-24334C80C234}" srcId="{7BBF51B8-7F14-465A-9380-BAB01A631107}" destId="{46A0D62C-291D-483B-ADC9-E5880BE91E56}" srcOrd="1" destOrd="0" parTransId="{B4716766-9E29-44BE-980D-208B111A32B0}" sibTransId="{F81E75BC-9F2E-45E5-99AE-AD65D7521023}"/>
    <dgm:cxn modelId="{930C929E-385D-455A-A02E-8E6ECE42047D}" srcId="{7BBF51B8-7F14-465A-9380-BAB01A631107}" destId="{9947B4CD-8B89-4EBE-B68F-DB98E05E8F6A}" srcOrd="4" destOrd="0" parTransId="{11C26D86-3108-4478-88D2-21F8504B8497}" sibTransId="{9CAC934A-405A-49F3-B46C-C88169B5A22F}"/>
    <dgm:cxn modelId="{D8BCA530-47CE-4830-AC18-110E5642FDB3}" srcId="{7BBF51B8-7F14-465A-9380-BAB01A631107}" destId="{CCF6C9F0-4DD9-434D-A74C-87C26FCBFFFB}" srcOrd="0" destOrd="0" parTransId="{2F0E9575-D553-4785-A511-90285220C81A}" sibTransId="{899FD68D-347B-459E-B8A1-89382522E9C6}"/>
    <dgm:cxn modelId="{4FA2D02E-AA2D-4AB9-9E1D-7D21C0E77D44}" type="presOf" srcId="{5760DC2B-B6E3-4275-BDD5-5DB0D6534957}" destId="{9BD76F98-96BE-49B1-954A-BA22EB994B9D}" srcOrd="1" destOrd="0" presId="urn:microsoft.com/office/officeart/2005/8/layout/process2"/>
    <dgm:cxn modelId="{3A45C4E3-F6AA-4132-86EB-1BC6D3E0E2AF}" srcId="{7BBF51B8-7F14-465A-9380-BAB01A631107}" destId="{43C2028F-1D94-4731-BC40-B21D1C9EA6E5}" srcOrd="2" destOrd="0" parTransId="{01C83E63-0A46-4D57-8133-8B9C15BF8CB6}" sibTransId="{5760DC2B-B6E3-4275-BDD5-5DB0D6534957}"/>
    <dgm:cxn modelId="{2AF125D3-9A23-43A2-8241-8CCD01A10D7C}" type="presOf" srcId="{F81E75BC-9F2E-45E5-99AE-AD65D7521023}" destId="{760999FF-37F0-4657-BA14-7DC9CBC09448}" srcOrd="0" destOrd="0" presId="urn:microsoft.com/office/officeart/2005/8/layout/process2"/>
    <dgm:cxn modelId="{8DCC185E-AE1A-4B6E-B089-DEE582729171}" type="presOf" srcId="{CCF6C9F0-4DD9-434D-A74C-87C26FCBFFFB}" destId="{73754EB3-A04C-4AD8-9F03-0DE9FF52EB22}" srcOrd="0" destOrd="0" presId="urn:microsoft.com/office/officeart/2005/8/layout/process2"/>
    <dgm:cxn modelId="{E122A22E-B228-44D8-AA9B-3A5BC365C535}" type="presOf" srcId="{DFF59870-5CBD-4E20-ABB8-C4ECD059B39E}" destId="{1D116428-AF3B-4875-ADEF-C18BFB3D6CFF}" srcOrd="0" destOrd="0" presId="urn:microsoft.com/office/officeart/2005/8/layout/process2"/>
    <dgm:cxn modelId="{5C520599-8AF6-4BA4-8D2A-87A272253E88}" type="presOf" srcId="{DFF59870-5CBD-4E20-ABB8-C4ECD059B39E}" destId="{6D33C6A0-093D-4BF8-98B9-07365AD24073}" srcOrd="1" destOrd="0" presId="urn:microsoft.com/office/officeart/2005/8/layout/process2"/>
    <dgm:cxn modelId="{AD7913A0-E13B-4783-8E25-13B34624B81F}" type="presOf" srcId="{899FD68D-347B-459E-B8A1-89382522E9C6}" destId="{737FC23D-452F-42C0-BD8D-58FACF8CE0DE}" srcOrd="1" destOrd="0" presId="urn:microsoft.com/office/officeart/2005/8/layout/process2"/>
    <dgm:cxn modelId="{FD9900A1-242F-47C0-A1F4-DE7E94760DAE}" type="presOf" srcId="{F81E75BC-9F2E-45E5-99AE-AD65D7521023}" destId="{00CDB860-355D-4B6D-917A-809CA9B6258B}" srcOrd="1" destOrd="0" presId="urn:microsoft.com/office/officeart/2005/8/layout/process2"/>
    <dgm:cxn modelId="{43956B16-9FCA-4530-8D82-C0FE7A9FF0CA}" type="presParOf" srcId="{AC104516-2649-4245-B071-BA892BC6667D}" destId="{73754EB3-A04C-4AD8-9F03-0DE9FF52EB22}" srcOrd="0" destOrd="0" presId="urn:microsoft.com/office/officeart/2005/8/layout/process2"/>
    <dgm:cxn modelId="{9BAD98DC-42C4-4F55-8599-DEE7A9F8DAFC}" type="presParOf" srcId="{AC104516-2649-4245-B071-BA892BC6667D}" destId="{32FF0F1A-11AC-41C4-98B9-E21E9F0CA6BD}" srcOrd="1" destOrd="0" presId="urn:microsoft.com/office/officeart/2005/8/layout/process2"/>
    <dgm:cxn modelId="{E312B33F-B9A3-4327-8BE9-570EDF250F23}" type="presParOf" srcId="{32FF0F1A-11AC-41C4-98B9-E21E9F0CA6BD}" destId="{737FC23D-452F-42C0-BD8D-58FACF8CE0DE}" srcOrd="0" destOrd="0" presId="urn:microsoft.com/office/officeart/2005/8/layout/process2"/>
    <dgm:cxn modelId="{74F89783-80D6-4CAC-A704-7F7000EF1459}" type="presParOf" srcId="{AC104516-2649-4245-B071-BA892BC6667D}" destId="{B87D9C6C-B69D-4AFC-A5A0-EA87D609B35F}" srcOrd="2" destOrd="0" presId="urn:microsoft.com/office/officeart/2005/8/layout/process2"/>
    <dgm:cxn modelId="{9ACF0B5D-AE8F-403A-8804-F060EB00C92F}" type="presParOf" srcId="{AC104516-2649-4245-B071-BA892BC6667D}" destId="{760999FF-37F0-4657-BA14-7DC9CBC09448}" srcOrd="3" destOrd="0" presId="urn:microsoft.com/office/officeart/2005/8/layout/process2"/>
    <dgm:cxn modelId="{4D3E5396-4BA6-4607-909C-914710EB6DC8}" type="presParOf" srcId="{760999FF-37F0-4657-BA14-7DC9CBC09448}" destId="{00CDB860-355D-4B6D-917A-809CA9B6258B}" srcOrd="0" destOrd="0" presId="urn:microsoft.com/office/officeart/2005/8/layout/process2"/>
    <dgm:cxn modelId="{A05E1F28-77D1-48AA-A42E-372CF3883A3B}" type="presParOf" srcId="{AC104516-2649-4245-B071-BA892BC6667D}" destId="{F35FDAB3-A7BD-4F7D-858B-031A1E72C786}" srcOrd="4" destOrd="0" presId="urn:microsoft.com/office/officeart/2005/8/layout/process2"/>
    <dgm:cxn modelId="{51129450-EC29-4579-AF4B-2E875DE41069}" type="presParOf" srcId="{AC104516-2649-4245-B071-BA892BC6667D}" destId="{926DE158-DF5C-48AF-96CB-FCD9F1405DA9}" srcOrd="5" destOrd="0" presId="urn:microsoft.com/office/officeart/2005/8/layout/process2"/>
    <dgm:cxn modelId="{7BA1FE30-EABF-40EC-B88B-404683789EDA}" type="presParOf" srcId="{926DE158-DF5C-48AF-96CB-FCD9F1405DA9}" destId="{9BD76F98-96BE-49B1-954A-BA22EB994B9D}" srcOrd="0" destOrd="0" presId="urn:microsoft.com/office/officeart/2005/8/layout/process2"/>
    <dgm:cxn modelId="{565784CD-44F1-487E-B29F-A1B4AA1B350B}" type="presParOf" srcId="{AC104516-2649-4245-B071-BA892BC6667D}" destId="{6B9B112C-B44F-48BB-9C57-BA04484DCF2C}" srcOrd="6" destOrd="0" presId="urn:microsoft.com/office/officeart/2005/8/layout/process2"/>
    <dgm:cxn modelId="{55D5F3D3-62D6-4013-9011-50DA1D38531D}" type="presParOf" srcId="{AC104516-2649-4245-B071-BA892BC6667D}" destId="{1D116428-AF3B-4875-ADEF-C18BFB3D6CFF}" srcOrd="7" destOrd="0" presId="urn:microsoft.com/office/officeart/2005/8/layout/process2"/>
    <dgm:cxn modelId="{EEE961BD-3FF4-4F8C-B7D1-0324731A5AC2}" type="presParOf" srcId="{1D116428-AF3B-4875-ADEF-C18BFB3D6CFF}" destId="{6D33C6A0-093D-4BF8-98B9-07365AD24073}" srcOrd="0" destOrd="0" presId="urn:microsoft.com/office/officeart/2005/8/layout/process2"/>
    <dgm:cxn modelId="{E8D67E26-D72B-4B79-8E52-02EE4A7CBCB6}" type="presParOf" srcId="{AC104516-2649-4245-B071-BA892BC6667D}" destId="{45DD93D9-69A9-450C-BAF1-D43ABA7D2859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F0BB7F-9358-4B35-BE72-BF7687F3EEAB}">
      <dsp:nvSpPr>
        <dsp:cNvPr id="0" name=""/>
        <dsp:cNvSpPr/>
      </dsp:nvSpPr>
      <dsp:spPr bwMode="white">
        <a:xfrm>
          <a:off x="44" y="262"/>
          <a:ext cx="9106966" cy="43993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数据抽取和同步</a:t>
          </a:r>
          <a:endParaRPr lang="zh-CN" altLang="en-US" sz="1600" kern="1200" dirty="0"/>
        </a:p>
      </dsp:txBody>
      <dsp:txXfrm>
        <a:off x="12929" y="13147"/>
        <a:ext cx="9081196" cy="414161"/>
      </dsp:txXfrm>
    </dsp:sp>
    <dsp:sp modelId="{9BF45803-5904-450D-86BA-CE86072D502F}">
      <dsp:nvSpPr>
        <dsp:cNvPr id="0" name=""/>
        <dsp:cNvSpPr/>
      </dsp:nvSpPr>
      <dsp:spPr bwMode="white">
        <a:xfrm>
          <a:off x="44" y="646632"/>
          <a:ext cx="1418530" cy="4399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SAP</a:t>
          </a:r>
          <a:endParaRPr lang="zh-CN" altLang="en-US" sz="1900" kern="1200" dirty="0"/>
        </a:p>
      </dsp:txBody>
      <dsp:txXfrm>
        <a:off x="12929" y="659517"/>
        <a:ext cx="1392760" cy="414161"/>
      </dsp:txXfrm>
    </dsp:sp>
    <dsp:sp modelId="{A58AE443-1F10-4E23-AD9D-AB19A7BA59E0}">
      <dsp:nvSpPr>
        <dsp:cNvPr id="0" name=""/>
        <dsp:cNvSpPr/>
      </dsp:nvSpPr>
      <dsp:spPr bwMode="white">
        <a:xfrm>
          <a:off x="1537731" y="646632"/>
          <a:ext cx="1418530" cy="4399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MES</a:t>
          </a:r>
          <a:endParaRPr lang="zh-CN" altLang="en-US" sz="1900" kern="1200" dirty="0"/>
        </a:p>
      </dsp:txBody>
      <dsp:txXfrm>
        <a:off x="1550616" y="659517"/>
        <a:ext cx="1392760" cy="414161"/>
      </dsp:txXfrm>
    </dsp:sp>
    <dsp:sp modelId="{807C8F80-D73B-4294-90D0-40B7C1C049CF}">
      <dsp:nvSpPr>
        <dsp:cNvPr id="0" name=""/>
        <dsp:cNvSpPr/>
      </dsp:nvSpPr>
      <dsp:spPr bwMode="white">
        <a:xfrm>
          <a:off x="3075418" y="646632"/>
          <a:ext cx="1418530" cy="4399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HR</a:t>
          </a:r>
          <a:endParaRPr lang="zh-CN" altLang="en-US" sz="1900" kern="1200" dirty="0"/>
        </a:p>
      </dsp:txBody>
      <dsp:txXfrm>
        <a:off x="3088303" y="659517"/>
        <a:ext cx="1392760" cy="414161"/>
      </dsp:txXfrm>
    </dsp:sp>
    <dsp:sp modelId="{358417B1-80A9-489F-BA7A-43CC837A9054}">
      <dsp:nvSpPr>
        <dsp:cNvPr id="0" name=""/>
        <dsp:cNvSpPr/>
      </dsp:nvSpPr>
      <dsp:spPr bwMode="white">
        <a:xfrm>
          <a:off x="4613105" y="646632"/>
          <a:ext cx="1418530" cy="4399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WMS</a:t>
          </a:r>
          <a:endParaRPr lang="zh-CN" altLang="en-US" sz="1900" kern="1200" dirty="0"/>
        </a:p>
      </dsp:txBody>
      <dsp:txXfrm>
        <a:off x="4625990" y="659517"/>
        <a:ext cx="1392760" cy="414161"/>
      </dsp:txXfrm>
    </dsp:sp>
    <dsp:sp modelId="{0D0C3DFA-FE79-4A21-B8BF-D67228AF4405}">
      <dsp:nvSpPr>
        <dsp:cNvPr id="0" name=""/>
        <dsp:cNvSpPr/>
      </dsp:nvSpPr>
      <dsp:spPr bwMode="white">
        <a:xfrm>
          <a:off x="6150792" y="646632"/>
          <a:ext cx="1418530" cy="4399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OHS</a:t>
          </a:r>
          <a:endParaRPr lang="zh-CN" altLang="en-US" sz="1900" kern="1200" dirty="0"/>
        </a:p>
      </dsp:txBody>
      <dsp:txXfrm>
        <a:off x="6163677" y="659517"/>
        <a:ext cx="1392760" cy="414161"/>
      </dsp:txXfrm>
    </dsp:sp>
    <dsp:sp modelId="{324E39B0-F153-434D-9BE1-6E4D87CF8170}">
      <dsp:nvSpPr>
        <dsp:cNvPr id="0" name=""/>
        <dsp:cNvSpPr/>
      </dsp:nvSpPr>
      <dsp:spPr bwMode="white">
        <a:xfrm>
          <a:off x="7688479" y="646632"/>
          <a:ext cx="1418530" cy="4399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……</a:t>
          </a:r>
          <a:endParaRPr lang="zh-CN" altLang="en-US" sz="1900" kern="1200" dirty="0"/>
        </a:p>
      </dsp:txBody>
      <dsp:txXfrm>
        <a:off x="7701364" y="659517"/>
        <a:ext cx="1392760" cy="4141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6EDC2D-9A3D-42A6-82D2-A7FBBB2CDFCE}">
      <dsp:nvSpPr>
        <dsp:cNvPr id="0" name=""/>
        <dsp:cNvSpPr/>
      </dsp:nvSpPr>
      <dsp:spPr bwMode="white">
        <a:xfrm>
          <a:off x="3649" y="12809"/>
          <a:ext cx="3558132" cy="1008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/>
            <a:t>业务数据</a:t>
          </a:r>
          <a:r>
            <a:rPr lang="en-US" altLang="zh-CN" sz="1800" kern="1200" dirty="0" smtClean="0"/>
            <a:t>ETL</a:t>
          </a:r>
          <a:r>
            <a:rPr lang="zh-CN" altLang="en-US" sz="1800" kern="1200" dirty="0" smtClean="0"/>
            <a:t>角色（</a:t>
          </a:r>
          <a:r>
            <a:rPr lang="en-US" altLang="zh-CN" sz="1800" kern="1200" dirty="0" smtClean="0"/>
            <a:t>2~3</a:t>
          </a:r>
          <a:r>
            <a:rPr lang="zh-CN" altLang="en-US" sz="1800" kern="1200" dirty="0" smtClean="0"/>
            <a:t>人）</a:t>
          </a:r>
          <a:endParaRPr lang="zh-CN" altLang="en-US" sz="1800" kern="1200" dirty="0"/>
        </a:p>
      </dsp:txBody>
      <dsp:txXfrm>
        <a:off x="3649" y="12809"/>
        <a:ext cx="3558132" cy="1008000"/>
      </dsp:txXfrm>
    </dsp:sp>
    <dsp:sp modelId="{60E2547F-C293-4F07-AB5B-2ADF045EDF4E}">
      <dsp:nvSpPr>
        <dsp:cNvPr id="0" name=""/>
        <dsp:cNvSpPr/>
      </dsp:nvSpPr>
      <dsp:spPr bwMode="white">
        <a:xfrm>
          <a:off x="3649" y="1020809"/>
          <a:ext cx="3558132" cy="28342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负责业务数据入湖事项，工作内容：需求评估，设计，开发，测试，运维，</a:t>
          </a:r>
          <a:r>
            <a:rPr lang="en-US" altLang="zh-CN" sz="1600" kern="1200" dirty="0" smtClean="0"/>
            <a:t>ODS</a:t>
          </a:r>
          <a:r>
            <a:rPr lang="zh-CN" altLang="en-US" sz="1600" kern="1200" dirty="0" smtClean="0"/>
            <a:t>层数据抽取，整合，检验工作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负责业务数据出湖</a:t>
          </a:r>
          <a:r>
            <a:rPr lang="en-US" altLang="zh-CN" sz="1600" kern="1200" dirty="0" smtClean="0"/>
            <a:t>(</a:t>
          </a:r>
          <a:r>
            <a:rPr lang="zh-CN" altLang="en-US" sz="1600" kern="1200" dirty="0" smtClean="0"/>
            <a:t>应用程序</a:t>
          </a:r>
          <a:r>
            <a:rPr lang="en-US" altLang="zh-CN" sz="1600" kern="1200" dirty="0" smtClean="0"/>
            <a:t>)</a:t>
          </a:r>
          <a:r>
            <a:rPr lang="zh-CN" altLang="en-US" sz="1600" kern="1200" dirty="0" smtClean="0"/>
            <a:t>消费数据，工作内容：</a:t>
          </a:r>
          <a:r>
            <a:rPr lang="en-US" altLang="zh-CN" sz="1600" kern="1200" dirty="0" smtClean="0"/>
            <a:t>API</a:t>
          </a:r>
          <a:r>
            <a:rPr lang="zh-CN" altLang="en-US" sz="1600" kern="1200" dirty="0" smtClean="0"/>
            <a:t>接口开发，运维，测试，上线，数据安全限制，主要负责</a:t>
          </a:r>
          <a:r>
            <a:rPr lang="en-US" altLang="zh-CN" sz="1600" kern="1200" dirty="0" smtClean="0"/>
            <a:t>DM</a:t>
          </a:r>
          <a:r>
            <a:rPr lang="zh-CN" altLang="en-US" sz="1600" kern="1200" dirty="0" smtClean="0"/>
            <a:t>层和数据对外发布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负责</a:t>
          </a:r>
          <a:r>
            <a:rPr lang="en-US" altLang="zh-CN" sz="1600" kern="1200" dirty="0" smtClean="0"/>
            <a:t>DIM</a:t>
          </a:r>
          <a:r>
            <a:rPr lang="zh-CN" altLang="en-US" sz="1600" kern="1200" dirty="0" smtClean="0"/>
            <a:t>层的数据建立</a:t>
          </a:r>
          <a:endParaRPr lang="zh-CN" altLang="en-US" sz="16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1800" kern="1200" dirty="0"/>
        </a:p>
      </dsp:txBody>
      <dsp:txXfrm>
        <a:off x="3649" y="1020809"/>
        <a:ext cx="3558132" cy="2834212"/>
      </dsp:txXfrm>
    </dsp:sp>
    <dsp:sp modelId="{1EF545BD-486E-474F-BF00-E7E7F1E12BDC}">
      <dsp:nvSpPr>
        <dsp:cNvPr id="0" name=""/>
        <dsp:cNvSpPr/>
      </dsp:nvSpPr>
      <dsp:spPr bwMode="white">
        <a:xfrm>
          <a:off x="4059920" y="12809"/>
          <a:ext cx="3558132" cy="1008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/>
            <a:t>业务数据开发角色</a:t>
          </a:r>
          <a:r>
            <a:rPr lang="en-US" altLang="zh-CN" sz="1800" kern="1200" dirty="0" smtClean="0"/>
            <a:t>(Team</a:t>
          </a:r>
          <a:r>
            <a:rPr lang="zh-CN" altLang="en-US" sz="1800" kern="1200" dirty="0" smtClean="0"/>
            <a:t>开发人员）</a:t>
          </a:r>
          <a:endParaRPr lang="zh-CN" altLang="en-US" sz="1800" kern="1200" dirty="0"/>
        </a:p>
      </dsp:txBody>
      <dsp:txXfrm>
        <a:off x="4059920" y="12809"/>
        <a:ext cx="3558132" cy="1008000"/>
      </dsp:txXfrm>
    </dsp:sp>
    <dsp:sp modelId="{6C96E0AE-A14D-4B9D-A170-BA2284CF2536}">
      <dsp:nvSpPr>
        <dsp:cNvPr id="0" name=""/>
        <dsp:cNvSpPr/>
      </dsp:nvSpPr>
      <dsp:spPr bwMode="white">
        <a:xfrm>
          <a:off x="4059920" y="1020809"/>
          <a:ext cx="3558132" cy="28342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smtClean="0"/>
            <a:t>申请访问跨</a:t>
          </a:r>
          <a:r>
            <a:rPr lang="en-US" altLang="zh-CN" sz="1600" kern="1200" smtClean="0"/>
            <a:t>Team ODS&amp;DM</a:t>
          </a:r>
          <a:r>
            <a:rPr lang="zh-CN" altLang="en-US" sz="1600" kern="1200" smtClean="0"/>
            <a:t>的数据的权限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按照数据底座标准，按照业务场景，用户需求进行设计，开发，测试，上线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将数据加工的成品，按数据仓库存放</a:t>
          </a:r>
          <a:r>
            <a:rPr lang="en-US" altLang="zh-CN" sz="1600" kern="1200" dirty="0" smtClean="0"/>
            <a:t>DWD,DWS,DM,DIM</a:t>
          </a:r>
          <a:r>
            <a:rPr lang="zh-CN" altLang="en-US" sz="1600" kern="1200" dirty="0" smtClean="0"/>
            <a:t>层</a:t>
          </a:r>
          <a:endParaRPr lang="zh-CN" altLang="en-US" sz="16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1800" kern="1200" dirty="0"/>
        </a:p>
      </dsp:txBody>
      <dsp:txXfrm>
        <a:off x="4059920" y="1020809"/>
        <a:ext cx="3558132" cy="2834212"/>
      </dsp:txXfrm>
    </dsp:sp>
    <dsp:sp modelId="{65404C05-39F4-4859-8DB2-9BF5D06FE02E}">
      <dsp:nvSpPr>
        <dsp:cNvPr id="0" name=""/>
        <dsp:cNvSpPr/>
      </dsp:nvSpPr>
      <dsp:spPr bwMode="white">
        <a:xfrm>
          <a:off x="8116191" y="12809"/>
          <a:ext cx="3558132" cy="10080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 smtClean="0"/>
            <a:t>数据底座平台管理员（</a:t>
          </a:r>
          <a:r>
            <a:rPr lang="en-US" altLang="zh-CN" sz="1800" kern="1200" dirty="0" smtClean="0"/>
            <a:t>2</a:t>
          </a:r>
          <a:r>
            <a:rPr lang="zh-CN" altLang="en-US" sz="1800" kern="1200" dirty="0" smtClean="0"/>
            <a:t>人）</a:t>
          </a:r>
          <a:endParaRPr lang="zh-CN" altLang="en-US" sz="1800" kern="1200" dirty="0"/>
        </a:p>
      </dsp:txBody>
      <dsp:txXfrm>
        <a:off x="8116191" y="12809"/>
        <a:ext cx="3558132" cy="1008000"/>
      </dsp:txXfrm>
    </dsp:sp>
    <dsp:sp modelId="{1F50A72E-CE44-4100-A92F-3D52E69C8D4C}">
      <dsp:nvSpPr>
        <dsp:cNvPr id="0" name=""/>
        <dsp:cNvSpPr/>
      </dsp:nvSpPr>
      <dsp:spPr bwMode="white">
        <a:xfrm>
          <a:off x="8116191" y="1020809"/>
          <a:ext cx="3558132" cy="283421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管理</a:t>
          </a:r>
          <a:r>
            <a:rPr lang="en-US" altLang="zh-CN" sz="1600" kern="1200" dirty="0" err="1" smtClean="0"/>
            <a:t>Hadoop&amp;Doris</a:t>
          </a:r>
          <a:r>
            <a:rPr lang="zh-CN" altLang="en-US" sz="1600" kern="1200" dirty="0" smtClean="0"/>
            <a:t>库的表或</a:t>
          </a:r>
          <a:r>
            <a:rPr lang="en-US" altLang="zh-CN" sz="1600" kern="1200" dirty="0" smtClean="0"/>
            <a:t>View</a:t>
          </a:r>
          <a:r>
            <a:rPr lang="zh-CN" altLang="en-US" sz="1600" kern="1200" dirty="0" smtClean="0"/>
            <a:t>及资源权限和安全事项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建立</a:t>
          </a:r>
          <a:r>
            <a:rPr lang="en-US" altLang="zh-CN" sz="1600" kern="1200" dirty="0" err="1" smtClean="0"/>
            <a:t>DataSource</a:t>
          </a:r>
          <a:r>
            <a:rPr lang="en-US" altLang="zh-CN" sz="1600" kern="1200" dirty="0" smtClean="0"/>
            <a:t>(</a:t>
          </a:r>
          <a:r>
            <a:rPr lang="zh-CN" altLang="en-US" sz="1600" kern="1200" dirty="0" smtClean="0"/>
            <a:t>数据源</a:t>
          </a:r>
          <a:r>
            <a:rPr lang="en-US" altLang="zh-CN" sz="1600" kern="1200" dirty="0" smtClean="0"/>
            <a:t>)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建立</a:t>
          </a:r>
          <a:r>
            <a:rPr lang="en-US" altLang="zh-CN" sz="1600" kern="1200" dirty="0" smtClean="0"/>
            <a:t>Table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建立</a:t>
          </a:r>
          <a:r>
            <a:rPr lang="en-US" altLang="zh-CN" sz="1600" kern="1200" dirty="0" smtClean="0"/>
            <a:t>View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审核</a:t>
          </a:r>
          <a:r>
            <a:rPr lang="en-US" altLang="zh-CN" sz="1600" kern="1200" dirty="0" smtClean="0"/>
            <a:t>API</a:t>
          </a:r>
          <a:r>
            <a:rPr lang="zh-CN" altLang="en-US" sz="1600" kern="1200" dirty="0" smtClean="0"/>
            <a:t>放行的权限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600" kern="1200" dirty="0" smtClean="0"/>
            <a:t>负责</a:t>
          </a:r>
          <a:r>
            <a:rPr lang="en-US" altLang="zh-CN" sz="1600" kern="1200" dirty="0" err="1" smtClean="0"/>
            <a:t>Hadoop&amp;Doris</a:t>
          </a:r>
          <a:r>
            <a:rPr lang="en-US" altLang="zh-CN" sz="1600" kern="1200" dirty="0" smtClean="0"/>
            <a:t>&amp;</a:t>
          </a:r>
          <a:r>
            <a:rPr lang="zh-CN" altLang="en-US" sz="1600" kern="1200" dirty="0" smtClean="0"/>
            <a:t>数据底座日常运维，异常处理，升级等相关工作</a:t>
          </a:r>
          <a:endParaRPr lang="zh-CN" altLang="en-US" sz="1600" kern="1200" dirty="0"/>
        </a:p>
      </dsp:txBody>
      <dsp:txXfrm>
        <a:off x="8116191" y="1020809"/>
        <a:ext cx="3558132" cy="28342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54EB3-A04C-4AD8-9F03-0DE9FF52EB22}">
      <dsp:nvSpPr>
        <dsp:cNvPr id="0" name=""/>
        <dsp:cNvSpPr/>
      </dsp:nvSpPr>
      <dsp:spPr>
        <a:xfrm>
          <a:off x="3014503" y="2036"/>
          <a:ext cx="2926151" cy="75757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/>
            <a:t>开发</a:t>
          </a:r>
          <a:r>
            <a:rPr lang="en-US" altLang="zh-CN" sz="1500" kern="1200" dirty="0" smtClean="0"/>
            <a:t>Team</a:t>
          </a:r>
          <a:r>
            <a:rPr lang="zh-CN" altLang="en-US" sz="1500" kern="1200" dirty="0" smtClean="0"/>
            <a:t>建立群组权限</a:t>
          </a:r>
          <a:r>
            <a:rPr lang="en-US" altLang="zh-CN" sz="1500" kern="1200" dirty="0" smtClean="0"/>
            <a:t>,</a:t>
          </a:r>
          <a:r>
            <a:rPr lang="zh-CN" altLang="en-US" sz="1500" kern="1200" dirty="0" smtClean="0"/>
            <a:t>并设定数据读取和写入权限</a:t>
          </a:r>
          <a:r>
            <a:rPr lang="en-US" altLang="zh-CN" sz="1500" kern="1200" dirty="0" smtClean="0"/>
            <a:t>(</a:t>
          </a:r>
          <a:r>
            <a:rPr lang="zh-CN" altLang="en-US" sz="1500" kern="1200" dirty="0" smtClean="0"/>
            <a:t>数据源权限）</a:t>
          </a:r>
          <a:endParaRPr lang="zh-CN" altLang="en-US" sz="1500" kern="1200" dirty="0"/>
        </a:p>
      </dsp:txBody>
      <dsp:txXfrm>
        <a:off x="3036692" y="24225"/>
        <a:ext cx="2881773" cy="713201"/>
      </dsp:txXfrm>
    </dsp:sp>
    <dsp:sp modelId="{32FF0F1A-11AC-41C4-98B9-E21E9F0CA6BD}">
      <dsp:nvSpPr>
        <dsp:cNvPr id="0" name=""/>
        <dsp:cNvSpPr/>
      </dsp:nvSpPr>
      <dsp:spPr>
        <a:xfrm rot="5400000">
          <a:off x="4335532" y="778555"/>
          <a:ext cx="284092" cy="3409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 rot="-5400000">
        <a:off x="4375305" y="806964"/>
        <a:ext cx="204546" cy="198864"/>
      </dsp:txXfrm>
    </dsp:sp>
    <dsp:sp modelId="{B87D9C6C-B69D-4AFC-A5A0-EA87D609B35F}">
      <dsp:nvSpPr>
        <dsp:cNvPr id="0" name=""/>
        <dsp:cNvSpPr/>
      </dsp:nvSpPr>
      <dsp:spPr>
        <a:xfrm>
          <a:off x="3014503" y="1138405"/>
          <a:ext cx="2926151" cy="75757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/>
            <a:t>建立</a:t>
          </a:r>
          <a:r>
            <a:rPr lang="en-US" altLang="zh-CN" sz="1500" kern="1200" dirty="0" smtClean="0"/>
            <a:t>Team</a:t>
          </a:r>
          <a:r>
            <a:rPr lang="zh-CN" altLang="en-US" sz="1500" kern="1200" dirty="0" smtClean="0"/>
            <a:t>开发人员</a:t>
          </a:r>
          <a:endParaRPr lang="zh-CN" altLang="en-US" sz="1500" kern="1200" dirty="0"/>
        </a:p>
      </dsp:txBody>
      <dsp:txXfrm>
        <a:off x="3036692" y="1160594"/>
        <a:ext cx="2881773" cy="713201"/>
      </dsp:txXfrm>
    </dsp:sp>
    <dsp:sp modelId="{760999FF-37F0-4657-BA14-7DC9CBC09448}">
      <dsp:nvSpPr>
        <dsp:cNvPr id="0" name=""/>
        <dsp:cNvSpPr/>
      </dsp:nvSpPr>
      <dsp:spPr>
        <a:xfrm rot="5400000">
          <a:off x="4335532" y="1914925"/>
          <a:ext cx="284092" cy="3409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 rot="-5400000">
        <a:off x="4375305" y="1943334"/>
        <a:ext cx="204546" cy="198864"/>
      </dsp:txXfrm>
    </dsp:sp>
    <dsp:sp modelId="{F35FDAB3-A7BD-4F7D-858B-031A1E72C786}">
      <dsp:nvSpPr>
        <dsp:cNvPr id="0" name=""/>
        <dsp:cNvSpPr/>
      </dsp:nvSpPr>
      <dsp:spPr>
        <a:xfrm>
          <a:off x="3014503" y="2274775"/>
          <a:ext cx="2926151" cy="75757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/>
            <a:t>开发人员属于</a:t>
          </a:r>
          <a:r>
            <a:rPr lang="en-US" altLang="zh-CN" sz="1500" kern="1200" dirty="0" smtClean="0"/>
            <a:t>Team,</a:t>
          </a:r>
          <a:r>
            <a:rPr lang="zh-CN" altLang="en-US" sz="1500" kern="1200" dirty="0" smtClean="0"/>
            <a:t>拥有</a:t>
          </a:r>
          <a:r>
            <a:rPr lang="en-US" altLang="zh-CN" sz="1500" kern="1200" dirty="0" smtClean="0"/>
            <a:t>Team</a:t>
          </a:r>
          <a:r>
            <a:rPr lang="zh-CN" altLang="en-US" sz="1500" kern="1200" dirty="0" smtClean="0"/>
            <a:t>权限</a:t>
          </a:r>
          <a:endParaRPr lang="zh-CN" altLang="en-US" sz="1500" kern="1200" dirty="0"/>
        </a:p>
      </dsp:txBody>
      <dsp:txXfrm>
        <a:off x="3036692" y="2296964"/>
        <a:ext cx="2881773" cy="713201"/>
      </dsp:txXfrm>
    </dsp:sp>
    <dsp:sp modelId="{926DE158-DF5C-48AF-96CB-FCD9F1405DA9}">
      <dsp:nvSpPr>
        <dsp:cNvPr id="0" name=""/>
        <dsp:cNvSpPr/>
      </dsp:nvSpPr>
      <dsp:spPr>
        <a:xfrm rot="5400000">
          <a:off x="4335532" y="3051294"/>
          <a:ext cx="284092" cy="3409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 rot="-5400000">
        <a:off x="4375305" y="3079703"/>
        <a:ext cx="204546" cy="198864"/>
      </dsp:txXfrm>
    </dsp:sp>
    <dsp:sp modelId="{6B9B112C-B44F-48BB-9C57-BA04484DCF2C}">
      <dsp:nvSpPr>
        <dsp:cNvPr id="0" name=""/>
        <dsp:cNvSpPr/>
      </dsp:nvSpPr>
      <dsp:spPr>
        <a:xfrm>
          <a:off x="3014503" y="3411144"/>
          <a:ext cx="2926151" cy="75757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kern="1200" dirty="0" smtClean="0"/>
            <a:t>以工号登陆平台进行协同开发，各</a:t>
          </a:r>
          <a:r>
            <a:rPr lang="en-US" altLang="zh-CN" sz="1500" kern="1200" dirty="0" smtClean="0"/>
            <a:t>Team</a:t>
          </a:r>
          <a:r>
            <a:rPr lang="zh-CN" altLang="en-US" sz="1500" kern="1200" dirty="0" smtClean="0"/>
            <a:t>之间业务开发互相独立</a:t>
          </a:r>
          <a:endParaRPr lang="zh-CN" altLang="en-US" sz="1500" kern="1200" dirty="0"/>
        </a:p>
      </dsp:txBody>
      <dsp:txXfrm>
        <a:off x="3036692" y="3433333"/>
        <a:ext cx="2881773" cy="7132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54EB3-A04C-4AD8-9F03-0DE9FF52EB22}">
      <dsp:nvSpPr>
        <dsp:cNvPr id="0" name=""/>
        <dsp:cNvSpPr/>
      </dsp:nvSpPr>
      <dsp:spPr>
        <a:xfrm>
          <a:off x="4770164" y="721"/>
          <a:ext cx="2565532" cy="84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申请入湖需求单</a:t>
          </a:r>
          <a:r>
            <a:rPr lang="en-US" altLang="zh-CN" sz="1400" kern="1200" dirty="0" smtClean="0"/>
            <a:t>(</a:t>
          </a:r>
          <a:r>
            <a:rPr lang="zh-CN" altLang="en-US" sz="1400" kern="1200" dirty="0" smtClean="0"/>
            <a:t>业务背景，数据范围，数据内容，数据格式，数据安全</a:t>
          </a:r>
          <a:r>
            <a:rPr lang="en-US" altLang="zh-CN" sz="1400" kern="1200" dirty="0" smtClean="0"/>
            <a:t>(</a:t>
          </a:r>
          <a:r>
            <a:rPr lang="zh-CN" altLang="en-US" sz="1400" kern="1200" dirty="0" smtClean="0"/>
            <a:t>脱敏和密级）等</a:t>
          </a:r>
          <a:endParaRPr lang="zh-CN" altLang="en-US" sz="1400" kern="1200" dirty="0"/>
        </a:p>
      </dsp:txBody>
      <dsp:txXfrm>
        <a:off x="4794902" y="25459"/>
        <a:ext cx="2516056" cy="795143"/>
      </dsp:txXfrm>
    </dsp:sp>
    <dsp:sp modelId="{32FF0F1A-11AC-41C4-98B9-E21E9F0CA6BD}">
      <dsp:nvSpPr>
        <dsp:cNvPr id="0" name=""/>
        <dsp:cNvSpPr/>
      </dsp:nvSpPr>
      <dsp:spPr>
        <a:xfrm rot="5400000">
          <a:off x="5894564" y="866457"/>
          <a:ext cx="316732" cy="3800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 rot="-5400000">
        <a:off x="5938907" y="898130"/>
        <a:ext cx="228046" cy="221712"/>
      </dsp:txXfrm>
    </dsp:sp>
    <dsp:sp modelId="{B87D9C6C-B69D-4AFC-A5A0-EA87D609B35F}">
      <dsp:nvSpPr>
        <dsp:cNvPr id="0" name=""/>
        <dsp:cNvSpPr/>
      </dsp:nvSpPr>
      <dsp:spPr>
        <a:xfrm>
          <a:off x="4770164" y="1267651"/>
          <a:ext cx="2565532" cy="84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提供数据源配置信息，给数据底座管理员</a:t>
          </a:r>
          <a:r>
            <a:rPr lang="en-US" altLang="zh-CN" sz="1400" kern="1200" dirty="0" smtClean="0"/>
            <a:t>(</a:t>
          </a:r>
          <a:r>
            <a:rPr lang="zh-CN" altLang="en-US" sz="1400" kern="1200" dirty="0" smtClean="0"/>
            <a:t>申请窗口）</a:t>
          </a:r>
          <a:endParaRPr lang="zh-CN" altLang="en-US" sz="1400" kern="1200" dirty="0"/>
        </a:p>
      </dsp:txBody>
      <dsp:txXfrm>
        <a:off x="4794902" y="1292389"/>
        <a:ext cx="2516056" cy="795143"/>
      </dsp:txXfrm>
    </dsp:sp>
    <dsp:sp modelId="{760999FF-37F0-4657-BA14-7DC9CBC09448}">
      <dsp:nvSpPr>
        <dsp:cNvPr id="0" name=""/>
        <dsp:cNvSpPr/>
      </dsp:nvSpPr>
      <dsp:spPr>
        <a:xfrm rot="5400000">
          <a:off x="5894564" y="2133387"/>
          <a:ext cx="316732" cy="3800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 rot="-5400000">
        <a:off x="5938907" y="2165060"/>
        <a:ext cx="228046" cy="221712"/>
      </dsp:txXfrm>
    </dsp:sp>
    <dsp:sp modelId="{F35FDAB3-A7BD-4F7D-858B-031A1E72C786}">
      <dsp:nvSpPr>
        <dsp:cNvPr id="0" name=""/>
        <dsp:cNvSpPr/>
      </dsp:nvSpPr>
      <dsp:spPr>
        <a:xfrm>
          <a:off x="4770164" y="2534581"/>
          <a:ext cx="2565532" cy="84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建立数据源，</a:t>
          </a:r>
          <a:r>
            <a:rPr lang="en-US" altLang="zh-CN" sz="1600" b="1" kern="1200" dirty="0" smtClean="0"/>
            <a:t>ETL</a:t>
          </a:r>
          <a:r>
            <a:rPr lang="zh-CN" altLang="en-US" sz="1600" b="1" kern="1200" dirty="0" smtClean="0"/>
            <a:t>人员</a:t>
          </a:r>
          <a:r>
            <a:rPr lang="en-US" altLang="zh-CN" sz="1600" b="1" kern="1200" dirty="0" smtClean="0"/>
            <a:t>(</a:t>
          </a:r>
          <a:r>
            <a:rPr lang="zh-CN" altLang="en-US" sz="1600" b="1" kern="1200" dirty="0" smtClean="0"/>
            <a:t>专职人员）</a:t>
          </a:r>
          <a:r>
            <a:rPr lang="zh-CN" altLang="en-US" sz="1400" kern="1200" dirty="0" smtClean="0"/>
            <a:t>抽取数据到底座</a:t>
          </a:r>
          <a:endParaRPr lang="zh-CN" altLang="en-US" sz="1400" kern="1200" dirty="0"/>
        </a:p>
      </dsp:txBody>
      <dsp:txXfrm>
        <a:off x="4794902" y="2559319"/>
        <a:ext cx="2516056" cy="795143"/>
      </dsp:txXfrm>
    </dsp:sp>
    <dsp:sp modelId="{926DE158-DF5C-48AF-96CB-FCD9F1405DA9}">
      <dsp:nvSpPr>
        <dsp:cNvPr id="0" name=""/>
        <dsp:cNvSpPr/>
      </dsp:nvSpPr>
      <dsp:spPr>
        <a:xfrm rot="5400000">
          <a:off x="5894564" y="3400316"/>
          <a:ext cx="316732" cy="3800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 rot="-5400000">
        <a:off x="5938907" y="3431989"/>
        <a:ext cx="228046" cy="221712"/>
      </dsp:txXfrm>
    </dsp:sp>
    <dsp:sp modelId="{6B9B112C-B44F-48BB-9C57-BA04484DCF2C}">
      <dsp:nvSpPr>
        <dsp:cNvPr id="0" name=""/>
        <dsp:cNvSpPr/>
      </dsp:nvSpPr>
      <dsp:spPr>
        <a:xfrm>
          <a:off x="4770164" y="3801511"/>
          <a:ext cx="2565532" cy="84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管理员授权开发人员，在底座或指定框架进行开发</a:t>
          </a:r>
          <a:endParaRPr lang="zh-CN" altLang="en-US" sz="1400" kern="1200" dirty="0"/>
        </a:p>
      </dsp:txBody>
      <dsp:txXfrm>
        <a:off x="4794902" y="3826249"/>
        <a:ext cx="2516056" cy="795143"/>
      </dsp:txXfrm>
    </dsp:sp>
    <dsp:sp modelId="{1D116428-AF3B-4875-ADEF-C18BFB3D6CFF}">
      <dsp:nvSpPr>
        <dsp:cNvPr id="0" name=""/>
        <dsp:cNvSpPr/>
      </dsp:nvSpPr>
      <dsp:spPr>
        <a:xfrm rot="5400000">
          <a:off x="5894564" y="4667246"/>
          <a:ext cx="316732" cy="38007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 rot="-5400000">
        <a:off x="5938907" y="4698919"/>
        <a:ext cx="228046" cy="221712"/>
      </dsp:txXfrm>
    </dsp:sp>
    <dsp:sp modelId="{45DD93D9-69A9-450C-BAF1-D43ABA7D2859}">
      <dsp:nvSpPr>
        <dsp:cNvPr id="0" name=""/>
        <dsp:cNvSpPr/>
      </dsp:nvSpPr>
      <dsp:spPr>
        <a:xfrm>
          <a:off x="4770164" y="5068441"/>
          <a:ext cx="2565532" cy="8446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将按数据资产发布或分享流程到底座或业务系统，进行应用和消费</a:t>
          </a:r>
          <a:endParaRPr lang="zh-CN" altLang="en-US" sz="1400" kern="1200" dirty="0"/>
        </a:p>
      </dsp:txBody>
      <dsp:txXfrm>
        <a:off x="4794902" y="5093179"/>
        <a:ext cx="2516056" cy="795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#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A499FF-F2BE-384D-A71D-D532BB74A58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0DC68-5C7A-4236-9F6A-C24320D0A50D}" type="datetimeFigureOut">
              <a:rPr lang="zh-CN" altLang="en-US" smtClean="0"/>
              <a:t>2023/5/17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80F0D-162F-4769-9B38-9045454113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80F0D-162F-4769-9B38-904545411383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836958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Placeholder 6" descr="德國工廠-塑科精密 copy.jpg"/>
          <p:cNvPicPr>
            <a:picLocks noChangeAspect="1"/>
          </p:cNvPicPr>
          <p:nvPr userDrawn="1"/>
        </p:nvPicPr>
        <p:blipFill>
          <a:blip r:embed="rId2" cstate="email"/>
          <a:srcRect l="1" r="1"/>
          <a:stretch>
            <a:fillRect/>
          </a:stretch>
        </p:blipFill>
        <p:spPr>
          <a:xfrm>
            <a:off x="0" y="-8348"/>
            <a:ext cx="12192000" cy="4836958"/>
          </a:xfrm>
          <a:prstGeom prst="rect">
            <a:avLst/>
          </a:prstGeom>
        </p:spPr>
      </p:pic>
      <p:grpSp>
        <p:nvGrpSpPr>
          <p:cNvPr id="46" name="群組 45"/>
          <p:cNvGrpSpPr/>
          <p:nvPr userDrawn="1"/>
        </p:nvGrpSpPr>
        <p:grpSpPr>
          <a:xfrm>
            <a:off x="198122" y="5210979"/>
            <a:ext cx="4699531" cy="689369"/>
            <a:chOff x="291110" y="5209211"/>
            <a:chExt cx="5739857" cy="900457"/>
          </a:xfrm>
        </p:grpSpPr>
        <p:sp>
          <p:nvSpPr>
            <p:cNvPr id="47" name="Oval 29"/>
            <p:cNvSpPr/>
            <p:nvPr/>
          </p:nvSpPr>
          <p:spPr>
            <a:xfrm>
              <a:off x="291110" y="5209211"/>
              <a:ext cx="900457" cy="9004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8" name="Oval 41"/>
            <p:cNvSpPr/>
            <p:nvPr/>
          </p:nvSpPr>
          <p:spPr>
            <a:xfrm>
              <a:off x="1500960" y="5209211"/>
              <a:ext cx="900457" cy="9004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9" name="Oval 42"/>
            <p:cNvSpPr/>
            <p:nvPr/>
          </p:nvSpPr>
          <p:spPr>
            <a:xfrm>
              <a:off x="2710810" y="5209211"/>
              <a:ext cx="900457" cy="900457"/>
            </a:xfrm>
            <a:prstGeom prst="ellipse">
              <a:avLst/>
            </a:prstGeom>
            <a:solidFill>
              <a:srgbClr val="ACB3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0" name="Oval 45"/>
            <p:cNvSpPr/>
            <p:nvPr/>
          </p:nvSpPr>
          <p:spPr>
            <a:xfrm>
              <a:off x="3920660" y="5209211"/>
              <a:ext cx="900457" cy="9004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1" name="Oval 46"/>
            <p:cNvSpPr/>
            <p:nvPr/>
          </p:nvSpPr>
          <p:spPr>
            <a:xfrm>
              <a:off x="5130510" y="5209211"/>
              <a:ext cx="900457" cy="90045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2" name="Group 48"/>
            <p:cNvGrpSpPr/>
            <p:nvPr/>
          </p:nvGrpSpPr>
          <p:grpSpPr>
            <a:xfrm>
              <a:off x="4163753" y="5432911"/>
              <a:ext cx="452761" cy="453058"/>
              <a:chOff x="2524463" y="4766967"/>
              <a:chExt cx="618725" cy="618888"/>
            </a:xfrm>
            <a:solidFill>
              <a:schemeClr val="bg1"/>
            </a:solidFill>
          </p:grpSpPr>
          <p:sp>
            <p:nvSpPr>
              <p:cNvPr id="71" name="Freeform 67"/>
              <p:cNvSpPr>
                <a:spLocks noChangeArrowheads="1"/>
              </p:cNvSpPr>
              <p:nvPr/>
            </p:nvSpPr>
            <p:spPr bwMode="auto">
              <a:xfrm>
                <a:off x="2704225" y="4779511"/>
                <a:ext cx="117056" cy="117086"/>
              </a:xfrm>
              <a:custGeom>
                <a:avLst/>
                <a:gdLst>
                  <a:gd name="T0" fmla="*/ 0 w 123"/>
                  <a:gd name="T1" fmla="*/ 122 h 123"/>
                  <a:gd name="T2" fmla="*/ 0 w 123"/>
                  <a:gd name="T3" fmla="*/ 122 h 123"/>
                  <a:gd name="T4" fmla="*/ 122 w 123"/>
                  <a:gd name="T5" fmla="*/ 122 h 123"/>
                  <a:gd name="T6" fmla="*/ 122 w 123"/>
                  <a:gd name="T7" fmla="*/ 0 h 123"/>
                  <a:gd name="T8" fmla="*/ 0 w 123"/>
                  <a:gd name="T9" fmla="*/ 12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23">
                    <a:moveTo>
                      <a:pt x="0" y="122"/>
                    </a:moveTo>
                    <a:lnTo>
                      <a:pt x="0" y="122"/>
                    </a:lnTo>
                    <a:cubicBezTo>
                      <a:pt x="122" y="122"/>
                      <a:pt x="122" y="122"/>
                      <a:pt x="122" y="122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68" y="0"/>
                      <a:pt x="26" y="54"/>
                      <a:pt x="0" y="12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Freeform 68"/>
              <p:cNvSpPr>
                <a:spLocks noChangeArrowheads="1"/>
              </p:cNvSpPr>
              <p:nvPr/>
            </p:nvSpPr>
            <p:spPr bwMode="auto">
              <a:xfrm>
                <a:off x="2666603" y="4934235"/>
                <a:ext cx="154681" cy="129630"/>
              </a:xfrm>
              <a:custGeom>
                <a:avLst/>
                <a:gdLst>
                  <a:gd name="T0" fmla="*/ 163 w 164"/>
                  <a:gd name="T1" fmla="*/ 136 h 137"/>
                  <a:gd name="T2" fmla="*/ 163 w 164"/>
                  <a:gd name="T3" fmla="*/ 136 h 137"/>
                  <a:gd name="T4" fmla="*/ 163 w 164"/>
                  <a:gd name="T5" fmla="*/ 0 h 137"/>
                  <a:gd name="T6" fmla="*/ 27 w 164"/>
                  <a:gd name="T7" fmla="*/ 0 h 137"/>
                  <a:gd name="T8" fmla="*/ 0 w 164"/>
                  <a:gd name="T9" fmla="*/ 136 h 137"/>
                  <a:gd name="T10" fmla="*/ 163 w 164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37">
                    <a:moveTo>
                      <a:pt x="163" y="136"/>
                    </a:moveTo>
                    <a:lnTo>
                      <a:pt x="163" y="136"/>
                    </a:lnTo>
                    <a:cubicBezTo>
                      <a:pt x="163" y="0"/>
                      <a:pt x="163" y="0"/>
                      <a:pt x="163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3" y="40"/>
                      <a:pt x="0" y="82"/>
                      <a:pt x="0" y="136"/>
                    </a:cubicBezTo>
                    <a:lnTo>
                      <a:pt x="163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3" name="Freeform 69"/>
              <p:cNvSpPr>
                <a:spLocks noChangeArrowheads="1"/>
              </p:cNvSpPr>
              <p:nvPr/>
            </p:nvSpPr>
            <p:spPr bwMode="auto">
              <a:xfrm>
                <a:off x="2850546" y="4779511"/>
                <a:ext cx="117056" cy="117086"/>
              </a:xfrm>
              <a:custGeom>
                <a:avLst/>
                <a:gdLst>
                  <a:gd name="T0" fmla="*/ 0 w 122"/>
                  <a:gd name="T1" fmla="*/ 0 h 123"/>
                  <a:gd name="T2" fmla="*/ 0 w 122"/>
                  <a:gd name="T3" fmla="*/ 0 h 123"/>
                  <a:gd name="T4" fmla="*/ 0 w 122"/>
                  <a:gd name="T5" fmla="*/ 122 h 123"/>
                  <a:gd name="T6" fmla="*/ 121 w 122"/>
                  <a:gd name="T7" fmla="*/ 122 h 123"/>
                  <a:gd name="T8" fmla="*/ 0 w 122"/>
                  <a:gd name="T9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2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22"/>
                      <a:pt x="0" y="122"/>
                      <a:pt x="0" y="122"/>
                    </a:cubicBezTo>
                    <a:cubicBezTo>
                      <a:pt x="121" y="122"/>
                      <a:pt x="121" y="122"/>
                      <a:pt x="121" y="122"/>
                    </a:cubicBezTo>
                    <a:cubicBezTo>
                      <a:pt x="95" y="54"/>
                      <a:pt x="41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Freeform 70"/>
              <p:cNvSpPr>
                <a:spLocks noChangeArrowheads="1"/>
              </p:cNvSpPr>
              <p:nvPr/>
            </p:nvSpPr>
            <p:spPr bwMode="auto">
              <a:xfrm>
                <a:off x="2524463" y="5088955"/>
                <a:ext cx="142140" cy="142175"/>
              </a:xfrm>
              <a:custGeom>
                <a:avLst/>
                <a:gdLst>
                  <a:gd name="T0" fmla="*/ 122 w 151"/>
                  <a:gd name="T1" fmla="*/ 0 h 150"/>
                  <a:gd name="T2" fmla="*/ 122 w 151"/>
                  <a:gd name="T3" fmla="*/ 0 h 150"/>
                  <a:gd name="T4" fmla="*/ 0 w 151"/>
                  <a:gd name="T5" fmla="*/ 0 h 150"/>
                  <a:gd name="T6" fmla="*/ 42 w 151"/>
                  <a:gd name="T7" fmla="*/ 149 h 150"/>
                  <a:gd name="T8" fmla="*/ 42 w 151"/>
                  <a:gd name="T9" fmla="*/ 149 h 150"/>
                  <a:gd name="T10" fmla="*/ 150 w 151"/>
                  <a:gd name="T11" fmla="*/ 149 h 150"/>
                  <a:gd name="T12" fmla="*/ 122 w 151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0">
                    <a:moveTo>
                      <a:pt x="122" y="0"/>
                    </a:moveTo>
                    <a:lnTo>
                      <a:pt x="122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4" y="109"/>
                      <a:pt x="42" y="149"/>
                    </a:cubicBezTo>
                    <a:lnTo>
                      <a:pt x="42" y="149"/>
                    </a:lnTo>
                    <a:cubicBezTo>
                      <a:pt x="150" y="149"/>
                      <a:pt x="150" y="149"/>
                      <a:pt x="150" y="149"/>
                    </a:cubicBezTo>
                    <a:cubicBezTo>
                      <a:pt x="136" y="109"/>
                      <a:pt x="122" y="54"/>
                      <a:pt x="122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Freeform 71"/>
              <p:cNvSpPr>
                <a:spLocks noChangeArrowheads="1"/>
              </p:cNvSpPr>
              <p:nvPr/>
            </p:nvSpPr>
            <p:spPr bwMode="auto">
              <a:xfrm>
                <a:off x="3001048" y="5088955"/>
                <a:ext cx="142140" cy="142175"/>
              </a:xfrm>
              <a:custGeom>
                <a:avLst/>
                <a:gdLst>
                  <a:gd name="T0" fmla="*/ 14 w 150"/>
                  <a:gd name="T1" fmla="*/ 0 h 150"/>
                  <a:gd name="T2" fmla="*/ 14 w 150"/>
                  <a:gd name="T3" fmla="*/ 0 h 150"/>
                  <a:gd name="T4" fmla="*/ 0 w 150"/>
                  <a:gd name="T5" fmla="*/ 149 h 150"/>
                  <a:gd name="T6" fmla="*/ 95 w 150"/>
                  <a:gd name="T7" fmla="*/ 149 h 150"/>
                  <a:gd name="T8" fmla="*/ 109 w 150"/>
                  <a:gd name="T9" fmla="*/ 149 h 150"/>
                  <a:gd name="T10" fmla="*/ 149 w 150"/>
                  <a:gd name="T11" fmla="*/ 0 h 150"/>
                  <a:gd name="T12" fmla="*/ 14 w 150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0">
                    <a:moveTo>
                      <a:pt x="14" y="0"/>
                    </a:moveTo>
                    <a:lnTo>
                      <a:pt x="14" y="0"/>
                    </a:lnTo>
                    <a:cubicBezTo>
                      <a:pt x="14" y="54"/>
                      <a:pt x="0" y="109"/>
                      <a:pt x="0" y="149"/>
                    </a:cubicBezTo>
                    <a:cubicBezTo>
                      <a:pt x="95" y="149"/>
                      <a:pt x="95" y="149"/>
                      <a:pt x="95" y="149"/>
                    </a:cubicBezTo>
                    <a:lnTo>
                      <a:pt x="109" y="149"/>
                    </a:lnTo>
                    <a:cubicBezTo>
                      <a:pt x="122" y="109"/>
                      <a:pt x="149" y="54"/>
                      <a:pt x="149" y="0"/>
                    </a:cubicBez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6" name="Freeform 72"/>
              <p:cNvSpPr>
                <a:spLocks noChangeArrowheads="1"/>
              </p:cNvSpPr>
              <p:nvPr/>
            </p:nvSpPr>
            <p:spPr bwMode="auto">
              <a:xfrm>
                <a:off x="2666603" y="5088955"/>
                <a:ext cx="154681" cy="142175"/>
              </a:xfrm>
              <a:custGeom>
                <a:avLst/>
                <a:gdLst>
                  <a:gd name="T0" fmla="*/ 163 w 164"/>
                  <a:gd name="T1" fmla="*/ 0 h 150"/>
                  <a:gd name="T2" fmla="*/ 163 w 164"/>
                  <a:gd name="T3" fmla="*/ 0 h 150"/>
                  <a:gd name="T4" fmla="*/ 0 w 164"/>
                  <a:gd name="T5" fmla="*/ 0 h 150"/>
                  <a:gd name="T6" fmla="*/ 27 w 164"/>
                  <a:gd name="T7" fmla="*/ 149 h 150"/>
                  <a:gd name="T8" fmla="*/ 163 w 164"/>
                  <a:gd name="T9" fmla="*/ 149 h 150"/>
                  <a:gd name="T10" fmla="*/ 163 w 164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50">
                    <a:moveTo>
                      <a:pt x="163" y="0"/>
                    </a:moveTo>
                    <a:lnTo>
                      <a:pt x="163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3" y="109"/>
                      <a:pt x="27" y="149"/>
                    </a:cubicBezTo>
                    <a:cubicBezTo>
                      <a:pt x="163" y="149"/>
                      <a:pt x="163" y="149"/>
                      <a:pt x="163" y="149"/>
                    </a:cubicBezTo>
                    <a:lnTo>
                      <a:pt x="163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7" name="Freeform 73"/>
              <p:cNvSpPr>
                <a:spLocks noChangeArrowheads="1"/>
              </p:cNvSpPr>
              <p:nvPr/>
            </p:nvSpPr>
            <p:spPr bwMode="auto">
              <a:xfrm>
                <a:off x="2524463" y="4921688"/>
                <a:ext cx="142140" cy="142175"/>
              </a:xfrm>
              <a:custGeom>
                <a:avLst/>
                <a:gdLst>
                  <a:gd name="T0" fmla="*/ 122 w 151"/>
                  <a:gd name="T1" fmla="*/ 150 h 151"/>
                  <a:gd name="T2" fmla="*/ 122 w 151"/>
                  <a:gd name="T3" fmla="*/ 150 h 151"/>
                  <a:gd name="T4" fmla="*/ 150 w 151"/>
                  <a:gd name="T5" fmla="*/ 14 h 151"/>
                  <a:gd name="T6" fmla="*/ 42 w 151"/>
                  <a:gd name="T7" fmla="*/ 14 h 151"/>
                  <a:gd name="T8" fmla="*/ 42 w 151"/>
                  <a:gd name="T9" fmla="*/ 0 h 151"/>
                  <a:gd name="T10" fmla="*/ 0 w 151"/>
                  <a:gd name="T11" fmla="*/ 150 h 151"/>
                  <a:gd name="T12" fmla="*/ 122 w 151"/>
                  <a:gd name="T13" fmla="*/ 15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1">
                    <a:moveTo>
                      <a:pt x="122" y="150"/>
                    </a:moveTo>
                    <a:lnTo>
                      <a:pt x="122" y="150"/>
                    </a:lnTo>
                    <a:cubicBezTo>
                      <a:pt x="122" y="96"/>
                      <a:pt x="136" y="54"/>
                      <a:pt x="150" y="14"/>
                    </a:cubicBezTo>
                    <a:cubicBezTo>
                      <a:pt x="42" y="14"/>
                      <a:pt x="42" y="14"/>
                      <a:pt x="42" y="14"/>
                    </a:cubicBezTo>
                    <a:lnTo>
                      <a:pt x="42" y="0"/>
                    </a:lnTo>
                    <a:cubicBezTo>
                      <a:pt x="14" y="54"/>
                      <a:pt x="0" y="96"/>
                      <a:pt x="0" y="150"/>
                    </a:cubicBezTo>
                    <a:lnTo>
                      <a:pt x="122" y="15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8" name="Freeform 74"/>
              <p:cNvSpPr>
                <a:spLocks noChangeArrowheads="1"/>
              </p:cNvSpPr>
              <p:nvPr/>
            </p:nvSpPr>
            <p:spPr bwMode="auto">
              <a:xfrm>
                <a:off x="2850547" y="4934235"/>
                <a:ext cx="142140" cy="129630"/>
              </a:xfrm>
              <a:custGeom>
                <a:avLst/>
                <a:gdLst>
                  <a:gd name="T0" fmla="*/ 149 w 150"/>
                  <a:gd name="T1" fmla="*/ 136 h 137"/>
                  <a:gd name="T2" fmla="*/ 149 w 150"/>
                  <a:gd name="T3" fmla="*/ 136 h 137"/>
                  <a:gd name="T4" fmla="*/ 121 w 150"/>
                  <a:gd name="T5" fmla="*/ 0 h 137"/>
                  <a:gd name="T6" fmla="*/ 0 w 150"/>
                  <a:gd name="T7" fmla="*/ 0 h 137"/>
                  <a:gd name="T8" fmla="*/ 0 w 150"/>
                  <a:gd name="T9" fmla="*/ 136 h 137"/>
                  <a:gd name="T10" fmla="*/ 149 w 150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37">
                    <a:moveTo>
                      <a:pt x="149" y="136"/>
                    </a:moveTo>
                    <a:lnTo>
                      <a:pt x="149" y="136"/>
                    </a:lnTo>
                    <a:cubicBezTo>
                      <a:pt x="149" y="82"/>
                      <a:pt x="135" y="40"/>
                      <a:pt x="12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lnTo>
                      <a:pt x="14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9" name="Freeform 75"/>
              <p:cNvSpPr>
                <a:spLocks noChangeArrowheads="1"/>
              </p:cNvSpPr>
              <p:nvPr/>
            </p:nvSpPr>
            <p:spPr bwMode="auto">
              <a:xfrm>
                <a:off x="2574630" y="4766967"/>
                <a:ext cx="183944" cy="129630"/>
              </a:xfrm>
              <a:custGeom>
                <a:avLst/>
                <a:gdLst>
                  <a:gd name="T0" fmla="*/ 109 w 192"/>
                  <a:gd name="T1" fmla="*/ 136 h 137"/>
                  <a:gd name="T2" fmla="*/ 109 w 192"/>
                  <a:gd name="T3" fmla="*/ 136 h 137"/>
                  <a:gd name="T4" fmla="*/ 191 w 192"/>
                  <a:gd name="T5" fmla="*/ 0 h 137"/>
                  <a:gd name="T6" fmla="*/ 0 w 192"/>
                  <a:gd name="T7" fmla="*/ 136 h 137"/>
                  <a:gd name="T8" fmla="*/ 109 w 192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7">
                    <a:moveTo>
                      <a:pt x="109" y="136"/>
                    </a:moveTo>
                    <a:lnTo>
                      <a:pt x="109" y="136"/>
                    </a:lnTo>
                    <a:cubicBezTo>
                      <a:pt x="123" y="82"/>
                      <a:pt x="151" y="28"/>
                      <a:pt x="191" y="0"/>
                    </a:cubicBezTo>
                    <a:cubicBezTo>
                      <a:pt x="109" y="28"/>
                      <a:pt x="42" y="82"/>
                      <a:pt x="0" y="136"/>
                    </a:cubicBezTo>
                    <a:lnTo>
                      <a:pt x="10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0" name="Freeform 76"/>
              <p:cNvSpPr>
                <a:spLocks noChangeArrowheads="1"/>
              </p:cNvSpPr>
              <p:nvPr/>
            </p:nvSpPr>
            <p:spPr bwMode="auto">
              <a:xfrm>
                <a:off x="2574630" y="5256222"/>
                <a:ext cx="183944" cy="129633"/>
              </a:xfrm>
              <a:custGeom>
                <a:avLst/>
                <a:gdLst>
                  <a:gd name="T0" fmla="*/ 109 w 192"/>
                  <a:gd name="T1" fmla="*/ 0 h 136"/>
                  <a:gd name="T2" fmla="*/ 109 w 192"/>
                  <a:gd name="T3" fmla="*/ 0 h 136"/>
                  <a:gd name="T4" fmla="*/ 0 w 192"/>
                  <a:gd name="T5" fmla="*/ 0 h 136"/>
                  <a:gd name="T6" fmla="*/ 191 w 192"/>
                  <a:gd name="T7" fmla="*/ 135 h 136"/>
                  <a:gd name="T8" fmla="*/ 109 w 19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6">
                    <a:moveTo>
                      <a:pt x="109" y="0"/>
                    </a:moveTo>
                    <a:lnTo>
                      <a:pt x="109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42" y="67"/>
                      <a:pt x="109" y="121"/>
                      <a:pt x="191" y="135"/>
                    </a:cubicBezTo>
                    <a:cubicBezTo>
                      <a:pt x="151" y="109"/>
                      <a:pt x="123" y="67"/>
                      <a:pt x="109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1" name="Freeform 77"/>
              <p:cNvSpPr>
                <a:spLocks noChangeArrowheads="1"/>
              </p:cNvSpPr>
              <p:nvPr/>
            </p:nvSpPr>
            <p:spPr bwMode="auto">
              <a:xfrm>
                <a:off x="2900713" y="4766967"/>
                <a:ext cx="179762" cy="129630"/>
              </a:xfrm>
              <a:custGeom>
                <a:avLst/>
                <a:gdLst>
                  <a:gd name="T0" fmla="*/ 95 w 191"/>
                  <a:gd name="T1" fmla="*/ 136 h 137"/>
                  <a:gd name="T2" fmla="*/ 95 w 191"/>
                  <a:gd name="T3" fmla="*/ 136 h 137"/>
                  <a:gd name="T4" fmla="*/ 190 w 191"/>
                  <a:gd name="T5" fmla="*/ 136 h 137"/>
                  <a:gd name="T6" fmla="*/ 0 w 191"/>
                  <a:gd name="T7" fmla="*/ 0 h 137"/>
                  <a:gd name="T8" fmla="*/ 95 w 191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7">
                    <a:moveTo>
                      <a:pt x="95" y="136"/>
                    </a:moveTo>
                    <a:lnTo>
                      <a:pt x="95" y="136"/>
                    </a:lnTo>
                    <a:cubicBezTo>
                      <a:pt x="190" y="136"/>
                      <a:pt x="190" y="136"/>
                      <a:pt x="190" y="136"/>
                    </a:cubicBezTo>
                    <a:cubicBezTo>
                      <a:pt x="150" y="82"/>
                      <a:pt x="81" y="28"/>
                      <a:pt x="0" y="0"/>
                    </a:cubicBezTo>
                    <a:cubicBezTo>
                      <a:pt x="41" y="28"/>
                      <a:pt x="67" y="82"/>
                      <a:pt x="95" y="136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2" name="Freeform 78"/>
              <p:cNvSpPr>
                <a:spLocks noChangeArrowheads="1"/>
              </p:cNvSpPr>
              <p:nvPr/>
            </p:nvSpPr>
            <p:spPr bwMode="auto">
              <a:xfrm>
                <a:off x="2900713" y="5256222"/>
                <a:ext cx="179762" cy="129633"/>
              </a:xfrm>
              <a:custGeom>
                <a:avLst/>
                <a:gdLst>
                  <a:gd name="T0" fmla="*/ 95 w 191"/>
                  <a:gd name="T1" fmla="*/ 0 h 136"/>
                  <a:gd name="T2" fmla="*/ 95 w 191"/>
                  <a:gd name="T3" fmla="*/ 0 h 136"/>
                  <a:gd name="T4" fmla="*/ 0 w 191"/>
                  <a:gd name="T5" fmla="*/ 135 h 136"/>
                  <a:gd name="T6" fmla="*/ 190 w 191"/>
                  <a:gd name="T7" fmla="*/ 0 h 136"/>
                  <a:gd name="T8" fmla="*/ 95 w 191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6">
                    <a:moveTo>
                      <a:pt x="95" y="0"/>
                    </a:moveTo>
                    <a:lnTo>
                      <a:pt x="95" y="0"/>
                    </a:lnTo>
                    <a:cubicBezTo>
                      <a:pt x="67" y="67"/>
                      <a:pt x="41" y="109"/>
                      <a:pt x="0" y="135"/>
                    </a:cubicBezTo>
                    <a:cubicBezTo>
                      <a:pt x="81" y="121"/>
                      <a:pt x="150" y="67"/>
                      <a:pt x="190" y="0"/>
                    </a:cubicBezTo>
                    <a:lnTo>
                      <a:pt x="95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3" name="Freeform 79"/>
              <p:cNvSpPr>
                <a:spLocks noChangeArrowheads="1"/>
              </p:cNvSpPr>
              <p:nvPr/>
            </p:nvSpPr>
            <p:spPr bwMode="auto">
              <a:xfrm>
                <a:off x="3001048" y="4921688"/>
                <a:ext cx="142140" cy="142175"/>
              </a:xfrm>
              <a:custGeom>
                <a:avLst/>
                <a:gdLst>
                  <a:gd name="T0" fmla="*/ 95 w 150"/>
                  <a:gd name="T1" fmla="*/ 14 h 151"/>
                  <a:gd name="T2" fmla="*/ 95 w 150"/>
                  <a:gd name="T3" fmla="*/ 14 h 151"/>
                  <a:gd name="T4" fmla="*/ 0 w 150"/>
                  <a:gd name="T5" fmla="*/ 14 h 151"/>
                  <a:gd name="T6" fmla="*/ 14 w 150"/>
                  <a:gd name="T7" fmla="*/ 150 h 151"/>
                  <a:gd name="T8" fmla="*/ 149 w 150"/>
                  <a:gd name="T9" fmla="*/ 150 h 151"/>
                  <a:gd name="T10" fmla="*/ 109 w 150"/>
                  <a:gd name="T11" fmla="*/ 0 h 151"/>
                  <a:gd name="T12" fmla="*/ 95 w 150"/>
                  <a:gd name="T13" fmla="*/ 1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1">
                    <a:moveTo>
                      <a:pt x="95" y="14"/>
                    </a:moveTo>
                    <a:lnTo>
                      <a:pt x="95" y="14"/>
                    </a:lnTo>
                    <a:cubicBezTo>
                      <a:pt x="0" y="14"/>
                      <a:pt x="0" y="14"/>
                      <a:pt x="0" y="14"/>
                    </a:cubicBezTo>
                    <a:cubicBezTo>
                      <a:pt x="0" y="54"/>
                      <a:pt x="14" y="96"/>
                      <a:pt x="14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96"/>
                      <a:pt x="122" y="54"/>
                      <a:pt x="109" y="0"/>
                    </a:cubicBezTo>
                    <a:lnTo>
                      <a:pt x="95" y="14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4" name="Freeform 80"/>
              <p:cNvSpPr>
                <a:spLocks noChangeArrowheads="1"/>
              </p:cNvSpPr>
              <p:nvPr/>
            </p:nvSpPr>
            <p:spPr bwMode="auto">
              <a:xfrm>
                <a:off x="2850546" y="5256222"/>
                <a:ext cx="117056" cy="129633"/>
              </a:xfrm>
              <a:custGeom>
                <a:avLst/>
                <a:gdLst>
                  <a:gd name="T0" fmla="*/ 121 w 122"/>
                  <a:gd name="T1" fmla="*/ 0 h 136"/>
                  <a:gd name="T2" fmla="*/ 121 w 122"/>
                  <a:gd name="T3" fmla="*/ 0 h 136"/>
                  <a:gd name="T4" fmla="*/ 0 w 122"/>
                  <a:gd name="T5" fmla="*/ 0 h 136"/>
                  <a:gd name="T6" fmla="*/ 0 w 122"/>
                  <a:gd name="T7" fmla="*/ 135 h 136"/>
                  <a:gd name="T8" fmla="*/ 121 w 12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36">
                    <a:moveTo>
                      <a:pt x="121" y="0"/>
                    </a:moveTo>
                    <a:lnTo>
                      <a:pt x="121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41" y="135"/>
                      <a:pt x="95" y="81"/>
                      <a:pt x="121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5" name="Freeform 81"/>
              <p:cNvSpPr>
                <a:spLocks noChangeArrowheads="1"/>
              </p:cNvSpPr>
              <p:nvPr/>
            </p:nvSpPr>
            <p:spPr bwMode="auto">
              <a:xfrm>
                <a:off x="2850547" y="5088955"/>
                <a:ext cx="142140" cy="142175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149 h 150"/>
                  <a:gd name="T6" fmla="*/ 121 w 150"/>
                  <a:gd name="T7" fmla="*/ 149 h 150"/>
                  <a:gd name="T8" fmla="*/ 149 w 150"/>
                  <a:gd name="T9" fmla="*/ 0 h 150"/>
                  <a:gd name="T10" fmla="*/ 0 w 150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5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49"/>
                      <a:pt x="0" y="149"/>
                      <a:pt x="0" y="149"/>
                    </a:cubicBezTo>
                    <a:cubicBezTo>
                      <a:pt x="121" y="149"/>
                      <a:pt x="121" y="149"/>
                      <a:pt x="121" y="149"/>
                    </a:cubicBezTo>
                    <a:cubicBezTo>
                      <a:pt x="135" y="109"/>
                      <a:pt x="149" y="54"/>
                      <a:pt x="149" y="0"/>
                    </a:cubicBez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6" name="Freeform 82"/>
              <p:cNvSpPr>
                <a:spLocks noChangeArrowheads="1"/>
              </p:cNvSpPr>
              <p:nvPr/>
            </p:nvSpPr>
            <p:spPr bwMode="auto">
              <a:xfrm>
                <a:off x="2704225" y="5256222"/>
                <a:ext cx="117056" cy="129633"/>
              </a:xfrm>
              <a:custGeom>
                <a:avLst/>
                <a:gdLst>
                  <a:gd name="T0" fmla="*/ 122 w 123"/>
                  <a:gd name="T1" fmla="*/ 135 h 136"/>
                  <a:gd name="T2" fmla="*/ 122 w 123"/>
                  <a:gd name="T3" fmla="*/ 135 h 136"/>
                  <a:gd name="T4" fmla="*/ 122 w 123"/>
                  <a:gd name="T5" fmla="*/ 0 h 136"/>
                  <a:gd name="T6" fmla="*/ 0 w 123"/>
                  <a:gd name="T7" fmla="*/ 0 h 136"/>
                  <a:gd name="T8" fmla="*/ 122 w 123"/>
                  <a:gd name="T9" fmla="*/ 13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36">
                    <a:moveTo>
                      <a:pt x="122" y="135"/>
                    </a:moveTo>
                    <a:lnTo>
                      <a:pt x="122" y="135"/>
                    </a:lnTo>
                    <a:cubicBezTo>
                      <a:pt x="122" y="0"/>
                      <a:pt x="122" y="0"/>
                      <a:pt x="1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81"/>
                      <a:pt x="68" y="135"/>
                      <a:pt x="122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3" name="Freeform 182"/>
            <p:cNvSpPr>
              <a:spLocks noChangeArrowheads="1"/>
            </p:cNvSpPr>
            <p:nvPr/>
          </p:nvSpPr>
          <p:spPr bwMode="auto">
            <a:xfrm>
              <a:off x="542679" y="5453461"/>
              <a:ext cx="411796" cy="411957"/>
            </a:xfrm>
            <a:custGeom>
              <a:avLst/>
              <a:gdLst>
                <a:gd name="T0" fmla="*/ 822259 w 654"/>
                <a:gd name="T1" fmla="*/ 0 h 654"/>
                <a:gd name="T2" fmla="*/ 0 w 654"/>
                <a:gd name="T3" fmla="*/ 17633 h 654"/>
                <a:gd name="T4" fmla="*/ 0 w 654"/>
                <a:gd name="T5" fmla="*/ 822474 h 654"/>
                <a:gd name="T6" fmla="*/ 342503 w 654"/>
                <a:gd name="T7" fmla="*/ 822474 h 654"/>
                <a:gd name="T8" fmla="*/ 478497 w 654"/>
                <a:gd name="T9" fmla="*/ 566789 h 654"/>
                <a:gd name="T10" fmla="*/ 478497 w 654"/>
                <a:gd name="T11" fmla="*/ 822474 h 654"/>
                <a:gd name="T12" fmla="*/ 822259 w 654"/>
                <a:gd name="T13" fmla="*/ 822474 h 654"/>
                <a:gd name="T14" fmla="*/ 822259 w 654"/>
                <a:gd name="T15" fmla="*/ 0 h 654"/>
                <a:gd name="T16" fmla="*/ 222879 w 654"/>
                <a:gd name="T17" fmla="*/ 566789 h 654"/>
                <a:gd name="T18" fmla="*/ 101995 w 654"/>
                <a:gd name="T19" fmla="*/ 702819 h 654"/>
                <a:gd name="T20" fmla="*/ 222879 w 654"/>
                <a:gd name="T21" fmla="*/ 566789 h 654"/>
                <a:gd name="T22" fmla="*/ 101995 w 654"/>
                <a:gd name="T23" fmla="*/ 463508 h 654"/>
                <a:gd name="T24" fmla="*/ 222879 w 654"/>
                <a:gd name="T25" fmla="*/ 326219 h 654"/>
                <a:gd name="T26" fmla="*/ 101995 w 654"/>
                <a:gd name="T27" fmla="*/ 463508 h 654"/>
                <a:gd name="T28" fmla="*/ 101995 w 654"/>
                <a:gd name="T29" fmla="*/ 222937 h 654"/>
                <a:gd name="T30" fmla="*/ 222879 w 654"/>
                <a:gd name="T31" fmla="*/ 85648 h 654"/>
                <a:gd name="T32" fmla="*/ 101995 w 654"/>
                <a:gd name="T33" fmla="*/ 222937 h 654"/>
                <a:gd name="T34" fmla="*/ 478497 w 654"/>
                <a:gd name="T35" fmla="*/ 326219 h 654"/>
                <a:gd name="T36" fmla="*/ 342503 w 654"/>
                <a:gd name="T37" fmla="*/ 463508 h 654"/>
                <a:gd name="T38" fmla="*/ 478497 w 654"/>
                <a:gd name="T39" fmla="*/ 326219 h 654"/>
                <a:gd name="T40" fmla="*/ 342503 w 654"/>
                <a:gd name="T41" fmla="*/ 222937 h 654"/>
                <a:gd name="T42" fmla="*/ 478497 w 654"/>
                <a:gd name="T43" fmla="*/ 85648 h 654"/>
                <a:gd name="T44" fmla="*/ 342503 w 654"/>
                <a:gd name="T45" fmla="*/ 222937 h 654"/>
                <a:gd name="T46" fmla="*/ 719004 w 654"/>
                <a:gd name="T47" fmla="*/ 566789 h 654"/>
                <a:gd name="T48" fmla="*/ 599380 w 654"/>
                <a:gd name="T49" fmla="*/ 702819 h 654"/>
                <a:gd name="T50" fmla="*/ 719004 w 654"/>
                <a:gd name="T51" fmla="*/ 566789 h 654"/>
                <a:gd name="T52" fmla="*/ 599380 w 654"/>
                <a:gd name="T53" fmla="*/ 463508 h 654"/>
                <a:gd name="T54" fmla="*/ 719004 w 654"/>
                <a:gd name="T55" fmla="*/ 326219 h 654"/>
                <a:gd name="T56" fmla="*/ 599380 w 654"/>
                <a:gd name="T57" fmla="*/ 463508 h 654"/>
                <a:gd name="T58" fmla="*/ 599380 w 654"/>
                <a:gd name="T59" fmla="*/ 222937 h 654"/>
                <a:gd name="T60" fmla="*/ 719004 w 654"/>
                <a:gd name="T61" fmla="*/ 85648 h 654"/>
                <a:gd name="T62" fmla="*/ 599380 w 654"/>
                <a:gd name="T63" fmla="*/ 222937 h 6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54" h="654">
                  <a:moveTo>
                    <a:pt x="653" y="0"/>
                  </a:moveTo>
                  <a:lnTo>
                    <a:pt x="653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4"/>
                  </a:cubicBezTo>
                  <a:cubicBezTo>
                    <a:pt x="0" y="653"/>
                    <a:pt x="0" y="653"/>
                    <a:pt x="0" y="653"/>
                  </a:cubicBezTo>
                  <a:cubicBezTo>
                    <a:pt x="272" y="653"/>
                    <a:pt x="272" y="653"/>
                    <a:pt x="272" y="653"/>
                  </a:cubicBezTo>
                  <a:cubicBezTo>
                    <a:pt x="272" y="450"/>
                    <a:pt x="272" y="450"/>
                    <a:pt x="272" y="450"/>
                  </a:cubicBezTo>
                  <a:cubicBezTo>
                    <a:pt x="380" y="450"/>
                    <a:pt x="380" y="450"/>
                    <a:pt x="380" y="450"/>
                  </a:cubicBezTo>
                  <a:cubicBezTo>
                    <a:pt x="380" y="653"/>
                    <a:pt x="380" y="653"/>
                    <a:pt x="380" y="653"/>
                  </a:cubicBezTo>
                  <a:cubicBezTo>
                    <a:pt x="653" y="653"/>
                    <a:pt x="653" y="653"/>
                    <a:pt x="653" y="653"/>
                  </a:cubicBezTo>
                  <a:cubicBezTo>
                    <a:pt x="653" y="14"/>
                    <a:pt x="653" y="14"/>
                    <a:pt x="653" y="14"/>
                  </a:cubicBezTo>
                  <a:cubicBezTo>
                    <a:pt x="653" y="0"/>
                    <a:pt x="653" y="0"/>
                    <a:pt x="653" y="0"/>
                  </a:cubicBezTo>
                  <a:close/>
                  <a:moveTo>
                    <a:pt x="177" y="450"/>
                  </a:moveTo>
                  <a:lnTo>
                    <a:pt x="177" y="450"/>
                  </a:lnTo>
                  <a:cubicBezTo>
                    <a:pt x="177" y="558"/>
                    <a:pt x="177" y="558"/>
                    <a:pt x="177" y="558"/>
                  </a:cubicBezTo>
                  <a:cubicBezTo>
                    <a:pt x="81" y="558"/>
                    <a:pt x="81" y="558"/>
                    <a:pt x="81" y="558"/>
                  </a:cubicBezTo>
                  <a:cubicBezTo>
                    <a:pt x="81" y="450"/>
                    <a:pt x="81" y="450"/>
                    <a:pt x="81" y="450"/>
                  </a:cubicBezTo>
                  <a:lnTo>
                    <a:pt x="177" y="450"/>
                  </a:lnTo>
                  <a:close/>
                  <a:moveTo>
                    <a:pt x="81" y="368"/>
                  </a:moveTo>
                  <a:lnTo>
                    <a:pt x="81" y="368"/>
                  </a:lnTo>
                  <a:cubicBezTo>
                    <a:pt x="81" y="259"/>
                    <a:pt x="81" y="259"/>
                    <a:pt x="81" y="259"/>
                  </a:cubicBezTo>
                  <a:cubicBezTo>
                    <a:pt x="177" y="259"/>
                    <a:pt x="177" y="259"/>
                    <a:pt x="177" y="259"/>
                  </a:cubicBezTo>
                  <a:cubicBezTo>
                    <a:pt x="177" y="368"/>
                    <a:pt x="177" y="368"/>
                    <a:pt x="177" y="368"/>
                  </a:cubicBezTo>
                  <a:lnTo>
                    <a:pt x="81" y="368"/>
                  </a:lnTo>
                  <a:close/>
                  <a:moveTo>
                    <a:pt x="81" y="177"/>
                  </a:moveTo>
                  <a:lnTo>
                    <a:pt x="81" y="177"/>
                  </a:lnTo>
                  <a:cubicBezTo>
                    <a:pt x="81" y="68"/>
                    <a:pt x="81" y="68"/>
                    <a:pt x="81" y="68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77" y="177"/>
                    <a:pt x="177" y="177"/>
                    <a:pt x="177" y="177"/>
                  </a:cubicBezTo>
                  <a:lnTo>
                    <a:pt x="81" y="177"/>
                  </a:lnTo>
                  <a:close/>
                  <a:moveTo>
                    <a:pt x="380" y="259"/>
                  </a:moveTo>
                  <a:lnTo>
                    <a:pt x="380" y="259"/>
                  </a:lnTo>
                  <a:cubicBezTo>
                    <a:pt x="380" y="368"/>
                    <a:pt x="380" y="368"/>
                    <a:pt x="380" y="368"/>
                  </a:cubicBezTo>
                  <a:cubicBezTo>
                    <a:pt x="272" y="368"/>
                    <a:pt x="272" y="368"/>
                    <a:pt x="272" y="368"/>
                  </a:cubicBezTo>
                  <a:cubicBezTo>
                    <a:pt x="272" y="259"/>
                    <a:pt x="272" y="259"/>
                    <a:pt x="272" y="259"/>
                  </a:cubicBezTo>
                  <a:lnTo>
                    <a:pt x="380" y="259"/>
                  </a:lnTo>
                  <a:close/>
                  <a:moveTo>
                    <a:pt x="272" y="177"/>
                  </a:moveTo>
                  <a:lnTo>
                    <a:pt x="272" y="177"/>
                  </a:lnTo>
                  <a:cubicBezTo>
                    <a:pt x="272" y="68"/>
                    <a:pt x="272" y="68"/>
                    <a:pt x="272" y="68"/>
                  </a:cubicBezTo>
                  <a:cubicBezTo>
                    <a:pt x="380" y="68"/>
                    <a:pt x="380" y="68"/>
                    <a:pt x="380" y="68"/>
                  </a:cubicBezTo>
                  <a:cubicBezTo>
                    <a:pt x="380" y="177"/>
                    <a:pt x="380" y="177"/>
                    <a:pt x="380" y="177"/>
                  </a:cubicBezTo>
                  <a:lnTo>
                    <a:pt x="272" y="177"/>
                  </a:lnTo>
                  <a:close/>
                  <a:moveTo>
                    <a:pt x="571" y="450"/>
                  </a:moveTo>
                  <a:lnTo>
                    <a:pt x="571" y="450"/>
                  </a:lnTo>
                  <a:cubicBezTo>
                    <a:pt x="571" y="558"/>
                    <a:pt x="571" y="558"/>
                    <a:pt x="571" y="558"/>
                  </a:cubicBezTo>
                  <a:cubicBezTo>
                    <a:pt x="476" y="558"/>
                    <a:pt x="476" y="558"/>
                    <a:pt x="476" y="558"/>
                  </a:cubicBezTo>
                  <a:cubicBezTo>
                    <a:pt x="476" y="450"/>
                    <a:pt x="476" y="450"/>
                    <a:pt x="476" y="450"/>
                  </a:cubicBezTo>
                  <a:lnTo>
                    <a:pt x="571" y="450"/>
                  </a:lnTo>
                  <a:close/>
                  <a:moveTo>
                    <a:pt x="476" y="368"/>
                  </a:moveTo>
                  <a:lnTo>
                    <a:pt x="476" y="368"/>
                  </a:lnTo>
                  <a:cubicBezTo>
                    <a:pt x="476" y="259"/>
                    <a:pt x="476" y="259"/>
                    <a:pt x="476" y="259"/>
                  </a:cubicBezTo>
                  <a:cubicBezTo>
                    <a:pt x="571" y="259"/>
                    <a:pt x="571" y="259"/>
                    <a:pt x="571" y="259"/>
                  </a:cubicBezTo>
                  <a:cubicBezTo>
                    <a:pt x="571" y="368"/>
                    <a:pt x="571" y="368"/>
                    <a:pt x="571" y="368"/>
                  </a:cubicBezTo>
                  <a:lnTo>
                    <a:pt x="476" y="368"/>
                  </a:lnTo>
                  <a:close/>
                  <a:moveTo>
                    <a:pt x="476" y="177"/>
                  </a:moveTo>
                  <a:lnTo>
                    <a:pt x="476" y="177"/>
                  </a:lnTo>
                  <a:cubicBezTo>
                    <a:pt x="476" y="68"/>
                    <a:pt x="476" y="68"/>
                    <a:pt x="476" y="68"/>
                  </a:cubicBezTo>
                  <a:cubicBezTo>
                    <a:pt x="571" y="68"/>
                    <a:pt x="571" y="68"/>
                    <a:pt x="571" y="68"/>
                  </a:cubicBezTo>
                  <a:cubicBezTo>
                    <a:pt x="571" y="177"/>
                    <a:pt x="571" y="177"/>
                    <a:pt x="571" y="177"/>
                  </a:cubicBezTo>
                  <a:lnTo>
                    <a:pt x="47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none" lIns="76183" tIns="38092" rIns="76183" bIns="38092" anchor="ctr"/>
            <a:lstStyle/>
            <a:p>
              <a:pPr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4" name="Group 67"/>
            <p:cNvGrpSpPr/>
            <p:nvPr/>
          </p:nvGrpSpPr>
          <p:grpSpPr>
            <a:xfrm>
              <a:off x="1761746" y="5452113"/>
              <a:ext cx="394912" cy="414654"/>
              <a:chOff x="6550342" y="10834538"/>
              <a:chExt cx="593638" cy="623070"/>
            </a:xfrm>
            <a:solidFill>
              <a:srgbClr val="FFFFFF"/>
            </a:solidFill>
          </p:grpSpPr>
          <p:sp>
            <p:nvSpPr>
              <p:cNvPr id="62" name="Freeform 220"/>
              <p:cNvSpPr>
                <a:spLocks noChangeArrowheads="1"/>
              </p:cNvSpPr>
              <p:nvPr/>
            </p:nvSpPr>
            <p:spPr bwMode="auto">
              <a:xfrm>
                <a:off x="6550342" y="10834540"/>
                <a:ext cx="209028" cy="401438"/>
              </a:xfrm>
              <a:custGeom>
                <a:avLst/>
                <a:gdLst>
                  <a:gd name="T0" fmla="*/ 218 w 219"/>
                  <a:gd name="T1" fmla="*/ 136 h 423"/>
                  <a:gd name="T2" fmla="*/ 218 w 219"/>
                  <a:gd name="T3" fmla="*/ 136 h 423"/>
                  <a:gd name="T4" fmla="*/ 54 w 219"/>
                  <a:gd name="T5" fmla="*/ 0 h 423"/>
                  <a:gd name="T6" fmla="*/ 0 w 219"/>
                  <a:gd name="T7" fmla="*/ 0 h 423"/>
                  <a:gd name="T8" fmla="*/ 0 w 219"/>
                  <a:gd name="T9" fmla="*/ 422 h 423"/>
                  <a:gd name="T10" fmla="*/ 41 w 219"/>
                  <a:gd name="T11" fmla="*/ 381 h 423"/>
                  <a:gd name="T12" fmla="*/ 54 w 219"/>
                  <a:gd name="T13" fmla="*/ 381 h 423"/>
                  <a:gd name="T14" fmla="*/ 218 w 219"/>
                  <a:gd name="T15" fmla="*/ 163 h 423"/>
                  <a:gd name="T16" fmla="*/ 218 w 219"/>
                  <a:gd name="T17" fmla="*/ 136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9" h="423">
                    <a:moveTo>
                      <a:pt x="218" y="136"/>
                    </a:moveTo>
                    <a:lnTo>
                      <a:pt x="218" y="136"/>
                    </a:lnTo>
                    <a:cubicBezTo>
                      <a:pt x="54" y="0"/>
                      <a:pt x="54" y="0"/>
                      <a:pt x="5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22"/>
                      <a:pt x="0" y="422"/>
                      <a:pt x="0" y="422"/>
                    </a:cubicBezTo>
                    <a:cubicBezTo>
                      <a:pt x="41" y="381"/>
                      <a:pt x="41" y="381"/>
                      <a:pt x="41" y="381"/>
                    </a:cubicBezTo>
                    <a:cubicBezTo>
                      <a:pt x="41" y="381"/>
                      <a:pt x="41" y="381"/>
                      <a:pt x="54" y="381"/>
                    </a:cubicBezTo>
                    <a:cubicBezTo>
                      <a:pt x="218" y="163"/>
                      <a:pt x="218" y="163"/>
                      <a:pt x="218" y="163"/>
                    </a:cubicBezTo>
                    <a:lnTo>
                      <a:pt x="218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Freeform 221"/>
              <p:cNvSpPr>
                <a:spLocks noChangeArrowheads="1"/>
              </p:cNvSpPr>
              <p:nvPr/>
            </p:nvSpPr>
            <p:spPr bwMode="auto">
              <a:xfrm>
                <a:off x="6654855" y="11311249"/>
                <a:ext cx="50167" cy="37636"/>
              </a:xfrm>
              <a:custGeom>
                <a:avLst/>
                <a:gdLst>
                  <a:gd name="T0" fmla="*/ 26 w 55"/>
                  <a:gd name="T1" fmla="*/ 0 h 41"/>
                  <a:gd name="T2" fmla="*/ 26 w 55"/>
                  <a:gd name="T3" fmla="*/ 0 h 41"/>
                  <a:gd name="T4" fmla="*/ 12 w 55"/>
                  <a:gd name="T5" fmla="*/ 0 h 41"/>
                  <a:gd name="T6" fmla="*/ 12 w 55"/>
                  <a:gd name="T7" fmla="*/ 27 h 41"/>
                  <a:gd name="T8" fmla="*/ 40 w 55"/>
                  <a:gd name="T9" fmla="*/ 27 h 41"/>
                  <a:gd name="T10" fmla="*/ 40 w 55"/>
                  <a:gd name="T11" fmla="*/ 0 h 41"/>
                  <a:gd name="T12" fmla="*/ 26 w 55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1">
                    <a:moveTo>
                      <a:pt x="26" y="0"/>
                    </a:moveTo>
                    <a:lnTo>
                      <a:pt x="26" y="0"/>
                    </a:lnTo>
                    <a:lnTo>
                      <a:pt x="12" y="0"/>
                    </a:lnTo>
                    <a:cubicBezTo>
                      <a:pt x="0" y="12"/>
                      <a:pt x="12" y="27"/>
                      <a:pt x="12" y="27"/>
                    </a:cubicBezTo>
                    <a:cubicBezTo>
                      <a:pt x="26" y="40"/>
                      <a:pt x="40" y="40"/>
                      <a:pt x="40" y="27"/>
                    </a:cubicBezTo>
                    <a:cubicBezTo>
                      <a:pt x="54" y="12"/>
                      <a:pt x="54" y="0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4" name="Freeform 222"/>
              <p:cNvSpPr>
                <a:spLocks noChangeArrowheads="1"/>
              </p:cNvSpPr>
              <p:nvPr/>
            </p:nvSpPr>
            <p:spPr bwMode="auto">
              <a:xfrm>
                <a:off x="6604690" y="11261068"/>
                <a:ext cx="54346" cy="54363"/>
              </a:xfrm>
              <a:custGeom>
                <a:avLst/>
                <a:gdLst>
                  <a:gd name="T0" fmla="*/ 28 w 57"/>
                  <a:gd name="T1" fmla="*/ 0 h 56"/>
                  <a:gd name="T2" fmla="*/ 28 w 57"/>
                  <a:gd name="T3" fmla="*/ 0 h 56"/>
                  <a:gd name="T4" fmla="*/ 14 w 57"/>
                  <a:gd name="T5" fmla="*/ 13 h 56"/>
                  <a:gd name="T6" fmla="*/ 14 w 57"/>
                  <a:gd name="T7" fmla="*/ 41 h 56"/>
                  <a:gd name="T8" fmla="*/ 42 w 57"/>
                  <a:gd name="T9" fmla="*/ 41 h 56"/>
                  <a:gd name="T10" fmla="*/ 42 w 57"/>
                  <a:gd name="T11" fmla="*/ 13 h 56"/>
                  <a:gd name="T12" fmla="*/ 28 w 57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" h="56">
                    <a:moveTo>
                      <a:pt x="28" y="0"/>
                    </a:moveTo>
                    <a:lnTo>
                      <a:pt x="28" y="0"/>
                    </a:lnTo>
                    <a:lnTo>
                      <a:pt x="14" y="13"/>
                    </a:lnTo>
                    <a:cubicBezTo>
                      <a:pt x="0" y="27"/>
                      <a:pt x="14" y="41"/>
                      <a:pt x="14" y="41"/>
                    </a:cubicBezTo>
                    <a:cubicBezTo>
                      <a:pt x="28" y="55"/>
                      <a:pt x="42" y="55"/>
                      <a:pt x="42" y="41"/>
                    </a:cubicBezTo>
                    <a:cubicBezTo>
                      <a:pt x="56" y="27"/>
                      <a:pt x="56" y="13"/>
                      <a:pt x="42" y="13"/>
                    </a:cubicBezTo>
                    <a:cubicBezTo>
                      <a:pt x="42" y="0"/>
                      <a:pt x="42" y="0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Freeform 223"/>
              <p:cNvSpPr>
                <a:spLocks noChangeArrowheads="1"/>
              </p:cNvSpPr>
              <p:nvPr/>
            </p:nvSpPr>
            <p:spPr bwMode="auto">
              <a:xfrm>
                <a:off x="6964218" y="10834538"/>
                <a:ext cx="179762" cy="334532"/>
              </a:xfrm>
              <a:custGeom>
                <a:avLst/>
                <a:gdLst>
                  <a:gd name="T0" fmla="*/ 108 w 191"/>
                  <a:gd name="T1" fmla="*/ 0 h 354"/>
                  <a:gd name="T2" fmla="*/ 0 w 191"/>
                  <a:gd name="T3" fmla="*/ 122 h 354"/>
                  <a:gd name="T4" fmla="*/ 190 w 191"/>
                  <a:gd name="T5" fmla="*/ 353 h 354"/>
                  <a:gd name="T6" fmla="*/ 190 w 191"/>
                  <a:gd name="T7" fmla="*/ 0 h 354"/>
                  <a:gd name="T8" fmla="*/ 108 w 191"/>
                  <a:gd name="T9" fmla="*/ 0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54">
                    <a:moveTo>
                      <a:pt x="108" y="0"/>
                    </a:moveTo>
                    <a:lnTo>
                      <a:pt x="0" y="122"/>
                    </a:lnTo>
                    <a:lnTo>
                      <a:pt x="190" y="353"/>
                    </a:lnTo>
                    <a:lnTo>
                      <a:pt x="190" y="0"/>
                    </a:lnTo>
                    <a:lnTo>
                      <a:pt x="108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6" name="Freeform 224"/>
              <p:cNvSpPr>
                <a:spLocks noChangeArrowheads="1"/>
              </p:cNvSpPr>
              <p:nvPr/>
            </p:nvSpPr>
            <p:spPr bwMode="auto">
              <a:xfrm>
                <a:off x="6705022" y="11348885"/>
                <a:ext cx="50167" cy="41816"/>
              </a:xfrm>
              <a:custGeom>
                <a:avLst/>
                <a:gdLst>
                  <a:gd name="T0" fmla="*/ 26 w 55"/>
                  <a:gd name="T1" fmla="*/ 0 h 42"/>
                  <a:gd name="T2" fmla="*/ 26 w 55"/>
                  <a:gd name="T3" fmla="*/ 0 h 42"/>
                  <a:gd name="T4" fmla="*/ 14 w 55"/>
                  <a:gd name="T5" fmla="*/ 0 h 42"/>
                  <a:gd name="T6" fmla="*/ 14 w 55"/>
                  <a:gd name="T7" fmla="*/ 41 h 42"/>
                  <a:gd name="T8" fmla="*/ 40 w 55"/>
                  <a:gd name="T9" fmla="*/ 28 h 42"/>
                  <a:gd name="T10" fmla="*/ 40 w 55"/>
                  <a:gd name="T11" fmla="*/ 0 h 42"/>
                  <a:gd name="T12" fmla="*/ 26 w 55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2">
                    <a:moveTo>
                      <a:pt x="26" y="0"/>
                    </a:moveTo>
                    <a:lnTo>
                      <a:pt x="26" y="0"/>
                    </a:lnTo>
                    <a:lnTo>
                      <a:pt x="14" y="0"/>
                    </a:lnTo>
                    <a:cubicBezTo>
                      <a:pt x="0" y="14"/>
                      <a:pt x="14" y="28"/>
                      <a:pt x="14" y="41"/>
                    </a:cubicBezTo>
                    <a:cubicBezTo>
                      <a:pt x="26" y="41"/>
                      <a:pt x="40" y="41"/>
                      <a:pt x="40" y="28"/>
                    </a:cubicBezTo>
                    <a:cubicBezTo>
                      <a:pt x="54" y="28"/>
                      <a:pt x="54" y="14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7" name="Freeform 225"/>
              <p:cNvSpPr>
                <a:spLocks noChangeArrowheads="1"/>
              </p:cNvSpPr>
              <p:nvPr/>
            </p:nvSpPr>
            <p:spPr bwMode="auto">
              <a:xfrm>
                <a:off x="6759368" y="10976718"/>
                <a:ext cx="351166" cy="246719"/>
              </a:xfrm>
              <a:custGeom>
                <a:avLst/>
                <a:gdLst>
                  <a:gd name="T0" fmla="*/ 14 w 369"/>
                  <a:gd name="T1" fmla="*/ 135 h 259"/>
                  <a:gd name="T2" fmla="*/ 14 w 369"/>
                  <a:gd name="T3" fmla="*/ 135 h 259"/>
                  <a:gd name="T4" fmla="*/ 0 w 369"/>
                  <a:gd name="T5" fmla="*/ 177 h 259"/>
                  <a:gd name="T6" fmla="*/ 41 w 369"/>
                  <a:gd name="T7" fmla="*/ 177 h 259"/>
                  <a:gd name="T8" fmla="*/ 123 w 369"/>
                  <a:gd name="T9" fmla="*/ 109 h 259"/>
                  <a:gd name="T10" fmla="*/ 123 w 369"/>
                  <a:gd name="T11" fmla="*/ 109 h 259"/>
                  <a:gd name="T12" fmla="*/ 135 w 369"/>
                  <a:gd name="T13" fmla="*/ 109 h 259"/>
                  <a:gd name="T14" fmla="*/ 135 w 369"/>
                  <a:gd name="T15" fmla="*/ 109 h 259"/>
                  <a:gd name="T16" fmla="*/ 135 w 369"/>
                  <a:gd name="T17" fmla="*/ 109 h 259"/>
                  <a:gd name="T18" fmla="*/ 135 w 369"/>
                  <a:gd name="T19" fmla="*/ 109 h 259"/>
                  <a:gd name="T20" fmla="*/ 135 w 369"/>
                  <a:gd name="T21" fmla="*/ 109 h 259"/>
                  <a:gd name="T22" fmla="*/ 231 w 369"/>
                  <a:gd name="T23" fmla="*/ 191 h 259"/>
                  <a:gd name="T24" fmla="*/ 231 w 369"/>
                  <a:gd name="T25" fmla="*/ 191 h 259"/>
                  <a:gd name="T26" fmla="*/ 300 w 369"/>
                  <a:gd name="T27" fmla="*/ 258 h 259"/>
                  <a:gd name="T28" fmla="*/ 368 w 369"/>
                  <a:gd name="T29" fmla="*/ 203 h 259"/>
                  <a:gd name="T30" fmla="*/ 204 w 369"/>
                  <a:gd name="T31" fmla="*/ 0 h 259"/>
                  <a:gd name="T32" fmla="*/ 14 w 369"/>
                  <a:gd name="T33" fmla="*/ 135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9" h="259">
                    <a:moveTo>
                      <a:pt x="14" y="135"/>
                    </a:moveTo>
                    <a:lnTo>
                      <a:pt x="14" y="135"/>
                    </a:lnTo>
                    <a:cubicBezTo>
                      <a:pt x="0" y="135"/>
                      <a:pt x="0" y="163"/>
                      <a:pt x="0" y="177"/>
                    </a:cubicBezTo>
                    <a:cubicBezTo>
                      <a:pt x="14" y="177"/>
                      <a:pt x="41" y="177"/>
                      <a:pt x="41" y="177"/>
                    </a:cubicBezTo>
                    <a:cubicBezTo>
                      <a:pt x="55" y="163"/>
                      <a:pt x="109" y="109"/>
                      <a:pt x="123" y="109"/>
                    </a:cubicBezTo>
                    <a:lnTo>
                      <a:pt x="123" y="109"/>
                    </a:lnTo>
                    <a:cubicBezTo>
                      <a:pt x="123" y="109"/>
                      <a:pt x="123" y="109"/>
                      <a:pt x="135" y="109"/>
                    </a:cubicBez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cubicBezTo>
                      <a:pt x="231" y="191"/>
                      <a:pt x="231" y="191"/>
                      <a:pt x="231" y="191"/>
                    </a:cubicBezTo>
                    <a:lnTo>
                      <a:pt x="231" y="191"/>
                    </a:lnTo>
                    <a:cubicBezTo>
                      <a:pt x="300" y="258"/>
                      <a:pt x="300" y="258"/>
                      <a:pt x="300" y="258"/>
                    </a:cubicBezTo>
                    <a:cubicBezTo>
                      <a:pt x="368" y="203"/>
                      <a:pt x="368" y="203"/>
                      <a:pt x="368" y="203"/>
                    </a:cubicBezTo>
                    <a:cubicBezTo>
                      <a:pt x="204" y="0"/>
                      <a:pt x="204" y="0"/>
                      <a:pt x="204" y="0"/>
                    </a:cubicBezTo>
                    <a:cubicBezTo>
                      <a:pt x="177" y="13"/>
                      <a:pt x="55" y="67"/>
                      <a:pt x="14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Freeform 226"/>
              <p:cNvSpPr>
                <a:spLocks noChangeArrowheads="1"/>
              </p:cNvSpPr>
              <p:nvPr/>
            </p:nvSpPr>
            <p:spPr bwMode="auto">
              <a:xfrm>
                <a:off x="6629773" y="11001807"/>
                <a:ext cx="438957" cy="426529"/>
              </a:xfrm>
              <a:custGeom>
                <a:avLst/>
                <a:gdLst>
                  <a:gd name="T0" fmla="*/ 259 w 463"/>
                  <a:gd name="T1" fmla="*/ 108 h 450"/>
                  <a:gd name="T2" fmla="*/ 259 w 463"/>
                  <a:gd name="T3" fmla="*/ 108 h 450"/>
                  <a:gd name="T4" fmla="*/ 204 w 463"/>
                  <a:gd name="T5" fmla="*/ 164 h 450"/>
                  <a:gd name="T6" fmla="*/ 122 w 463"/>
                  <a:gd name="T7" fmla="*/ 164 h 450"/>
                  <a:gd name="T8" fmla="*/ 122 w 463"/>
                  <a:gd name="T9" fmla="*/ 94 h 450"/>
                  <a:gd name="T10" fmla="*/ 217 w 463"/>
                  <a:gd name="T11" fmla="*/ 0 h 450"/>
                  <a:gd name="T12" fmla="*/ 150 w 463"/>
                  <a:gd name="T13" fmla="*/ 13 h 450"/>
                  <a:gd name="T14" fmla="*/ 0 w 463"/>
                  <a:gd name="T15" fmla="*/ 218 h 450"/>
                  <a:gd name="T16" fmla="*/ 271 w 463"/>
                  <a:gd name="T17" fmla="*/ 449 h 450"/>
                  <a:gd name="T18" fmla="*/ 286 w 463"/>
                  <a:gd name="T19" fmla="*/ 449 h 450"/>
                  <a:gd name="T20" fmla="*/ 286 w 463"/>
                  <a:gd name="T21" fmla="*/ 449 h 450"/>
                  <a:gd name="T22" fmla="*/ 299 w 463"/>
                  <a:gd name="T23" fmla="*/ 449 h 450"/>
                  <a:gd name="T24" fmla="*/ 313 w 463"/>
                  <a:gd name="T25" fmla="*/ 435 h 450"/>
                  <a:gd name="T26" fmla="*/ 299 w 463"/>
                  <a:gd name="T27" fmla="*/ 422 h 450"/>
                  <a:gd name="T28" fmla="*/ 204 w 463"/>
                  <a:gd name="T29" fmla="*/ 339 h 450"/>
                  <a:gd name="T30" fmla="*/ 204 w 463"/>
                  <a:gd name="T31" fmla="*/ 313 h 450"/>
                  <a:gd name="T32" fmla="*/ 231 w 463"/>
                  <a:gd name="T33" fmla="*/ 313 h 450"/>
                  <a:gd name="T34" fmla="*/ 245 w 463"/>
                  <a:gd name="T35" fmla="*/ 327 h 450"/>
                  <a:gd name="T36" fmla="*/ 245 w 463"/>
                  <a:gd name="T37" fmla="*/ 327 h 450"/>
                  <a:gd name="T38" fmla="*/ 327 w 463"/>
                  <a:gd name="T39" fmla="*/ 395 h 450"/>
                  <a:gd name="T40" fmla="*/ 327 w 463"/>
                  <a:gd name="T41" fmla="*/ 395 h 450"/>
                  <a:gd name="T42" fmla="*/ 340 w 463"/>
                  <a:gd name="T43" fmla="*/ 408 h 450"/>
                  <a:gd name="T44" fmla="*/ 354 w 463"/>
                  <a:gd name="T45" fmla="*/ 408 h 450"/>
                  <a:gd name="T46" fmla="*/ 367 w 463"/>
                  <a:gd name="T47" fmla="*/ 408 h 450"/>
                  <a:gd name="T48" fmla="*/ 367 w 463"/>
                  <a:gd name="T49" fmla="*/ 381 h 450"/>
                  <a:gd name="T50" fmla="*/ 271 w 463"/>
                  <a:gd name="T51" fmla="*/ 299 h 450"/>
                  <a:gd name="T52" fmla="*/ 271 w 463"/>
                  <a:gd name="T53" fmla="*/ 272 h 450"/>
                  <a:gd name="T54" fmla="*/ 286 w 463"/>
                  <a:gd name="T55" fmla="*/ 272 h 450"/>
                  <a:gd name="T56" fmla="*/ 299 w 463"/>
                  <a:gd name="T57" fmla="*/ 285 h 450"/>
                  <a:gd name="T58" fmla="*/ 381 w 463"/>
                  <a:gd name="T59" fmla="*/ 354 h 450"/>
                  <a:gd name="T60" fmla="*/ 381 w 463"/>
                  <a:gd name="T61" fmla="*/ 367 h 450"/>
                  <a:gd name="T62" fmla="*/ 394 w 463"/>
                  <a:gd name="T63" fmla="*/ 367 h 450"/>
                  <a:gd name="T64" fmla="*/ 394 w 463"/>
                  <a:gd name="T65" fmla="*/ 367 h 450"/>
                  <a:gd name="T66" fmla="*/ 394 w 463"/>
                  <a:gd name="T67" fmla="*/ 367 h 450"/>
                  <a:gd name="T68" fmla="*/ 394 w 463"/>
                  <a:gd name="T69" fmla="*/ 367 h 450"/>
                  <a:gd name="T70" fmla="*/ 394 w 463"/>
                  <a:gd name="T71" fmla="*/ 367 h 450"/>
                  <a:gd name="T72" fmla="*/ 408 w 463"/>
                  <a:gd name="T73" fmla="*/ 354 h 450"/>
                  <a:gd name="T74" fmla="*/ 408 w 463"/>
                  <a:gd name="T75" fmla="*/ 327 h 450"/>
                  <a:gd name="T76" fmla="*/ 313 w 463"/>
                  <a:gd name="T77" fmla="*/ 245 h 450"/>
                  <a:gd name="T78" fmla="*/ 313 w 463"/>
                  <a:gd name="T79" fmla="*/ 245 h 450"/>
                  <a:gd name="T80" fmla="*/ 313 w 463"/>
                  <a:gd name="T81" fmla="*/ 245 h 450"/>
                  <a:gd name="T82" fmla="*/ 313 w 463"/>
                  <a:gd name="T83" fmla="*/ 218 h 450"/>
                  <a:gd name="T84" fmla="*/ 327 w 463"/>
                  <a:gd name="T85" fmla="*/ 218 h 450"/>
                  <a:gd name="T86" fmla="*/ 422 w 463"/>
                  <a:gd name="T87" fmla="*/ 299 h 450"/>
                  <a:gd name="T88" fmla="*/ 422 w 463"/>
                  <a:gd name="T89" fmla="*/ 299 h 450"/>
                  <a:gd name="T90" fmla="*/ 436 w 463"/>
                  <a:gd name="T91" fmla="*/ 299 h 450"/>
                  <a:gd name="T92" fmla="*/ 436 w 463"/>
                  <a:gd name="T93" fmla="*/ 299 h 450"/>
                  <a:gd name="T94" fmla="*/ 450 w 463"/>
                  <a:gd name="T95" fmla="*/ 299 h 450"/>
                  <a:gd name="T96" fmla="*/ 450 w 463"/>
                  <a:gd name="T97" fmla="*/ 272 h 450"/>
                  <a:gd name="T98" fmla="*/ 259 w 463"/>
                  <a:gd name="T99" fmla="*/ 108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3" h="450">
                    <a:moveTo>
                      <a:pt x="259" y="108"/>
                    </a:moveTo>
                    <a:lnTo>
                      <a:pt x="259" y="108"/>
                    </a:lnTo>
                    <a:cubicBezTo>
                      <a:pt x="245" y="122"/>
                      <a:pt x="217" y="136"/>
                      <a:pt x="204" y="164"/>
                    </a:cubicBezTo>
                    <a:cubicBezTo>
                      <a:pt x="177" y="190"/>
                      <a:pt x="150" y="190"/>
                      <a:pt x="122" y="164"/>
                    </a:cubicBezTo>
                    <a:cubicBezTo>
                      <a:pt x="96" y="150"/>
                      <a:pt x="108" y="108"/>
                      <a:pt x="122" y="94"/>
                    </a:cubicBezTo>
                    <a:cubicBezTo>
                      <a:pt x="136" y="54"/>
                      <a:pt x="177" y="27"/>
                      <a:pt x="217" y="0"/>
                    </a:cubicBezTo>
                    <a:cubicBezTo>
                      <a:pt x="150" y="13"/>
                      <a:pt x="150" y="13"/>
                      <a:pt x="150" y="13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271" y="449"/>
                      <a:pt x="271" y="449"/>
                      <a:pt x="271" y="449"/>
                    </a:cubicBezTo>
                    <a:cubicBezTo>
                      <a:pt x="286" y="449"/>
                      <a:pt x="286" y="449"/>
                      <a:pt x="286" y="449"/>
                    </a:cubicBezTo>
                    <a:lnTo>
                      <a:pt x="286" y="449"/>
                    </a:lnTo>
                    <a:cubicBezTo>
                      <a:pt x="299" y="449"/>
                      <a:pt x="299" y="449"/>
                      <a:pt x="299" y="449"/>
                    </a:cubicBezTo>
                    <a:cubicBezTo>
                      <a:pt x="313" y="435"/>
                      <a:pt x="313" y="435"/>
                      <a:pt x="313" y="435"/>
                    </a:cubicBezTo>
                    <a:cubicBezTo>
                      <a:pt x="313" y="422"/>
                      <a:pt x="313" y="422"/>
                      <a:pt x="299" y="422"/>
                    </a:cubicBezTo>
                    <a:cubicBezTo>
                      <a:pt x="204" y="339"/>
                      <a:pt x="204" y="339"/>
                      <a:pt x="204" y="339"/>
                    </a:cubicBezTo>
                    <a:cubicBezTo>
                      <a:pt x="204" y="339"/>
                      <a:pt x="204" y="327"/>
                      <a:pt x="204" y="313"/>
                    </a:cubicBezTo>
                    <a:cubicBezTo>
                      <a:pt x="217" y="313"/>
                      <a:pt x="217" y="313"/>
                      <a:pt x="231" y="313"/>
                    </a:cubicBezTo>
                    <a:cubicBezTo>
                      <a:pt x="245" y="327"/>
                      <a:pt x="245" y="327"/>
                      <a:pt x="245" y="327"/>
                    </a:cubicBezTo>
                    <a:lnTo>
                      <a:pt x="245" y="327"/>
                    </a:lnTo>
                    <a:cubicBezTo>
                      <a:pt x="327" y="395"/>
                      <a:pt x="327" y="395"/>
                      <a:pt x="327" y="395"/>
                    </a:cubicBezTo>
                    <a:lnTo>
                      <a:pt x="327" y="395"/>
                    </a:lnTo>
                    <a:cubicBezTo>
                      <a:pt x="340" y="408"/>
                      <a:pt x="340" y="408"/>
                      <a:pt x="340" y="408"/>
                    </a:cubicBezTo>
                    <a:cubicBezTo>
                      <a:pt x="340" y="408"/>
                      <a:pt x="340" y="408"/>
                      <a:pt x="354" y="408"/>
                    </a:cubicBezTo>
                    <a:cubicBezTo>
                      <a:pt x="354" y="408"/>
                      <a:pt x="354" y="408"/>
                      <a:pt x="367" y="408"/>
                    </a:cubicBezTo>
                    <a:cubicBezTo>
                      <a:pt x="367" y="395"/>
                      <a:pt x="367" y="381"/>
                      <a:pt x="367" y="381"/>
                    </a:cubicBezTo>
                    <a:cubicBezTo>
                      <a:pt x="271" y="299"/>
                      <a:pt x="271" y="299"/>
                      <a:pt x="271" y="299"/>
                    </a:cubicBezTo>
                    <a:cubicBezTo>
                      <a:pt x="259" y="285"/>
                      <a:pt x="259" y="285"/>
                      <a:pt x="271" y="272"/>
                    </a:cubicBezTo>
                    <a:lnTo>
                      <a:pt x="286" y="272"/>
                    </a:lnTo>
                    <a:cubicBezTo>
                      <a:pt x="299" y="285"/>
                      <a:pt x="299" y="285"/>
                      <a:pt x="299" y="285"/>
                    </a:cubicBezTo>
                    <a:cubicBezTo>
                      <a:pt x="381" y="354"/>
                      <a:pt x="381" y="354"/>
                      <a:pt x="381" y="354"/>
                    </a:cubicBezTo>
                    <a:cubicBezTo>
                      <a:pt x="381" y="367"/>
                      <a:pt x="381" y="367"/>
                      <a:pt x="381" y="367"/>
                    </a:cubicBezTo>
                    <a:cubicBezTo>
                      <a:pt x="394" y="367"/>
                      <a:pt x="394" y="367"/>
                      <a:pt x="394" y="367"/>
                    </a:cubicBez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cubicBezTo>
                      <a:pt x="408" y="367"/>
                      <a:pt x="408" y="354"/>
                      <a:pt x="408" y="354"/>
                    </a:cubicBezTo>
                    <a:cubicBezTo>
                      <a:pt x="422" y="339"/>
                      <a:pt x="422" y="339"/>
                      <a:pt x="408" y="327"/>
                    </a:cubicBezTo>
                    <a:cubicBezTo>
                      <a:pt x="313" y="245"/>
                      <a:pt x="313" y="245"/>
                      <a:pt x="313" y="245"/>
                    </a:cubicBezTo>
                    <a:lnTo>
                      <a:pt x="313" y="245"/>
                    </a:lnTo>
                    <a:lnTo>
                      <a:pt x="313" y="245"/>
                    </a:lnTo>
                    <a:cubicBezTo>
                      <a:pt x="299" y="231"/>
                      <a:pt x="299" y="231"/>
                      <a:pt x="313" y="218"/>
                    </a:cubicBezTo>
                    <a:lnTo>
                      <a:pt x="327" y="218"/>
                    </a:lnTo>
                    <a:cubicBezTo>
                      <a:pt x="422" y="299"/>
                      <a:pt x="422" y="299"/>
                      <a:pt x="422" y="299"/>
                    </a:cubicBezTo>
                    <a:lnTo>
                      <a:pt x="422" y="299"/>
                    </a:lnTo>
                    <a:lnTo>
                      <a:pt x="436" y="299"/>
                    </a:lnTo>
                    <a:lnTo>
                      <a:pt x="436" y="299"/>
                    </a:lnTo>
                    <a:lnTo>
                      <a:pt x="450" y="299"/>
                    </a:lnTo>
                    <a:cubicBezTo>
                      <a:pt x="462" y="285"/>
                      <a:pt x="450" y="272"/>
                      <a:pt x="450" y="272"/>
                    </a:cubicBezTo>
                    <a:lnTo>
                      <a:pt x="259" y="108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9" name="Freeform 227"/>
              <p:cNvSpPr>
                <a:spLocks noChangeArrowheads="1"/>
              </p:cNvSpPr>
              <p:nvPr/>
            </p:nvSpPr>
            <p:spPr bwMode="auto">
              <a:xfrm>
                <a:off x="6759368" y="11390700"/>
                <a:ext cx="54349" cy="50180"/>
              </a:xfrm>
              <a:custGeom>
                <a:avLst/>
                <a:gdLst>
                  <a:gd name="T0" fmla="*/ 27 w 56"/>
                  <a:gd name="T1" fmla="*/ 0 h 55"/>
                  <a:gd name="T2" fmla="*/ 27 w 56"/>
                  <a:gd name="T3" fmla="*/ 0 h 55"/>
                  <a:gd name="T4" fmla="*/ 14 w 56"/>
                  <a:gd name="T5" fmla="*/ 14 h 55"/>
                  <a:gd name="T6" fmla="*/ 14 w 56"/>
                  <a:gd name="T7" fmla="*/ 41 h 55"/>
                  <a:gd name="T8" fmla="*/ 41 w 56"/>
                  <a:gd name="T9" fmla="*/ 41 h 55"/>
                  <a:gd name="T10" fmla="*/ 41 w 56"/>
                  <a:gd name="T11" fmla="*/ 0 h 55"/>
                  <a:gd name="T12" fmla="*/ 27 w 56"/>
                  <a:gd name="T1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55">
                    <a:moveTo>
                      <a:pt x="27" y="0"/>
                    </a:moveTo>
                    <a:lnTo>
                      <a:pt x="27" y="0"/>
                    </a:lnTo>
                    <a:cubicBezTo>
                      <a:pt x="27" y="0"/>
                      <a:pt x="14" y="0"/>
                      <a:pt x="14" y="14"/>
                    </a:cubicBezTo>
                    <a:cubicBezTo>
                      <a:pt x="0" y="14"/>
                      <a:pt x="14" y="27"/>
                      <a:pt x="14" y="41"/>
                    </a:cubicBezTo>
                    <a:cubicBezTo>
                      <a:pt x="27" y="54"/>
                      <a:pt x="41" y="41"/>
                      <a:pt x="41" y="41"/>
                    </a:cubicBezTo>
                    <a:cubicBezTo>
                      <a:pt x="55" y="27"/>
                      <a:pt x="55" y="14"/>
                      <a:pt x="41" y="0"/>
                    </a:cubicBezTo>
                    <a:cubicBezTo>
                      <a:pt x="41" y="0"/>
                      <a:pt x="41" y="0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Freeform 228"/>
              <p:cNvSpPr>
                <a:spLocks noChangeArrowheads="1"/>
              </p:cNvSpPr>
              <p:nvPr/>
            </p:nvSpPr>
            <p:spPr bwMode="auto">
              <a:xfrm>
                <a:off x="6901508" y="11453424"/>
                <a:ext cx="4181" cy="4184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5" name="Group 77"/>
            <p:cNvGrpSpPr/>
            <p:nvPr/>
          </p:nvGrpSpPr>
          <p:grpSpPr>
            <a:xfrm>
              <a:off x="2938153" y="5470202"/>
              <a:ext cx="422725" cy="378475"/>
              <a:chOff x="13222514" y="10847085"/>
              <a:chExt cx="635447" cy="568706"/>
            </a:xfrm>
            <a:solidFill>
              <a:srgbClr val="FFFFFF"/>
            </a:solidFill>
          </p:grpSpPr>
          <p:sp>
            <p:nvSpPr>
              <p:cNvPr id="59" name="Freeform 245"/>
              <p:cNvSpPr>
                <a:spLocks noChangeArrowheads="1"/>
              </p:cNvSpPr>
              <p:nvPr/>
            </p:nvSpPr>
            <p:spPr bwMode="auto">
              <a:xfrm>
                <a:off x="13276865" y="11323795"/>
                <a:ext cx="41805" cy="41816"/>
              </a:xfrm>
              <a:custGeom>
                <a:avLst/>
                <a:gdLst>
                  <a:gd name="T0" fmla="*/ 14 w 42"/>
                  <a:gd name="T1" fmla="*/ 42 h 43"/>
                  <a:gd name="T2" fmla="*/ 14 w 42"/>
                  <a:gd name="T3" fmla="*/ 42 h 43"/>
                  <a:gd name="T4" fmla="*/ 41 w 42"/>
                  <a:gd name="T5" fmla="*/ 28 h 43"/>
                  <a:gd name="T6" fmla="*/ 14 w 42"/>
                  <a:gd name="T7" fmla="*/ 0 h 43"/>
                  <a:gd name="T8" fmla="*/ 0 w 42"/>
                  <a:gd name="T9" fmla="*/ 28 h 43"/>
                  <a:gd name="T10" fmla="*/ 14 w 42"/>
                  <a:gd name="T11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3">
                    <a:moveTo>
                      <a:pt x="14" y="42"/>
                    </a:moveTo>
                    <a:lnTo>
                      <a:pt x="14" y="42"/>
                    </a:lnTo>
                    <a:cubicBezTo>
                      <a:pt x="28" y="42"/>
                      <a:pt x="41" y="42"/>
                      <a:pt x="41" y="28"/>
                    </a:cubicBezTo>
                    <a:cubicBezTo>
                      <a:pt x="41" y="15"/>
                      <a:pt x="28" y="0"/>
                      <a:pt x="14" y="0"/>
                    </a:cubicBezTo>
                    <a:cubicBezTo>
                      <a:pt x="14" y="0"/>
                      <a:pt x="0" y="15"/>
                      <a:pt x="0" y="28"/>
                    </a:cubicBezTo>
                    <a:cubicBezTo>
                      <a:pt x="0" y="42"/>
                      <a:pt x="14" y="42"/>
                      <a:pt x="14" y="4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Freeform 246"/>
              <p:cNvSpPr>
                <a:spLocks noChangeArrowheads="1"/>
              </p:cNvSpPr>
              <p:nvPr/>
            </p:nvSpPr>
            <p:spPr bwMode="auto">
              <a:xfrm>
                <a:off x="13222514" y="11068713"/>
                <a:ext cx="167223" cy="347078"/>
              </a:xfrm>
              <a:custGeom>
                <a:avLst/>
                <a:gdLst>
                  <a:gd name="T0" fmla="*/ 0 w 177"/>
                  <a:gd name="T1" fmla="*/ 367 h 368"/>
                  <a:gd name="T2" fmla="*/ 0 w 177"/>
                  <a:gd name="T3" fmla="*/ 367 h 368"/>
                  <a:gd name="T4" fmla="*/ 176 w 177"/>
                  <a:gd name="T5" fmla="*/ 367 h 368"/>
                  <a:gd name="T6" fmla="*/ 176 w 177"/>
                  <a:gd name="T7" fmla="*/ 0 h 368"/>
                  <a:gd name="T8" fmla="*/ 0 w 177"/>
                  <a:gd name="T9" fmla="*/ 0 h 368"/>
                  <a:gd name="T10" fmla="*/ 0 w 177"/>
                  <a:gd name="T11" fmla="*/ 367 h 368"/>
                  <a:gd name="T12" fmla="*/ 95 w 177"/>
                  <a:gd name="T13" fmla="*/ 26 h 368"/>
                  <a:gd name="T14" fmla="*/ 95 w 177"/>
                  <a:gd name="T15" fmla="*/ 26 h 368"/>
                  <a:gd name="T16" fmla="*/ 122 w 177"/>
                  <a:gd name="T17" fmla="*/ 26 h 368"/>
                  <a:gd name="T18" fmla="*/ 122 w 177"/>
                  <a:gd name="T19" fmla="*/ 231 h 368"/>
                  <a:gd name="T20" fmla="*/ 95 w 177"/>
                  <a:gd name="T21" fmla="*/ 231 h 368"/>
                  <a:gd name="T22" fmla="*/ 95 w 177"/>
                  <a:gd name="T23" fmla="*/ 26 h 368"/>
                  <a:gd name="T24" fmla="*/ 68 w 177"/>
                  <a:gd name="T25" fmla="*/ 245 h 368"/>
                  <a:gd name="T26" fmla="*/ 68 w 177"/>
                  <a:gd name="T27" fmla="*/ 245 h 368"/>
                  <a:gd name="T28" fmla="*/ 122 w 177"/>
                  <a:gd name="T29" fmla="*/ 299 h 368"/>
                  <a:gd name="T30" fmla="*/ 68 w 177"/>
                  <a:gd name="T31" fmla="*/ 340 h 368"/>
                  <a:gd name="T32" fmla="*/ 27 w 177"/>
                  <a:gd name="T33" fmla="*/ 299 h 368"/>
                  <a:gd name="T34" fmla="*/ 68 w 177"/>
                  <a:gd name="T35" fmla="*/ 245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7" h="368">
                    <a:moveTo>
                      <a:pt x="0" y="367"/>
                    </a:moveTo>
                    <a:lnTo>
                      <a:pt x="0" y="367"/>
                    </a:lnTo>
                    <a:cubicBezTo>
                      <a:pt x="176" y="367"/>
                      <a:pt x="176" y="367"/>
                      <a:pt x="176" y="367"/>
                    </a:cubicBezTo>
                    <a:cubicBezTo>
                      <a:pt x="176" y="0"/>
                      <a:pt x="176" y="0"/>
                      <a:pt x="17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67"/>
                    </a:lnTo>
                    <a:close/>
                    <a:moveTo>
                      <a:pt x="95" y="26"/>
                    </a:moveTo>
                    <a:lnTo>
                      <a:pt x="95" y="26"/>
                    </a:ln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31"/>
                      <a:pt x="122" y="231"/>
                      <a:pt x="122" y="231"/>
                    </a:cubicBezTo>
                    <a:cubicBezTo>
                      <a:pt x="95" y="231"/>
                      <a:pt x="95" y="231"/>
                      <a:pt x="95" y="231"/>
                    </a:cubicBezTo>
                    <a:lnTo>
                      <a:pt x="95" y="26"/>
                    </a:lnTo>
                    <a:close/>
                    <a:moveTo>
                      <a:pt x="68" y="245"/>
                    </a:moveTo>
                    <a:lnTo>
                      <a:pt x="68" y="245"/>
                    </a:lnTo>
                    <a:cubicBezTo>
                      <a:pt x="95" y="245"/>
                      <a:pt x="122" y="271"/>
                      <a:pt x="122" y="299"/>
                    </a:cubicBezTo>
                    <a:cubicBezTo>
                      <a:pt x="122" y="327"/>
                      <a:pt x="95" y="340"/>
                      <a:pt x="68" y="340"/>
                    </a:cubicBezTo>
                    <a:cubicBezTo>
                      <a:pt x="41" y="340"/>
                      <a:pt x="27" y="327"/>
                      <a:pt x="27" y="299"/>
                    </a:cubicBezTo>
                    <a:cubicBezTo>
                      <a:pt x="27" y="271"/>
                      <a:pt x="41" y="245"/>
                      <a:pt x="68" y="24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Freeform 247"/>
              <p:cNvSpPr>
                <a:spLocks noChangeArrowheads="1"/>
              </p:cNvSpPr>
              <p:nvPr/>
            </p:nvSpPr>
            <p:spPr bwMode="auto">
              <a:xfrm>
                <a:off x="13419004" y="10847085"/>
                <a:ext cx="438957" cy="518524"/>
              </a:xfrm>
              <a:custGeom>
                <a:avLst/>
                <a:gdLst>
                  <a:gd name="T0" fmla="*/ 436 w 464"/>
                  <a:gd name="T1" fmla="*/ 300 h 546"/>
                  <a:gd name="T2" fmla="*/ 436 w 464"/>
                  <a:gd name="T3" fmla="*/ 300 h 546"/>
                  <a:gd name="T4" fmla="*/ 463 w 464"/>
                  <a:gd name="T5" fmla="*/ 258 h 546"/>
                  <a:gd name="T6" fmla="*/ 408 w 464"/>
                  <a:gd name="T7" fmla="*/ 218 h 546"/>
                  <a:gd name="T8" fmla="*/ 314 w 464"/>
                  <a:gd name="T9" fmla="*/ 218 h 546"/>
                  <a:gd name="T10" fmla="*/ 394 w 464"/>
                  <a:gd name="T11" fmla="*/ 95 h 546"/>
                  <a:gd name="T12" fmla="*/ 382 w 464"/>
                  <a:gd name="T13" fmla="*/ 27 h 546"/>
                  <a:gd name="T14" fmla="*/ 326 w 464"/>
                  <a:gd name="T15" fmla="*/ 0 h 546"/>
                  <a:gd name="T16" fmla="*/ 326 w 464"/>
                  <a:gd name="T17" fmla="*/ 0 h 546"/>
                  <a:gd name="T18" fmla="*/ 326 w 464"/>
                  <a:gd name="T19" fmla="*/ 0 h 546"/>
                  <a:gd name="T20" fmla="*/ 218 w 464"/>
                  <a:gd name="T21" fmla="*/ 123 h 546"/>
                  <a:gd name="T22" fmla="*/ 41 w 464"/>
                  <a:gd name="T23" fmla="*/ 272 h 546"/>
                  <a:gd name="T24" fmla="*/ 0 w 464"/>
                  <a:gd name="T25" fmla="*/ 272 h 546"/>
                  <a:gd name="T26" fmla="*/ 0 w 464"/>
                  <a:gd name="T27" fmla="*/ 518 h 546"/>
                  <a:gd name="T28" fmla="*/ 0 w 464"/>
                  <a:gd name="T29" fmla="*/ 518 h 546"/>
                  <a:gd name="T30" fmla="*/ 14 w 464"/>
                  <a:gd name="T31" fmla="*/ 518 h 546"/>
                  <a:gd name="T32" fmla="*/ 81 w 464"/>
                  <a:gd name="T33" fmla="*/ 531 h 546"/>
                  <a:gd name="T34" fmla="*/ 135 w 464"/>
                  <a:gd name="T35" fmla="*/ 545 h 546"/>
                  <a:gd name="T36" fmla="*/ 231 w 464"/>
                  <a:gd name="T37" fmla="*/ 531 h 546"/>
                  <a:gd name="T38" fmla="*/ 368 w 464"/>
                  <a:gd name="T39" fmla="*/ 531 h 546"/>
                  <a:gd name="T40" fmla="*/ 408 w 464"/>
                  <a:gd name="T41" fmla="*/ 491 h 546"/>
                  <a:gd name="T42" fmla="*/ 394 w 464"/>
                  <a:gd name="T43" fmla="*/ 449 h 546"/>
                  <a:gd name="T44" fmla="*/ 394 w 464"/>
                  <a:gd name="T45" fmla="*/ 449 h 546"/>
                  <a:gd name="T46" fmla="*/ 449 w 464"/>
                  <a:gd name="T47" fmla="*/ 409 h 546"/>
                  <a:gd name="T48" fmla="*/ 422 w 464"/>
                  <a:gd name="T49" fmla="*/ 382 h 546"/>
                  <a:gd name="T50" fmla="*/ 463 w 464"/>
                  <a:gd name="T51" fmla="*/ 328 h 546"/>
                  <a:gd name="T52" fmla="*/ 436 w 464"/>
                  <a:gd name="T53" fmla="*/ 300 h 546"/>
                  <a:gd name="T54" fmla="*/ 204 w 464"/>
                  <a:gd name="T55" fmla="*/ 204 h 546"/>
                  <a:gd name="T56" fmla="*/ 204 w 464"/>
                  <a:gd name="T57" fmla="*/ 204 h 546"/>
                  <a:gd name="T58" fmla="*/ 123 w 464"/>
                  <a:gd name="T59" fmla="*/ 300 h 546"/>
                  <a:gd name="T60" fmla="*/ 109 w 464"/>
                  <a:gd name="T61" fmla="*/ 314 h 546"/>
                  <a:gd name="T62" fmla="*/ 109 w 464"/>
                  <a:gd name="T63" fmla="*/ 314 h 546"/>
                  <a:gd name="T64" fmla="*/ 95 w 464"/>
                  <a:gd name="T65" fmla="*/ 286 h 546"/>
                  <a:gd name="T66" fmla="*/ 191 w 464"/>
                  <a:gd name="T67" fmla="*/ 191 h 546"/>
                  <a:gd name="T68" fmla="*/ 218 w 464"/>
                  <a:gd name="T69" fmla="*/ 191 h 546"/>
                  <a:gd name="T70" fmla="*/ 204 w 464"/>
                  <a:gd name="T71" fmla="*/ 204 h 5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64" h="546">
                    <a:moveTo>
                      <a:pt x="436" y="300"/>
                    </a:moveTo>
                    <a:lnTo>
                      <a:pt x="436" y="300"/>
                    </a:lnTo>
                    <a:cubicBezTo>
                      <a:pt x="449" y="286"/>
                      <a:pt x="463" y="272"/>
                      <a:pt x="463" y="258"/>
                    </a:cubicBezTo>
                    <a:cubicBezTo>
                      <a:pt x="463" y="232"/>
                      <a:pt x="436" y="218"/>
                      <a:pt x="408" y="218"/>
                    </a:cubicBezTo>
                    <a:cubicBezTo>
                      <a:pt x="314" y="218"/>
                      <a:pt x="314" y="218"/>
                      <a:pt x="314" y="218"/>
                    </a:cubicBezTo>
                    <a:cubicBezTo>
                      <a:pt x="340" y="191"/>
                      <a:pt x="382" y="150"/>
                      <a:pt x="394" y="95"/>
                    </a:cubicBezTo>
                    <a:cubicBezTo>
                      <a:pt x="394" y="69"/>
                      <a:pt x="394" y="41"/>
                      <a:pt x="382" y="27"/>
                    </a:cubicBezTo>
                    <a:cubicBezTo>
                      <a:pt x="368" y="0"/>
                      <a:pt x="326" y="0"/>
                      <a:pt x="326" y="0"/>
                    </a:cubicBezTo>
                    <a:lnTo>
                      <a:pt x="326" y="0"/>
                    </a:lnTo>
                    <a:lnTo>
                      <a:pt x="326" y="0"/>
                    </a:lnTo>
                    <a:cubicBezTo>
                      <a:pt x="326" y="27"/>
                      <a:pt x="314" y="69"/>
                      <a:pt x="218" y="123"/>
                    </a:cubicBezTo>
                    <a:cubicBezTo>
                      <a:pt x="123" y="191"/>
                      <a:pt x="55" y="258"/>
                      <a:pt x="41" y="272"/>
                    </a:cubicBezTo>
                    <a:cubicBezTo>
                      <a:pt x="0" y="272"/>
                      <a:pt x="0" y="272"/>
                      <a:pt x="0" y="272"/>
                    </a:cubicBezTo>
                    <a:cubicBezTo>
                      <a:pt x="0" y="518"/>
                      <a:pt x="0" y="518"/>
                      <a:pt x="0" y="518"/>
                    </a:cubicBezTo>
                    <a:lnTo>
                      <a:pt x="0" y="518"/>
                    </a:lnTo>
                    <a:cubicBezTo>
                      <a:pt x="0" y="518"/>
                      <a:pt x="0" y="518"/>
                      <a:pt x="14" y="518"/>
                    </a:cubicBezTo>
                    <a:cubicBezTo>
                      <a:pt x="27" y="518"/>
                      <a:pt x="55" y="518"/>
                      <a:pt x="81" y="531"/>
                    </a:cubicBezTo>
                    <a:cubicBezTo>
                      <a:pt x="95" y="531"/>
                      <a:pt x="109" y="545"/>
                      <a:pt x="135" y="545"/>
                    </a:cubicBezTo>
                    <a:cubicBezTo>
                      <a:pt x="177" y="545"/>
                      <a:pt x="231" y="531"/>
                      <a:pt x="231" y="531"/>
                    </a:cubicBezTo>
                    <a:cubicBezTo>
                      <a:pt x="368" y="531"/>
                      <a:pt x="368" y="531"/>
                      <a:pt x="368" y="531"/>
                    </a:cubicBezTo>
                    <a:cubicBezTo>
                      <a:pt x="394" y="531"/>
                      <a:pt x="408" y="518"/>
                      <a:pt x="408" y="491"/>
                    </a:cubicBezTo>
                    <a:cubicBezTo>
                      <a:pt x="408" y="477"/>
                      <a:pt x="408" y="463"/>
                      <a:pt x="394" y="449"/>
                    </a:cubicBezTo>
                    <a:lnTo>
                      <a:pt x="394" y="449"/>
                    </a:lnTo>
                    <a:cubicBezTo>
                      <a:pt x="422" y="449"/>
                      <a:pt x="449" y="436"/>
                      <a:pt x="449" y="409"/>
                    </a:cubicBezTo>
                    <a:cubicBezTo>
                      <a:pt x="449" y="395"/>
                      <a:pt x="436" y="382"/>
                      <a:pt x="422" y="382"/>
                    </a:cubicBezTo>
                    <a:cubicBezTo>
                      <a:pt x="449" y="368"/>
                      <a:pt x="463" y="354"/>
                      <a:pt x="463" y="328"/>
                    </a:cubicBezTo>
                    <a:cubicBezTo>
                      <a:pt x="463" y="314"/>
                      <a:pt x="449" y="300"/>
                      <a:pt x="436" y="300"/>
                    </a:cubicBezTo>
                    <a:close/>
                    <a:moveTo>
                      <a:pt x="204" y="204"/>
                    </a:moveTo>
                    <a:lnTo>
                      <a:pt x="204" y="204"/>
                    </a:lnTo>
                    <a:cubicBezTo>
                      <a:pt x="163" y="246"/>
                      <a:pt x="123" y="300"/>
                      <a:pt x="123" y="300"/>
                    </a:cubicBezTo>
                    <a:cubicBezTo>
                      <a:pt x="123" y="314"/>
                      <a:pt x="123" y="314"/>
                      <a:pt x="109" y="314"/>
                    </a:cubicBezTo>
                    <a:lnTo>
                      <a:pt x="109" y="314"/>
                    </a:lnTo>
                    <a:cubicBezTo>
                      <a:pt x="95" y="300"/>
                      <a:pt x="95" y="300"/>
                      <a:pt x="95" y="286"/>
                    </a:cubicBezTo>
                    <a:cubicBezTo>
                      <a:pt x="95" y="286"/>
                      <a:pt x="135" y="218"/>
                      <a:pt x="191" y="191"/>
                    </a:cubicBezTo>
                    <a:cubicBezTo>
                      <a:pt x="204" y="177"/>
                      <a:pt x="218" y="191"/>
                      <a:pt x="218" y="191"/>
                    </a:cubicBezTo>
                    <a:cubicBezTo>
                      <a:pt x="218" y="204"/>
                      <a:pt x="218" y="204"/>
                      <a:pt x="204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Group 81"/>
            <p:cNvGrpSpPr/>
            <p:nvPr/>
          </p:nvGrpSpPr>
          <p:grpSpPr>
            <a:xfrm>
              <a:off x="5374940" y="5452115"/>
              <a:ext cx="411598" cy="414649"/>
              <a:chOff x="15935700" y="10788544"/>
              <a:chExt cx="618722" cy="623064"/>
            </a:xfrm>
            <a:solidFill>
              <a:srgbClr val="FFFFFF"/>
            </a:solidFill>
          </p:grpSpPr>
          <p:sp>
            <p:nvSpPr>
              <p:cNvPr id="57" name="Freeform 584"/>
              <p:cNvSpPr>
                <a:spLocks noChangeArrowheads="1"/>
              </p:cNvSpPr>
              <p:nvPr/>
            </p:nvSpPr>
            <p:spPr bwMode="auto">
              <a:xfrm>
                <a:off x="15935700" y="10788544"/>
                <a:ext cx="618722" cy="623064"/>
              </a:xfrm>
              <a:custGeom>
                <a:avLst/>
                <a:gdLst>
                  <a:gd name="T0" fmla="*/ 641 w 654"/>
                  <a:gd name="T1" fmla="*/ 258 h 655"/>
                  <a:gd name="T2" fmla="*/ 341 w 654"/>
                  <a:gd name="T3" fmla="*/ 13 h 655"/>
                  <a:gd name="T4" fmla="*/ 68 w 654"/>
                  <a:gd name="T5" fmla="*/ 258 h 655"/>
                  <a:gd name="T6" fmla="*/ 0 w 654"/>
                  <a:gd name="T7" fmla="*/ 258 h 655"/>
                  <a:gd name="T8" fmla="*/ 0 w 654"/>
                  <a:gd name="T9" fmla="*/ 654 h 655"/>
                  <a:gd name="T10" fmla="*/ 653 w 654"/>
                  <a:gd name="T11" fmla="*/ 654 h 655"/>
                  <a:gd name="T12" fmla="*/ 641 w 654"/>
                  <a:gd name="T13" fmla="*/ 258 h 655"/>
                  <a:gd name="T14" fmla="*/ 327 w 654"/>
                  <a:gd name="T15" fmla="*/ 55 h 655"/>
                  <a:gd name="T16" fmla="*/ 122 w 654"/>
                  <a:gd name="T17" fmla="*/ 258 h 655"/>
                  <a:gd name="T18" fmla="*/ 96 w 654"/>
                  <a:gd name="T19" fmla="*/ 558 h 655"/>
                  <a:gd name="T20" fmla="*/ 54 w 654"/>
                  <a:gd name="T21" fmla="*/ 545 h 655"/>
                  <a:gd name="T22" fmla="*/ 110 w 654"/>
                  <a:gd name="T23" fmla="*/ 545 h 655"/>
                  <a:gd name="T24" fmla="*/ 110 w 654"/>
                  <a:gd name="T25" fmla="*/ 477 h 655"/>
                  <a:gd name="T26" fmla="*/ 122 w 654"/>
                  <a:gd name="T27" fmla="*/ 381 h 655"/>
                  <a:gd name="T28" fmla="*/ 150 w 654"/>
                  <a:gd name="T29" fmla="*/ 409 h 655"/>
                  <a:gd name="T30" fmla="*/ 82 w 654"/>
                  <a:gd name="T31" fmla="*/ 422 h 655"/>
                  <a:gd name="T32" fmla="*/ 164 w 654"/>
                  <a:gd name="T33" fmla="*/ 504 h 655"/>
                  <a:gd name="T34" fmla="*/ 313 w 654"/>
                  <a:gd name="T35" fmla="*/ 558 h 655"/>
                  <a:gd name="T36" fmla="*/ 287 w 654"/>
                  <a:gd name="T37" fmla="*/ 504 h 655"/>
                  <a:gd name="T38" fmla="*/ 205 w 654"/>
                  <a:gd name="T39" fmla="*/ 558 h 655"/>
                  <a:gd name="T40" fmla="*/ 245 w 654"/>
                  <a:gd name="T41" fmla="*/ 381 h 655"/>
                  <a:gd name="T42" fmla="*/ 341 w 654"/>
                  <a:gd name="T43" fmla="*/ 558 h 655"/>
                  <a:gd name="T44" fmla="*/ 462 w 654"/>
                  <a:gd name="T45" fmla="*/ 558 h 655"/>
                  <a:gd name="T46" fmla="*/ 368 w 654"/>
                  <a:gd name="T47" fmla="*/ 558 h 655"/>
                  <a:gd name="T48" fmla="*/ 382 w 654"/>
                  <a:gd name="T49" fmla="*/ 381 h 655"/>
                  <a:gd name="T50" fmla="*/ 462 w 654"/>
                  <a:gd name="T51" fmla="*/ 545 h 655"/>
                  <a:gd name="T52" fmla="*/ 585 w 654"/>
                  <a:gd name="T53" fmla="*/ 558 h 655"/>
                  <a:gd name="T54" fmla="*/ 490 w 654"/>
                  <a:gd name="T55" fmla="*/ 558 h 655"/>
                  <a:gd name="T56" fmla="*/ 585 w 654"/>
                  <a:gd name="T57" fmla="*/ 381 h 655"/>
                  <a:gd name="T58" fmla="*/ 518 w 654"/>
                  <a:gd name="T59" fmla="*/ 395 h 655"/>
                  <a:gd name="T60" fmla="*/ 585 w 654"/>
                  <a:gd name="T61" fmla="*/ 449 h 655"/>
                  <a:gd name="T62" fmla="*/ 518 w 654"/>
                  <a:gd name="T63" fmla="*/ 477 h 655"/>
                  <a:gd name="T64" fmla="*/ 585 w 654"/>
                  <a:gd name="T65" fmla="*/ 545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54" h="655">
                    <a:moveTo>
                      <a:pt x="641" y="258"/>
                    </a:moveTo>
                    <a:lnTo>
                      <a:pt x="641" y="258"/>
                    </a:lnTo>
                    <a:cubicBezTo>
                      <a:pt x="585" y="258"/>
                      <a:pt x="585" y="258"/>
                      <a:pt x="585" y="258"/>
                    </a:cubicBezTo>
                    <a:cubicBezTo>
                      <a:pt x="341" y="13"/>
                      <a:pt x="341" y="13"/>
                      <a:pt x="341" y="13"/>
                    </a:cubicBezTo>
                    <a:cubicBezTo>
                      <a:pt x="327" y="0"/>
                      <a:pt x="313" y="0"/>
                      <a:pt x="313" y="13"/>
                    </a:cubicBezTo>
                    <a:cubicBezTo>
                      <a:pt x="68" y="258"/>
                      <a:pt x="68" y="258"/>
                      <a:pt x="68" y="258"/>
                    </a:cubicBezTo>
                    <a:cubicBezTo>
                      <a:pt x="0" y="258"/>
                      <a:pt x="0" y="258"/>
                      <a:pt x="0" y="258"/>
                    </a:cubicBezTo>
                    <a:lnTo>
                      <a:pt x="0" y="258"/>
                    </a:lnTo>
                    <a:cubicBezTo>
                      <a:pt x="0" y="654"/>
                      <a:pt x="0" y="654"/>
                      <a:pt x="0" y="654"/>
                    </a:cubicBezTo>
                    <a:lnTo>
                      <a:pt x="0" y="654"/>
                    </a:lnTo>
                    <a:cubicBezTo>
                      <a:pt x="641" y="654"/>
                      <a:pt x="641" y="654"/>
                      <a:pt x="641" y="654"/>
                    </a:cubicBezTo>
                    <a:cubicBezTo>
                      <a:pt x="653" y="654"/>
                      <a:pt x="653" y="654"/>
                      <a:pt x="653" y="654"/>
                    </a:cubicBezTo>
                    <a:cubicBezTo>
                      <a:pt x="653" y="258"/>
                      <a:pt x="653" y="258"/>
                      <a:pt x="653" y="258"/>
                    </a:cubicBezTo>
                    <a:cubicBezTo>
                      <a:pt x="653" y="258"/>
                      <a:pt x="653" y="258"/>
                      <a:pt x="641" y="258"/>
                    </a:cubicBezTo>
                    <a:close/>
                    <a:moveTo>
                      <a:pt x="327" y="55"/>
                    </a:moveTo>
                    <a:lnTo>
                      <a:pt x="327" y="55"/>
                    </a:lnTo>
                    <a:cubicBezTo>
                      <a:pt x="518" y="258"/>
                      <a:pt x="518" y="258"/>
                      <a:pt x="518" y="258"/>
                    </a:cubicBezTo>
                    <a:cubicBezTo>
                      <a:pt x="122" y="258"/>
                      <a:pt x="122" y="258"/>
                      <a:pt x="122" y="258"/>
                    </a:cubicBezTo>
                    <a:lnTo>
                      <a:pt x="327" y="55"/>
                    </a:lnTo>
                    <a:close/>
                    <a:moveTo>
                      <a:pt x="96" y="558"/>
                    </a:moveTo>
                    <a:lnTo>
                      <a:pt x="96" y="558"/>
                    </a:lnTo>
                    <a:cubicBezTo>
                      <a:pt x="82" y="558"/>
                      <a:pt x="68" y="558"/>
                      <a:pt x="54" y="545"/>
                    </a:cubicBezTo>
                    <a:cubicBezTo>
                      <a:pt x="68" y="531"/>
                      <a:pt x="68" y="531"/>
                      <a:pt x="68" y="531"/>
                    </a:cubicBezTo>
                    <a:cubicBezTo>
                      <a:pt x="68" y="531"/>
                      <a:pt x="82" y="545"/>
                      <a:pt x="110" y="545"/>
                    </a:cubicBezTo>
                    <a:cubicBezTo>
                      <a:pt x="122" y="545"/>
                      <a:pt x="136" y="531"/>
                      <a:pt x="136" y="517"/>
                    </a:cubicBezTo>
                    <a:cubicBezTo>
                      <a:pt x="136" y="489"/>
                      <a:pt x="136" y="489"/>
                      <a:pt x="110" y="477"/>
                    </a:cubicBezTo>
                    <a:cubicBezTo>
                      <a:pt x="82" y="463"/>
                      <a:pt x="54" y="449"/>
                      <a:pt x="54" y="422"/>
                    </a:cubicBezTo>
                    <a:cubicBezTo>
                      <a:pt x="54" y="395"/>
                      <a:pt x="82" y="381"/>
                      <a:pt x="122" y="381"/>
                    </a:cubicBezTo>
                    <a:cubicBezTo>
                      <a:pt x="136" y="381"/>
                      <a:pt x="150" y="381"/>
                      <a:pt x="164" y="381"/>
                    </a:cubicBezTo>
                    <a:cubicBezTo>
                      <a:pt x="150" y="409"/>
                      <a:pt x="150" y="409"/>
                      <a:pt x="150" y="409"/>
                    </a:cubicBezTo>
                    <a:cubicBezTo>
                      <a:pt x="150" y="395"/>
                      <a:pt x="136" y="395"/>
                      <a:pt x="122" y="395"/>
                    </a:cubicBezTo>
                    <a:cubicBezTo>
                      <a:pt x="96" y="395"/>
                      <a:pt x="82" y="409"/>
                      <a:pt x="82" y="422"/>
                    </a:cubicBezTo>
                    <a:cubicBezTo>
                      <a:pt x="82" y="435"/>
                      <a:pt x="96" y="449"/>
                      <a:pt x="122" y="449"/>
                    </a:cubicBezTo>
                    <a:cubicBezTo>
                      <a:pt x="150" y="463"/>
                      <a:pt x="164" y="477"/>
                      <a:pt x="164" y="504"/>
                    </a:cubicBezTo>
                    <a:cubicBezTo>
                      <a:pt x="164" y="531"/>
                      <a:pt x="150" y="558"/>
                      <a:pt x="96" y="558"/>
                    </a:cubicBezTo>
                    <a:close/>
                    <a:moveTo>
                      <a:pt x="313" y="558"/>
                    </a:moveTo>
                    <a:lnTo>
                      <a:pt x="313" y="558"/>
                    </a:lnTo>
                    <a:cubicBezTo>
                      <a:pt x="287" y="504"/>
                      <a:pt x="287" y="504"/>
                      <a:pt x="287" y="504"/>
                    </a:cubicBezTo>
                    <a:cubicBezTo>
                      <a:pt x="231" y="504"/>
                      <a:pt x="231" y="504"/>
                      <a:pt x="231" y="504"/>
                    </a:cubicBezTo>
                    <a:cubicBezTo>
                      <a:pt x="205" y="558"/>
                      <a:pt x="205" y="558"/>
                      <a:pt x="205" y="558"/>
                    </a:cubicBezTo>
                    <a:cubicBezTo>
                      <a:pt x="177" y="558"/>
                      <a:pt x="177" y="558"/>
                      <a:pt x="177" y="558"/>
                    </a:cubicBezTo>
                    <a:cubicBezTo>
                      <a:pt x="245" y="381"/>
                      <a:pt x="245" y="381"/>
                      <a:pt x="245" y="381"/>
                    </a:cubicBezTo>
                    <a:cubicBezTo>
                      <a:pt x="273" y="381"/>
                      <a:pt x="273" y="381"/>
                      <a:pt x="273" y="381"/>
                    </a:cubicBezTo>
                    <a:cubicBezTo>
                      <a:pt x="341" y="558"/>
                      <a:pt x="341" y="558"/>
                      <a:pt x="341" y="558"/>
                    </a:cubicBezTo>
                    <a:lnTo>
                      <a:pt x="313" y="558"/>
                    </a:lnTo>
                    <a:close/>
                    <a:moveTo>
                      <a:pt x="462" y="558"/>
                    </a:moveTo>
                    <a:lnTo>
                      <a:pt x="462" y="558"/>
                    </a:lnTo>
                    <a:cubicBezTo>
                      <a:pt x="368" y="558"/>
                      <a:pt x="368" y="558"/>
                      <a:pt x="368" y="558"/>
                    </a:cubicBezTo>
                    <a:cubicBezTo>
                      <a:pt x="368" y="381"/>
                      <a:pt x="368" y="381"/>
                      <a:pt x="368" y="381"/>
                    </a:cubicBezTo>
                    <a:cubicBezTo>
                      <a:pt x="382" y="381"/>
                      <a:pt x="382" y="381"/>
                      <a:pt x="382" y="381"/>
                    </a:cubicBezTo>
                    <a:cubicBezTo>
                      <a:pt x="382" y="545"/>
                      <a:pt x="382" y="545"/>
                      <a:pt x="382" y="545"/>
                    </a:cubicBezTo>
                    <a:cubicBezTo>
                      <a:pt x="462" y="545"/>
                      <a:pt x="462" y="545"/>
                      <a:pt x="462" y="545"/>
                    </a:cubicBezTo>
                    <a:lnTo>
                      <a:pt x="462" y="558"/>
                    </a:lnTo>
                    <a:close/>
                    <a:moveTo>
                      <a:pt x="585" y="558"/>
                    </a:moveTo>
                    <a:lnTo>
                      <a:pt x="585" y="558"/>
                    </a:lnTo>
                    <a:cubicBezTo>
                      <a:pt x="490" y="558"/>
                      <a:pt x="490" y="558"/>
                      <a:pt x="490" y="558"/>
                    </a:cubicBezTo>
                    <a:cubicBezTo>
                      <a:pt x="490" y="381"/>
                      <a:pt x="490" y="381"/>
                      <a:pt x="490" y="381"/>
                    </a:cubicBezTo>
                    <a:cubicBezTo>
                      <a:pt x="585" y="381"/>
                      <a:pt x="585" y="381"/>
                      <a:pt x="585" y="381"/>
                    </a:cubicBezTo>
                    <a:cubicBezTo>
                      <a:pt x="585" y="395"/>
                      <a:pt x="585" y="395"/>
                      <a:pt x="585" y="395"/>
                    </a:cubicBezTo>
                    <a:cubicBezTo>
                      <a:pt x="518" y="395"/>
                      <a:pt x="518" y="395"/>
                      <a:pt x="518" y="395"/>
                    </a:cubicBezTo>
                    <a:cubicBezTo>
                      <a:pt x="518" y="449"/>
                      <a:pt x="518" y="449"/>
                      <a:pt x="518" y="449"/>
                    </a:cubicBezTo>
                    <a:cubicBezTo>
                      <a:pt x="585" y="449"/>
                      <a:pt x="585" y="449"/>
                      <a:pt x="585" y="449"/>
                    </a:cubicBezTo>
                    <a:cubicBezTo>
                      <a:pt x="585" y="477"/>
                      <a:pt x="585" y="477"/>
                      <a:pt x="585" y="477"/>
                    </a:cubicBezTo>
                    <a:cubicBezTo>
                      <a:pt x="518" y="477"/>
                      <a:pt x="518" y="477"/>
                      <a:pt x="518" y="477"/>
                    </a:cubicBezTo>
                    <a:cubicBezTo>
                      <a:pt x="518" y="545"/>
                      <a:pt x="518" y="545"/>
                      <a:pt x="518" y="545"/>
                    </a:cubicBezTo>
                    <a:cubicBezTo>
                      <a:pt x="585" y="545"/>
                      <a:pt x="585" y="545"/>
                      <a:pt x="585" y="545"/>
                    </a:cubicBezTo>
                    <a:lnTo>
                      <a:pt x="585" y="55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8" name="Freeform 585"/>
              <p:cNvSpPr>
                <a:spLocks noChangeArrowheads="1"/>
              </p:cNvSpPr>
              <p:nvPr/>
            </p:nvSpPr>
            <p:spPr bwMode="auto">
              <a:xfrm>
                <a:off x="16153089" y="11160709"/>
                <a:ext cx="54346" cy="79454"/>
              </a:xfrm>
              <a:custGeom>
                <a:avLst/>
                <a:gdLst>
                  <a:gd name="T0" fmla="*/ 28 w 57"/>
                  <a:gd name="T1" fmla="*/ 0 h 83"/>
                  <a:gd name="T2" fmla="*/ 28 w 57"/>
                  <a:gd name="T3" fmla="*/ 0 h 83"/>
                  <a:gd name="T4" fmla="*/ 28 w 57"/>
                  <a:gd name="T5" fmla="*/ 0 h 83"/>
                  <a:gd name="T6" fmla="*/ 14 w 57"/>
                  <a:gd name="T7" fmla="*/ 40 h 83"/>
                  <a:gd name="T8" fmla="*/ 0 w 57"/>
                  <a:gd name="T9" fmla="*/ 82 h 83"/>
                  <a:gd name="T10" fmla="*/ 56 w 57"/>
                  <a:gd name="T11" fmla="*/ 82 h 83"/>
                  <a:gd name="T12" fmla="*/ 42 w 57"/>
                  <a:gd name="T13" fmla="*/ 40 h 83"/>
                  <a:gd name="T14" fmla="*/ 28 w 57"/>
                  <a:gd name="T1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83">
                    <a:moveTo>
                      <a:pt x="28" y="0"/>
                    </a:moveTo>
                    <a:lnTo>
                      <a:pt x="28" y="0"/>
                    </a:lnTo>
                    <a:lnTo>
                      <a:pt x="28" y="0"/>
                    </a:lnTo>
                    <a:cubicBezTo>
                      <a:pt x="28" y="14"/>
                      <a:pt x="28" y="27"/>
                      <a:pt x="14" y="40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56" y="82"/>
                      <a:pt x="56" y="82"/>
                      <a:pt x="56" y="82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28" y="27"/>
                      <a:pt x="28" y="14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</p:grpSp>
      <p:pic>
        <p:nvPicPr>
          <p:cNvPr id="45" name="图片 4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94" y="5200074"/>
            <a:ext cx="2578789" cy="7729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104471"/>
            <a:ext cx="1441256" cy="432000"/>
          </a:xfrm>
          <a:prstGeom prst="rect">
            <a:avLst/>
          </a:prstGeom>
        </p:spPr>
      </p:pic>
      <p:sp>
        <p:nvSpPr>
          <p:cNvPr id="8" name="文字方塊 7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5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772" y="2786745"/>
            <a:ext cx="10515600" cy="747286"/>
          </a:xfrm>
        </p:spPr>
        <p:txBody>
          <a:bodyPr/>
          <a:lstStyle>
            <a:lvl1pPr>
              <a:defRPr sz="28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cxnSp>
        <p:nvCxnSpPr>
          <p:cNvPr id="6" name="直線接點 5"/>
          <p:cNvCxnSpPr/>
          <p:nvPr userDrawn="1"/>
        </p:nvCxnSpPr>
        <p:spPr>
          <a:xfrm>
            <a:off x="0" y="3534031"/>
            <a:ext cx="1220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版面配置區 9"/>
          <p:cNvSpPr>
            <a:spLocks noGrp="1"/>
          </p:cNvSpPr>
          <p:nvPr>
            <p:ph type="body" sz="quarter" idx="14"/>
          </p:nvPr>
        </p:nvSpPr>
        <p:spPr>
          <a:xfrm>
            <a:off x="32656" y="3690257"/>
            <a:ext cx="8153401" cy="1937645"/>
          </a:xfrm>
        </p:spPr>
        <p:txBody>
          <a:bodyPr/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12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sp>
        <p:nvSpPr>
          <p:cNvPr id="13" name="文字方塊 1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pic>
        <p:nvPicPr>
          <p:cNvPr id="14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836958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Placeholder 6" descr="德國工廠-塑科精密 copy.jpg"/>
          <p:cNvPicPr>
            <a:picLocks noChangeAspect="1"/>
          </p:cNvPicPr>
          <p:nvPr userDrawn="1"/>
        </p:nvPicPr>
        <p:blipFill>
          <a:blip r:embed="rId2" cstate="email"/>
          <a:srcRect l="1" r="1"/>
          <a:stretch>
            <a:fillRect/>
          </a:stretch>
        </p:blipFill>
        <p:spPr>
          <a:xfrm>
            <a:off x="0" y="-8348"/>
            <a:ext cx="12192000" cy="4836958"/>
          </a:xfrm>
          <a:prstGeom prst="rect">
            <a:avLst/>
          </a:prstGeom>
        </p:spPr>
      </p:pic>
      <p:grpSp>
        <p:nvGrpSpPr>
          <p:cNvPr id="46" name="群組 45"/>
          <p:cNvGrpSpPr/>
          <p:nvPr userDrawn="1"/>
        </p:nvGrpSpPr>
        <p:grpSpPr>
          <a:xfrm>
            <a:off x="198122" y="5210979"/>
            <a:ext cx="4699531" cy="689369"/>
            <a:chOff x="291110" y="5209211"/>
            <a:chExt cx="5739857" cy="900457"/>
          </a:xfrm>
        </p:grpSpPr>
        <p:sp>
          <p:nvSpPr>
            <p:cNvPr id="47" name="Oval 29"/>
            <p:cNvSpPr/>
            <p:nvPr/>
          </p:nvSpPr>
          <p:spPr>
            <a:xfrm>
              <a:off x="291110" y="5209211"/>
              <a:ext cx="900457" cy="9004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8" name="Oval 41"/>
            <p:cNvSpPr/>
            <p:nvPr/>
          </p:nvSpPr>
          <p:spPr>
            <a:xfrm>
              <a:off x="1500960" y="5209211"/>
              <a:ext cx="900457" cy="9004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9" name="Oval 42"/>
            <p:cNvSpPr/>
            <p:nvPr/>
          </p:nvSpPr>
          <p:spPr>
            <a:xfrm>
              <a:off x="2710810" y="5209211"/>
              <a:ext cx="900457" cy="900457"/>
            </a:xfrm>
            <a:prstGeom prst="ellipse">
              <a:avLst/>
            </a:prstGeom>
            <a:solidFill>
              <a:srgbClr val="ACB3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0" name="Oval 45"/>
            <p:cNvSpPr/>
            <p:nvPr/>
          </p:nvSpPr>
          <p:spPr>
            <a:xfrm>
              <a:off x="3920660" y="5209211"/>
              <a:ext cx="900457" cy="9004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1" name="Oval 46"/>
            <p:cNvSpPr/>
            <p:nvPr/>
          </p:nvSpPr>
          <p:spPr>
            <a:xfrm>
              <a:off x="5130510" y="5209211"/>
              <a:ext cx="900457" cy="90045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2" name="Group 48"/>
            <p:cNvGrpSpPr/>
            <p:nvPr/>
          </p:nvGrpSpPr>
          <p:grpSpPr>
            <a:xfrm>
              <a:off x="4163753" y="5432911"/>
              <a:ext cx="452761" cy="453058"/>
              <a:chOff x="2524463" y="4766967"/>
              <a:chExt cx="618725" cy="618888"/>
            </a:xfrm>
            <a:solidFill>
              <a:schemeClr val="bg1"/>
            </a:solidFill>
          </p:grpSpPr>
          <p:sp>
            <p:nvSpPr>
              <p:cNvPr id="71" name="Freeform 67"/>
              <p:cNvSpPr>
                <a:spLocks noChangeArrowheads="1"/>
              </p:cNvSpPr>
              <p:nvPr/>
            </p:nvSpPr>
            <p:spPr bwMode="auto">
              <a:xfrm>
                <a:off x="2704225" y="4779511"/>
                <a:ext cx="117056" cy="117086"/>
              </a:xfrm>
              <a:custGeom>
                <a:avLst/>
                <a:gdLst>
                  <a:gd name="T0" fmla="*/ 0 w 123"/>
                  <a:gd name="T1" fmla="*/ 122 h 123"/>
                  <a:gd name="T2" fmla="*/ 0 w 123"/>
                  <a:gd name="T3" fmla="*/ 122 h 123"/>
                  <a:gd name="T4" fmla="*/ 122 w 123"/>
                  <a:gd name="T5" fmla="*/ 122 h 123"/>
                  <a:gd name="T6" fmla="*/ 122 w 123"/>
                  <a:gd name="T7" fmla="*/ 0 h 123"/>
                  <a:gd name="T8" fmla="*/ 0 w 123"/>
                  <a:gd name="T9" fmla="*/ 12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23">
                    <a:moveTo>
                      <a:pt x="0" y="122"/>
                    </a:moveTo>
                    <a:lnTo>
                      <a:pt x="0" y="122"/>
                    </a:lnTo>
                    <a:cubicBezTo>
                      <a:pt x="122" y="122"/>
                      <a:pt x="122" y="122"/>
                      <a:pt x="122" y="122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68" y="0"/>
                      <a:pt x="26" y="54"/>
                      <a:pt x="0" y="12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Freeform 68"/>
              <p:cNvSpPr>
                <a:spLocks noChangeArrowheads="1"/>
              </p:cNvSpPr>
              <p:nvPr/>
            </p:nvSpPr>
            <p:spPr bwMode="auto">
              <a:xfrm>
                <a:off x="2666603" y="4934235"/>
                <a:ext cx="154681" cy="129630"/>
              </a:xfrm>
              <a:custGeom>
                <a:avLst/>
                <a:gdLst>
                  <a:gd name="T0" fmla="*/ 163 w 164"/>
                  <a:gd name="T1" fmla="*/ 136 h 137"/>
                  <a:gd name="T2" fmla="*/ 163 w 164"/>
                  <a:gd name="T3" fmla="*/ 136 h 137"/>
                  <a:gd name="T4" fmla="*/ 163 w 164"/>
                  <a:gd name="T5" fmla="*/ 0 h 137"/>
                  <a:gd name="T6" fmla="*/ 27 w 164"/>
                  <a:gd name="T7" fmla="*/ 0 h 137"/>
                  <a:gd name="T8" fmla="*/ 0 w 164"/>
                  <a:gd name="T9" fmla="*/ 136 h 137"/>
                  <a:gd name="T10" fmla="*/ 163 w 164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37">
                    <a:moveTo>
                      <a:pt x="163" y="136"/>
                    </a:moveTo>
                    <a:lnTo>
                      <a:pt x="163" y="136"/>
                    </a:lnTo>
                    <a:cubicBezTo>
                      <a:pt x="163" y="0"/>
                      <a:pt x="163" y="0"/>
                      <a:pt x="163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3" y="40"/>
                      <a:pt x="0" y="82"/>
                      <a:pt x="0" y="136"/>
                    </a:cubicBezTo>
                    <a:lnTo>
                      <a:pt x="163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3" name="Freeform 69"/>
              <p:cNvSpPr>
                <a:spLocks noChangeArrowheads="1"/>
              </p:cNvSpPr>
              <p:nvPr/>
            </p:nvSpPr>
            <p:spPr bwMode="auto">
              <a:xfrm>
                <a:off x="2850546" y="4779511"/>
                <a:ext cx="117056" cy="117086"/>
              </a:xfrm>
              <a:custGeom>
                <a:avLst/>
                <a:gdLst>
                  <a:gd name="T0" fmla="*/ 0 w 122"/>
                  <a:gd name="T1" fmla="*/ 0 h 123"/>
                  <a:gd name="T2" fmla="*/ 0 w 122"/>
                  <a:gd name="T3" fmla="*/ 0 h 123"/>
                  <a:gd name="T4" fmla="*/ 0 w 122"/>
                  <a:gd name="T5" fmla="*/ 122 h 123"/>
                  <a:gd name="T6" fmla="*/ 121 w 122"/>
                  <a:gd name="T7" fmla="*/ 122 h 123"/>
                  <a:gd name="T8" fmla="*/ 0 w 122"/>
                  <a:gd name="T9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2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22"/>
                      <a:pt x="0" y="122"/>
                      <a:pt x="0" y="122"/>
                    </a:cubicBezTo>
                    <a:cubicBezTo>
                      <a:pt x="121" y="122"/>
                      <a:pt x="121" y="122"/>
                      <a:pt x="121" y="122"/>
                    </a:cubicBezTo>
                    <a:cubicBezTo>
                      <a:pt x="95" y="54"/>
                      <a:pt x="41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Freeform 70"/>
              <p:cNvSpPr>
                <a:spLocks noChangeArrowheads="1"/>
              </p:cNvSpPr>
              <p:nvPr/>
            </p:nvSpPr>
            <p:spPr bwMode="auto">
              <a:xfrm>
                <a:off x="2524463" y="5088955"/>
                <a:ext cx="142140" cy="142175"/>
              </a:xfrm>
              <a:custGeom>
                <a:avLst/>
                <a:gdLst>
                  <a:gd name="T0" fmla="*/ 122 w 151"/>
                  <a:gd name="T1" fmla="*/ 0 h 150"/>
                  <a:gd name="T2" fmla="*/ 122 w 151"/>
                  <a:gd name="T3" fmla="*/ 0 h 150"/>
                  <a:gd name="T4" fmla="*/ 0 w 151"/>
                  <a:gd name="T5" fmla="*/ 0 h 150"/>
                  <a:gd name="T6" fmla="*/ 42 w 151"/>
                  <a:gd name="T7" fmla="*/ 149 h 150"/>
                  <a:gd name="T8" fmla="*/ 42 w 151"/>
                  <a:gd name="T9" fmla="*/ 149 h 150"/>
                  <a:gd name="T10" fmla="*/ 150 w 151"/>
                  <a:gd name="T11" fmla="*/ 149 h 150"/>
                  <a:gd name="T12" fmla="*/ 122 w 151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0">
                    <a:moveTo>
                      <a:pt x="122" y="0"/>
                    </a:moveTo>
                    <a:lnTo>
                      <a:pt x="122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4" y="109"/>
                      <a:pt x="42" y="149"/>
                    </a:cubicBezTo>
                    <a:lnTo>
                      <a:pt x="42" y="149"/>
                    </a:lnTo>
                    <a:cubicBezTo>
                      <a:pt x="150" y="149"/>
                      <a:pt x="150" y="149"/>
                      <a:pt x="150" y="149"/>
                    </a:cubicBezTo>
                    <a:cubicBezTo>
                      <a:pt x="136" y="109"/>
                      <a:pt x="122" y="54"/>
                      <a:pt x="122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Freeform 71"/>
              <p:cNvSpPr>
                <a:spLocks noChangeArrowheads="1"/>
              </p:cNvSpPr>
              <p:nvPr/>
            </p:nvSpPr>
            <p:spPr bwMode="auto">
              <a:xfrm>
                <a:off x="3001048" y="5088955"/>
                <a:ext cx="142140" cy="142175"/>
              </a:xfrm>
              <a:custGeom>
                <a:avLst/>
                <a:gdLst>
                  <a:gd name="T0" fmla="*/ 14 w 150"/>
                  <a:gd name="T1" fmla="*/ 0 h 150"/>
                  <a:gd name="T2" fmla="*/ 14 w 150"/>
                  <a:gd name="T3" fmla="*/ 0 h 150"/>
                  <a:gd name="T4" fmla="*/ 0 w 150"/>
                  <a:gd name="T5" fmla="*/ 149 h 150"/>
                  <a:gd name="T6" fmla="*/ 95 w 150"/>
                  <a:gd name="T7" fmla="*/ 149 h 150"/>
                  <a:gd name="T8" fmla="*/ 109 w 150"/>
                  <a:gd name="T9" fmla="*/ 149 h 150"/>
                  <a:gd name="T10" fmla="*/ 149 w 150"/>
                  <a:gd name="T11" fmla="*/ 0 h 150"/>
                  <a:gd name="T12" fmla="*/ 14 w 150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0">
                    <a:moveTo>
                      <a:pt x="14" y="0"/>
                    </a:moveTo>
                    <a:lnTo>
                      <a:pt x="14" y="0"/>
                    </a:lnTo>
                    <a:cubicBezTo>
                      <a:pt x="14" y="54"/>
                      <a:pt x="0" y="109"/>
                      <a:pt x="0" y="149"/>
                    </a:cubicBezTo>
                    <a:cubicBezTo>
                      <a:pt x="95" y="149"/>
                      <a:pt x="95" y="149"/>
                      <a:pt x="95" y="149"/>
                    </a:cubicBezTo>
                    <a:lnTo>
                      <a:pt x="109" y="149"/>
                    </a:lnTo>
                    <a:cubicBezTo>
                      <a:pt x="122" y="109"/>
                      <a:pt x="149" y="54"/>
                      <a:pt x="149" y="0"/>
                    </a:cubicBez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6" name="Freeform 72"/>
              <p:cNvSpPr>
                <a:spLocks noChangeArrowheads="1"/>
              </p:cNvSpPr>
              <p:nvPr/>
            </p:nvSpPr>
            <p:spPr bwMode="auto">
              <a:xfrm>
                <a:off x="2666603" y="5088955"/>
                <a:ext cx="154681" cy="142175"/>
              </a:xfrm>
              <a:custGeom>
                <a:avLst/>
                <a:gdLst>
                  <a:gd name="T0" fmla="*/ 163 w 164"/>
                  <a:gd name="T1" fmla="*/ 0 h 150"/>
                  <a:gd name="T2" fmla="*/ 163 w 164"/>
                  <a:gd name="T3" fmla="*/ 0 h 150"/>
                  <a:gd name="T4" fmla="*/ 0 w 164"/>
                  <a:gd name="T5" fmla="*/ 0 h 150"/>
                  <a:gd name="T6" fmla="*/ 27 w 164"/>
                  <a:gd name="T7" fmla="*/ 149 h 150"/>
                  <a:gd name="T8" fmla="*/ 163 w 164"/>
                  <a:gd name="T9" fmla="*/ 149 h 150"/>
                  <a:gd name="T10" fmla="*/ 163 w 164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50">
                    <a:moveTo>
                      <a:pt x="163" y="0"/>
                    </a:moveTo>
                    <a:lnTo>
                      <a:pt x="163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3" y="109"/>
                      <a:pt x="27" y="149"/>
                    </a:cubicBezTo>
                    <a:cubicBezTo>
                      <a:pt x="163" y="149"/>
                      <a:pt x="163" y="149"/>
                      <a:pt x="163" y="149"/>
                    </a:cubicBezTo>
                    <a:lnTo>
                      <a:pt x="163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7" name="Freeform 73"/>
              <p:cNvSpPr>
                <a:spLocks noChangeArrowheads="1"/>
              </p:cNvSpPr>
              <p:nvPr/>
            </p:nvSpPr>
            <p:spPr bwMode="auto">
              <a:xfrm>
                <a:off x="2524463" y="4921688"/>
                <a:ext cx="142140" cy="142175"/>
              </a:xfrm>
              <a:custGeom>
                <a:avLst/>
                <a:gdLst>
                  <a:gd name="T0" fmla="*/ 122 w 151"/>
                  <a:gd name="T1" fmla="*/ 150 h 151"/>
                  <a:gd name="T2" fmla="*/ 122 w 151"/>
                  <a:gd name="T3" fmla="*/ 150 h 151"/>
                  <a:gd name="T4" fmla="*/ 150 w 151"/>
                  <a:gd name="T5" fmla="*/ 14 h 151"/>
                  <a:gd name="T6" fmla="*/ 42 w 151"/>
                  <a:gd name="T7" fmla="*/ 14 h 151"/>
                  <a:gd name="T8" fmla="*/ 42 w 151"/>
                  <a:gd name="T9" fmla="*/ 0 h 151"/>
                  <a:gd name="T10" fmla="*/ 0 w 151"/>
                  <a:gd name="T11" fmla="*/ 150 h 151"/>
                  <a:gd name="T12" fmla="*/ 122 w 151"/>
                  <a:gd name="T13" fmla="*/ 15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1">
                    <a:moveTo>
                      <a:pt x="122" y="150"/>
                    </a:moveTo>
                    <a:lnTo>
                      <a:pt x="122" y="150"/>
                    </a:lnTo>
                    <a:cubicBezTo>
                      <a:pt x="122" y="96"/>
                      <a:pt x="136" y="54"/>
                      <a:pt x="150" y="14"/>
                    </a:cubicBezTo>
                    <a:cubicBezTo>
                      <a:pt x="42" y="14"/>
                      <a:pt x="42" y="14"/>
                      <a:pt x="42" y="14"/>
                    </a:cubicBezTo>
                    <a:lnTo>
                      <a:pt x="42" y="0"/>
                    </a:lnTo>
                    <a:cubicBezTo>
                      <a:pt x="14" y="54"/>
                      <a:pt x="0" y="96"/>
                      <a:pt x="0" y="150"/>
                    </a:cubicBezTo>
                    <a:lnTo>
                      <a:pt x="122" y="15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8" name="Freeform 74"/>
              <p:cNvSpPr>
                <a:spLocks noChangeArrowheads="1"/>
              </p:cNvSpPr>
              <p:nvPr/>
            </p:nvSpPr>
            <p:spPr bwMode="auto">
              <a:xfrm>
                <a:off x="2850547" y="4934235"/>
                <a:ext cx="142140" cy="129630"/>
              </a:xfrm>
              <a:custGeom>
                <a:avLst/>
                <a:gdLst>
                  <a:gd name="T0" fmla="*/ 149 w 150"/>
                  <a:gd name="T1" fmla="*/ 136 h 137"/>
                  <a:gd name="T2" fmla="*/ 149 w 150"/>
                  <a:gd name="T3" fmla="*/ 136 h 137"/>
                  <a:gd name="T4" fmla="*/ 121 w 150"/>
                  <a:gd name="T5" fmla="*/ 0 h 137"/>
                  <a:gd name="T6" fmla="*/ 0 w 150"/>
                  <a:gd name="T7" fmla="*/ 0 h 137"/>
                  <a:gd name="T8" fmla="*/ 0 w 150"/>
                  <a:gd name="T9" fmla="*/ 136 h 137"/>
                  <a:gd name="T10" fmla="*/ 149 w 150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37">
                    <a:moveTo>
                      <a:pt x="149" y="136"/>
                    </a:moveTo>
                    <a:lnTo>
                      <a:pt x="149" y="136"/>
                    </a:lnTo>
                    <a:cubicBezTo>
                      <a:pt x="149" y="82"/>
                      <a:pt x="135" y="40"/>
                      <a:pt x="12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lnTo>
                      <a:pt x="14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9" name="Freeform 75"/>
              <p:cNvSpPr>
                <a:spLocks noChangeArrowheads="1"/>
              </p:cNvSpPr>
              <p:nvPr/>
            </p:nvSpPr>
            <p:spPr bwMode="auto">
              <a:xfrm>
                <a:off x="2574630" y="4766967"/>
                <a:ext cx="183944" cy="129630"/>
              </a:xfrm>
              <a:custGeom>
                <a:avLst/>
                <a:gdLst>
                  <a:gd name="T0" fmla="*/ 109 w 192"/>
                  <a:gd name="T1" fmla="*/ 136 h 137"/>
                  <a:gd name="T2" fmla="*/ 109 w 192"/>
                  <a:gd name="T3" fmla="*/ 136 h 137"/>
                  <a:gd name="T4" fmla="*/ 191 w 192"/>
                  <a:gd name="T5" fmla="*/ 0 h 137"/>
                  <a:gd name="T6" fmla="*/ 0 w 192"/>
                  <a:gd name="T7" fmla="*/ 136 h 137"/>
                  <a:gd name="T8" fmla="*/ 109 w 192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7">
                    <a:moveTo>
                      <a:pt x="109" y="136"/>
                    </a:moveTo>
                    <a:lnTo>
                      <a:pt x="109" y="136"/>
                    </a:lnTo>
                    <a:cubicBezTo>
                      <a:pt x="123" y="82"/>
                      <a:pt x="151" y="28"/>
                      <a:pt x="191" y="0"/>
                    </a:cubicBezTo>
                    <a:cubicBezTo>
                      <a:pt x="109" y="28"/>
                      <a:pt x="42" y="82"/>
                      <a:pt x="0" y="136"/>
                    </a:cubicBezTo>
                    <a:lnTo>
                      <a:pt x="10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0" name="Freeform 76"/>
              <p:cNvSpPr>
                <a:spLocks noChangeArrowheads="1"/>
              </p:cNvSpPr>
              <p:nvPr/>
            </p:nvSpPr>
            <p:spPr bwMode="auto">
              <a:xfrm>
                <a:off x="2574630" y="5256222"/>
                <a:ext cx="183944" cy="129633"/>
              </a:xfrm>
              <a:custGeom>
                <a:avLst/>
                <a:gdLst>
                  <a:gd name="T0" fmla="*/ 109 w 192"/>
                  <a:gd name="T1" fmla="*/ 0 h 136"/>
                  <a:gd name="T2" fmla="*/ 109 w 192"/>
                  <a:gd name="T3" fmla="*/ 0 h 136"/>
                  <a:gd name="T4" fmla="*/ 0 w 192"/>
                  <a:gd name="T5" fmla="*/ 0 h 136"/>
                  <a:gd name="T6" fmla="*/ 191 w 192"/>
                  <a:gd name="T7" fmla="*/ 135 h 136"/>
                  <a:gd name="T8" fmla="*/ 109 w 19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6">
                    <a:moveTo>
                      <a:pt x="109" y="0"/>
                    </a:moveTo>
                    <a:lnTo>
                      <a:pt x="109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42" y="67"/>
                      <a:pt x="109" y="121"/>
                      <a:pt x="191" y="135"/>
                    </a:cubicBezTo>
                    <a:cubicBezTo>
                      <a:pt x="151" y="109"/>
                      <a:pt x="123" y="67"/>
                      <a:pt x="109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1" name="Freeform 77"/>
              <p:cNvSpPr>
                <a:spLocks noChangeArrowheads="1"/>
              </p:cNvSpPr>
              <p:nvPr/>
            </p:nvSpPr>
            <p:spPr bwMode="auto">
              <a:xfrm>
                <a:off x="2900713" y="4766967"/>
                <a:ext cx="179762" cy="129630"/>
              </a:xfrm>
              <a:custGeom>
                <a:avLst/>
                <a:gdLst>
                  <a:gd name="T0" fmla="*/ 95 w 191"/>
                  <a:gd name="T1" fmla="*/ 136 h 137"/>
                  <a:gd name="T2" fmla="*/ 95 w 191"/>
                  <a:gd name="T3" fmla="*/ 136 h 137"/>
                  <a:gd name="T4" fmla="*/ 190 w 191"/>
                  <a:gd name="T5" fmla="*/ 136 h 137"/>
                  <a:gd name="T6" fmla="*/ 0 w 191"/>
                  <a:gd name="T7" fmla="*/ 0 h 137"/>
                  <a:gd name="T8" fmla="*/ 95 w 191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7">
                    <a:moveTo>
                      <a:pt x="95" y="136"/>
                    </a:moveTo>
                    <a:lnTo>
                      <a:pt x="95" y="136"/>
                    </a:lnTo>
                    <a:cubicBezTo>
                      <a:pt x="190" y="136"/>
                      <a:pt x="190" y="136"/>
                      <a:pt x="190" y="136"/>
                    </a:cubicBezTo>
                    <a:cubicBezTo>
                      <a:pt x="150" y="82"/>
                      <a:pt x="81" y="28"/>
                      <a:pt x="0" y="0"/>
                    </a:cubicBezTo>
                    <a:cubicBezTo>
                      <a:pt x="41" y="28"/>
                      <a:pt x="67" y="82"/>
                      <a:pt x="95" y="136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2" name="Freeform 78"/>
              <p:cNvSpPr>
                <a:spLocks noChangeArrowheads="1"/>
              </p:cNvSpPr>
              <p:nvPr/>
            </p:nvSpPr>
            <p:spPr bwMode="auto">
              <a:xfrm>
                <a:off x="2900713" y="5256222"/>
                <a:ext cx="179762" cy="129633"/>
              </a:xfrm>
              <a:custGeom>
                <a:avLst/>
                <a:gdLst>
                  <a:gd name="T0" fmla="*/ 95 w 191"/>
                  <a:gd name="T1" fmla="*/ 0 h 136"/>
                  <a:gd name="T2" fmla="*/ 95 w 191"/>
                  <a:gd name="T3" fmla="*/ 0 h 136"/>
                  <a:gd name="T4" fmla="*/ 0 w 191"/>
                  <a:gd name="T5" fmla="*/ 135 h 136"/>
                  <a:gd name="T6" fmla="*/ 190 w 191"/>
                  <a:gd name="T7" fmla="*/ 0 h 136"/>
                  <a:gd name="T8" fmla="*/ 95 w 191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6">
                    <a:moveTo>
                      <a:pt x="95" y="0"/>
                    </a:moveTo>
                    <a:lnTo>
                      <a:pt x="95" y="0"/>
                    </a:lnTo>
                    <a:cubicBezTo>
                      <a:pt x="67" y="67"/>
                      <a:pt x="41" y="109"/>
                      <a:pt x="0" y="135"/>
                    </a:cubicBezTo>
                    <a:cubicBezTo>
                      <a:pt x="81" y="121"/>
                      <a:pt x="150" y="67"/>
                      <a:pt x="190" y="0"/>
                    </a:cubicBezTo>
                    <a:lnTo>
                      <a:pt x="95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3" name="Freeform 79"/>
              <p:cNvSpPr>
                <a:spLocks noChangeArrowheads="1"/>
              </p:cNvSpPr>
              <p:nvPr/>
            </p:nvSpPr>
            <p:spPr bwMode="auto">
              <a:xfrm>
                <a:off x="3001048" y="4921688"/>
                <a:ext cx="142140" cy="142175"/>
              </a:xfrm>
              <a:custGeom>
                <a:avLst/>
                <a:gdLst>
                  <a:gd name="T0" fmla="*/ 95 w 150"/>
                  <a:gd name="T1" fmla="*/ 14 h 151"/>
                  <a:gd name="T2" fmla="*/ 95 w 150"/>
                  <a:gd name="T3" fmla="*/ 14 h 151"/>
                  <a:gd name="T4" fmla="*/ 0 w 150"/>
                  <a:gd name="T5" fmla="*/ 14 h 151"/>
                  <a:gd name="T6" fmla="*/ 14 w 150"/>
                  <a:gd name="T7" fmla="*/ 150 h 151"/>
                  <a:gd name="T8" fmla="*/ 149 w 150"/>
                  <a:gd name="T9" fmla="*/ 150 h 151"/>
                  <a:gd name="T10" fmla="*/ 109 w 150"/>
                  <a:gd name="T11" fmla="*/ 0 h 151"/>
                  <a:gd name="T12" fmla="*/ 95 w 150"/>
                  <a:gd name="T13" fmla="*/ 1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1">
                    <a:moveTo>
                      <a:pt x="95" y="14"/>
                    </a:moveTo>
                    <a:lnTo>
                      <a:pt x="95" y="14"/>
                    </a:lnTo>
                    <a:cubicBezTo>
                      <a:pt x="0" y="14"/>
                      <a:pt x="0" y="14"/>
                      <a:pt x="0" y="14"/>
                    </a:cubicBezTo>
                    <a:cubicBezTo>
                      <a:pt x="0" y="54"/>
                      <a:pt x="14" y="96"/>
                      <a:pt x="14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96"/>
                      <a:pt x="122" y="54"/>
                      <a:pt x="109" y="0"/>
                    </a:cubicBezTo>
                    <a:lnTo>
                      <a:pt x="95" y="14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4" name="Freeform 80"/>
              <p:cNvSpPr>
                <a:spLocks noChangeArrowheads="1"/>
              </p:cNvSpPr>
              <p:nvPr/>
            </p:nvSpPr>
            <p:spPr bwMode="auto">
              <a:xfrm>
                <a:off x="2850546" y="5256222"/>
                <a:ext cx="117056" cy="129633"/>
              </a:xfrm>
              <a:custGeom>
                <a:avLst/>
                <a:gdLst>
                  <a:gd name="T0" fmla="*/ 121 w 122"/>
                  <a:gd name="T1" fmla="*/ 0 h 136"/>
                  <a:gd name="T2" fmla="*/ 121 w 122"/>
                  <a:gd name="T3" fmla="*/ 0 h 136"/>
                  <a:gd name="T4" fmla="*/ 0 w 122"/>
                  <a:gd name="T5" fmla="*/ 0 h 136"/>
                  <a:gd name="T6" fmla="*/ 0 w 122"/>
                  <a:gd name="T7" fmla="*/ 135 h 136"/>
                  <a:gd name="T8" fmla="*/ 121 w 12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36">
                    <a:moveTo>
                      <a:pt x="121" y="0"/>
                    </a:moveTo>
                    <a:lnTo>
                      <a:pt x="121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41" y="135"/>
                      <a:pt x="95" y="81"/>
                      <a:pt x="121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5" name="Freeform 81"/>
              <p:cNvSpPr>
                <a:spLocks noChangeArrowheads="1"/>
              </p:cNvSpPr>
              <p:nvPr/>
            </p:nvSpPr>
            <p:spPr bwMode="auto">
              <a:xfrm>
                <a:off x="2850547" y="5088955"/>
                <a:ext cx="142140" cy="142175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149 h 150"/>
                  <a:gd name="T6" fmla="*/ 121 w 150"/>
                  <a:gd name="T7" fmla="*/ 149 h 150"/>
                  <a:gd name="T8" fmla="*/ 149 w 150"/>
                  <a:gd name="T9" fmla="*/ 0 h 150"/>
                  <a:gd name="T10" fmla="*/ 0 w 150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5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49"/>
                      <a:pt x="0" y="149"/>
                      <a:pt x="0" y="149"/>
                    </a:cubicBezTo>
                    <a:cubicBezTo>
                      <a:pt x="121" y="149"/>
                      <a:pt x="121" y="149"/>
                      <a:pt x="121" y="149"/>
                    </a:cubicBezTo>
                    <a:cubicBezTo>
                      <a:pt x="135" y="109"/>
                      <a:pt x="149" y="54"/>
                      <a:pt x="149" y="0"/>
                    </a:cubicBez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6" name="Freeform 82"/>
              <p:cNvSpPr>
                <a:spLocks noChangeArrowheads="1"/>
              </p:cNvSpPr>
              <p:nvPr/>
            </p:nvSpPr>
            <p:spPr bwMode="auto">
              <a:xfrm>
                <a:off x="2704225" y="5256222"/>
                <a:ext cx="117056" cy="129633"/>
              </a:xfrm>
              <a:custGeom>
                <a:avLst/>
                <a:gdLst>
                  <a:gd name="T0" fmla="*/ 122 w 123"/>
                  <a:gd name="T1" fmla="*/ 135 h 136"/>
                  <a:gd name="T2" fmla="*/ 122 w 123"/>
                  <a:gd name="T3" fmla="*/ 135 h 136"/>
                  <a:gd name="T4" fmla="*/ 122 w 123"/>
                  <a:gd name="T5" fmla="*/ 0 h 136"/>
                  <a:gd name="T6" fmla="*/ 0 w 123"/>
                  <a:gd name="T7" fmla="*/ 0 h 136"/>
                  <a:gd name="T8" fmla="*/ 122 w 123"/>
                  <a:gd name="T9" fmla="*/ 13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36">
                    <a:moveTo>
                      <a:pt x="122" y="135"/>
                    </a:moveTo>
                    <a:lnTo>
                      <a:pt x="122" y="135"/>
                    </a:lnTo>
                    <a:cubicBezTo>
                      <a:pt x="122" y="0"/>
                      <a:pt x="122" y="0"/>
                      <a:pt x="1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81"/>
                      <a:pt x="68" y="135"/>
                      <a:pt x="122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3" name="Freeform 182"/>
            <p:cNvSpPr>
              <a:spLocks noChangeArrowheads="1"/>
            </p:cNvSpPr>
            <p:nvPr/>
          </p:nvSpPr>
          <p:spPr bwMode="auto">
            <a:xfrm>
              <a:off x="542679" y="5453461"/>
              <a:ext cx="411796" cy="411957"/>
            </a:xfrm>
            <a:custGeom>
              <a:avLst/>
              <a:gdLst>
                <a:gd name="T0" fmla="*/ 822259 w 654"/>
                <a:gd name="T1" fmla="*/ 0 h 654"/>
                <a:gd name="T2" fmla="*/ 0 w 654"/>
                <a:gd name="T3" fmla="*/ 17633 h 654"/>
                <a:gd name="T4" fmla="*/ 0 w 654"/>
                <a:gd name="T5" fmla="*/ 822474 h 654"/>
                <a:gd name="T6" fmla="*/ 342503 w 654"/>
                <a:gd name="T7" fmla="*/ 822474 h 654"/>
                <a:gd name="T8" fmla="*/ 478497 w 654"/>
                <a:gd name="T9" fmla="*/ 566789 h 654"/>
                <a:gd name="T10" fmla="*/ 478497 w 654"/>
                <a:gd name="T11" fmla="*/ 822474 h 654"/>
                <a:gd name="T12" fmla="*/ 822259 w 654"/>
                <a:gd name="T13" fmla="*/ 822474 h 654"/>
                <a:gd name="T14" fmla="*/ 822259 w 654"/>
                <a:gd name="T15" fmla="*/ 0 h 654"/>
                <a:gd name="T16" fmla="*/ 222879 w 654"/>
                <a:gd name="T17" fmla="*/ 566789 h 654"/>
                <a:gd name="T18" fmla="*/ 101995 w 654"/>
                <a:gd name="T19" fmla="*/ 702819 h 654"/>
                <a:gd name="T20" fmla="*/ 222879 w 654"/>
                <a:gd name="T21" fmla="*/ 566789 h 654"/>
                <a:gd name="T22" fmla="*/ 101995 w 654"/>
                <a:gd name="T23" fmla="*/ 463508 h 654"/>
                <a:gd name="T24" fmla="*/ 222879 w 654"/>
                <a:gd name="T25" fmla="*/ 326219 h 654"/>
                <a:gd name="T26" fmla="*/ 101995 w 654"/>
                <a:gd name="T27" fmla="*/ 463508 h 654"/>
                <a:gd name="T28" fmla="*/ 101995 w 654"/>
                <a:gd name="T29" fmla="*/ 222937 h 654"/>
                <a:gd name="T30" fmla="*/ 222879 w 654"/>
                <a:gd name="T31" fmla="*/ 85648 h 654"/>
                <a:gd name="T32" fmla="*/ 101995 w 654"/>
                <a:gd name="T33" fmla="*/ 222937 h 654"/>
                <a:gd name="T34" fmla="*/ 478497 w 654"/>
                <a:gd name="T35" fmla="*/ 326219 h 654"/>
                <a:gd name="T36" fmla="*/ 342503 w 654"/>
                <a:gd name="T37" fmla="*/ 463508 h 654"/>
                <a:gd name="T38" fmla="*/ 478497 w 654"/>
                <a:gd name="T39" fmla="*/ 326219 h 654"/>
                <a:gd name="T40" fmla="*/ 342503 w 654"/>
                <a:gd name="T41" fmla="*/ 222937 h 654"/>
                <a:gd name="T42" fmla="*/ 478497 w 654"/>
                <a:gd name="T43" fmla="*/ 85648 h 654"/>
                <a:gd name="T44" fmla="*/ 342503 w 654"/>
                <a:gd name="T45" fmla="*/ 222937 h 654"/>
                <a:gd name="T46" fmla="*/ 719004 w 654"/>
                <a:gd name="T47" fmla="*/ 566789 h 654"/>
                <a:gd name="T48" fmla="*/ 599380 w 654"/>
                <a:gd name="T49" fmla="*/ 702819 h 654"/>
                <a:gd name="T50" fmla="*/ 719004 w 654"/>
                <a:gd name="T51" fmla="*/ 566789 h 654"/>
                <a:gd name="T52" fmla="*/ 599380 w 654"/>
                <a:gd name="T53" fmla="*/ 463508 h 654"/>
                <a:gd name="T54" fmla="*/ 719004 w 654"/>
                <a:gd name="T55" fmla="*/ 326219 h 654"/>
                <a:gd name="T56" fmla="*/ 599380 w 654"/>
                <a:gd name="T57" fmla="*/ 463508 h 654"/>
                <a:gd name="T58" fmla="*/ 599380 w 654"/>
                <a:gd name="T59" fmla="*/ 222937 h 654"/>
                <a:gd name="T60" fmla="*/ 719004 w 654"/>
                <a:gd name="T61" fmla="*/ 85648 h 654"/>
                <a:gd name="T62" fmla="*/ 599380 w 654"/>
                <a:gd name="T63" fmla="*/ 222937 h 6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54" h="654">
                  <a:moveTo>
                    <a:pt x="653" y="0"/>
                  </a:moveTo>
                  <a:lnTo>
                    <a:pt x="653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4"/>
                  </a:cubicBezTo>
                  <a:cubicBezTo>
                    <a:pt x="0" y="653"/>
                    <a:pt x="0" y="653"/>
                    <a:pt x="0" y="653"/>
                  </a:cubicBezTo>
                  <a:cubicBezTo>
                    <a:pt x="272" y="653"/>
                    <a:pt x="272" y="653"/>
                    <a:pt x="272" y="653"/>
                  </a:cubicBezTo>
                  <a:cubicBezTo>
                    <a:pt x="272" y="450"/>
                    <a:pt x="272" y="450"/>
                    <a:pt x="272" y="450"/>
                  </a:cubicBezTo>
                  <a:cubicBezTo>
                    <a:pt x="380" y="450"/>
                    <a:pt x="380" y="450"/>
                    <a:pt x="380" y="450"/>
                  </a:cubicBezTo>
                  <a:cubicBezTo>
                    <a:pt x="380" y="653"/>
                    <a:pt x="380" y="653"/>
                    <a:pt x="380" y="653"/>
                  </a:cubicBezTo>
                  <a:cubicBezTo>
                    <a:pt x="653" y="653"/>
                    <a:pt x="653" y="653"/>
                    <a:pt x="653" y="653"/>
                  </a:cubicBezTo>
                  <a:cubicBezTo>
                    <a:pt x="653" y="14"/>
                    <a:pt x="653" y="14"/>
                    <a:pt x="653" y="14"/>
                  </a:cubicBezTo>
                  <a:cubicBezTo>
                    <a:pt x="653" y="0"/>
                    <a:pt x="653" y="0"/>
                    <a:pt x="653" y="0"/>
                  </a:cubicBezTo>
                  <a:close/>
                  <a:moveTo>
                    <a:pt x="177" y="450"/>
                  </a:moveTo>
                  <a:lnTo>
                    <a:pt x="177" y="450"/>
                  </a:lnTo>
                  <a:cubicBezTo>
                    <a:pt x="177" y="558"/>
                    <a:pt x="177" y="558"/>
                    <a:pt x="177" y="558"/>
                  </a:cubicBezTo>
                  <a:cubicBezTo>
                    <a:pt x="81" y="558"/>
                    <a:pt x="81" y="558"/>
                    <a:pt x="81" y="558"/>
                  </a:cubicBezTo>
                  <a:cubicBezTo>
                    <a:pt x="81" y="450"/>
                    <a:pt x="81" y="450"/>
                    <a:pt x="81" y="450"/>
                  </a:cubicBezTo>
                  <a:lnTo>
                    <a:pt x="177" y="450"/>
                  </a:lnTo>
                  <a:close/>
                  <a:moveTo>
                    <a:pt x="81" y="368"/>
                  </a:moveTo>
                  <a:lnTo>
                    <a:pt x="81" y="368"/>
                  </a:lnTo>
                  <a:cubicBezTo>
                    <a:pt x="81" y="259"/>
                    <a:pt x="81" y="259"/>
                    <a:pt x="81" y="259"/>
                  </a:cubicBezTo>
                  <a:cubicBezTo>
                    <a:pt x="177" y="259"/>
                    <a:pt x="177" y="259"/>
                    <a:pt x="177" y="259"/>
                  </a:cubicBezTo>
                  <a:cubicBezTo>
                    <a:pt x="177" y="368"/>
                    <a:pt x="177" y="368"/>
                    <a:pt x="177" y="368"/>
                  </a:cubicBezTo>
                  <a:lnTo>
                    <a:pt x="81" y="368"/>
                  </a:lnTo>
                  <a:close/>
                  <a:moveTo>
                    <a:pt x="81" y="177"/>
                  </a:moveTo>
                  <a:lnTo>
                    <a:pt x="81" y="177"/>
                  </a:lnTo>
                  <a:cubicBezTo>
                    <a:pt x="81" y="68"/>
                    <a:pt x="81" y="68"/>
                    <a:pt x="81" y="68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77" y="177"/>
                    <a:pt x="177" y="177"/>
                    <a:pt x="177" y="177"/>
                  </a:cubicBezTo>
                  <a:lnTo>
                    <a:pt x="81" y="177"/>
                  </a:lnTo>
                  <a:close/>
                  <a:moveTo>
                    <a:pt x="380" y="259"/>
                  </a:moveTo>
                  <a:lnTo>
                    <a:pt x="380" y="259"/>
                  </a:lnTo>
                  <a:cubicBezTo>
                    <a:pt x="380" y="368"/>
                    <a:pt x="380" y="368"/>
                    <a:pt x="380" y="368"/>
                  </a:cubicBezTo>
                  <a:cubicBezTo>
                    <a:pt x="272" y="368"/>
                    <a:pt x="272" y="368"/>
                    <a:pt x="272" y="368"/>
                  </a:cubicBezTo>
                  <a:cubicBezTo>
                    <a:pt x="272" y="259"/>
                    <a:pt x="272" y="259"/>
                    <a:pt x="272" y="259"/>
                  </a:cubicBezTo>
                  <a:lnTo>
                    <a:pt x="380" y="259"/>
                  </a:lnTo>
                  <a:close/>
                  <a:moveTo>
                    <a:pt x="272" y="177"/>
                  </a:moveTo>
                  <a:lnTo>
                    <a:pt x="272" y="177"/>
                  </a:lnTo>
                  <a:cubicBezTo>
                    <a:pt x="272" y="68"/>
                    <a:pt x="272" y="68"/>
                    <a:pt x="272" y="68"/>
                  </a:cubicBezTo>
                  <a:cubicBezTo>
                    <a:pt x="380" y="68"/>
                    <a:pt x="380" y="68"/>
                    <a:pt x="380" y="68"/>
                  </a:cubicBezTo>
                  <a:cubicBezTo>
                    <a:pt x="380" y="177"/>
                    <a:pt x="380" y="177"/>
                    <a:pt x="380" y="177"/>
                  </a:cubicBezTo>
                  <a:lnTo>
                    <a:pt x="272" y="177"/>
                  </a:lnTo>
                  <a:close/>
                  <a:moveTo>
                    <a:pt x="571" y="450"/>
                  </a:moveTo>
                  <a:lnTo>
                    <a:pt x="571" y="450"/>
                  </a:lnTo>
                  <a:cubicBezTo>
                    <a:pt x="571" y="558"/>
                    <a:pt x="571" y="558"/>
                    <a:pt x="571" y="558"/>
                  </a:cubicBezTo>
                  <a:cubicBezTo>
                    <a:pt x="476" y="558"/>
                    <a:pt x="476" y="558"/>
                    <a:pt x="476" y="558"/>
                  </a:cubicBezTo>
                  <a:cubicBezTo>
                    <a:pt x="476" y="450"/>
                    <a:pt x="476" y="450"/>
                    <a:pt x="476" y="450"/>
                  </a:cubicBezTo>
                  <a:lnTo>
                    <a:pt x="571" y="450"/>
                  </a:lnTo>
                  <a:close/>
                  <a:moveTo>
                    <a:pt x="476" y="368"/>
                  </a:moveTo>
                  <a:lnTo>
                    <a:pt x="476" y="368"/>
                  </a:lnTo>
                  <a:cubicBezTo>
                    <a:pt x="476" y="259"/>
                    <a:pt x="476" y="259"/>
                    <a:pt x="476" y="259"/>
                  </a:cubicBezTo>
                  <a:cubicBezTo>
                    <a:pt x="571" y="259"/>
                    <a:pt x="571" y="259"/>
                    <a:pt x="571" y="259"/>
                  </a:cubicBezTo>
                  <a:cubicBezTo>
                    <a:pt x="571" y="368"/>
                    <a:pt x="571" y="368"/>
                    <a:pt x="571" y="368"/>
                  </a:cubicBezTo>
                  <a:lnTo>
                    <a:pt x="476" y="368"/>
                  </a:lnTo>
                  <a:close/>
                  <a:moveTo>
                    <a:pt x="476" y="177"/>
                  </a:moveTo>
                  <a:lnTo>
                    <a:pt x="476" y="177"/>
                  </a:lnTo>
                  <a:cubicBezTo>
                    <a:pt x="476" y="68"/>
                    <a:pt x="476" y="68"/>
                    <a:pt x="476" y="68"/>
                  </a:cubicBezTo>
                  <a:cubicBezTo>
                    <a:pt x="571" y="68"/>
                    <a:pt x="571" y="68"/>
                    <a:pt x="571" y="68"/>
                  </a:cubicBezTo>
                  <a:cubicBezTo>
                    <a:pt x="571" y="177"/>
                    <a:pt x="571" y="177"/>
                    <a:pt x="571" y="177"/>
                  </a:cubicBezTo>
                  <a:lnTo>
                    <a:pt x="47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none" lIns="76183" tIns="38092" rIns="76183" bIns="38092" anchor="ctr"/>
            <a:lstStyle/>
            <a:p>
              <a:pPr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4" name="Group 67"/>
            <p:cNvGrpSpPr/>
            <p:nvPr/>
          </p:nvGrpSpPr>
          <p:grpSpPr>
            <a:xfrm>
              <a:off x="1761746" y="5452113"/>
              <a:ext cx="394912" cy="414654"/>
              <a:chOff x="6550342" y="10834538"/>
              <a:chExt cx="593638" cy="623070"/>
            </a:xfrm>
            <a:solidFill>
              <a:srgbClr val="FFFFFF"/>
            </a:solidFill>
          </p:grpSpPr>
          <p:sp>
            <p:nvSpPr>
              <p:cNvPr id="62" name="Freeform 220"/>
              <p:cNvSpPr>
                <a:spLocks noChangeArrowheads="1"/>
              </p:cNvSpPr>
              <p:nvPr/>
            </p:nvSpPr>
            <p:spPr bwMode="auto">
              <a:xfrm>
                <a:off x="6550342" y="10834540"/>
                <a:ext cx="209028" cy="401438"/>
              </a:xfrm>
              <a:custGeom>
                <a:avLst/>
                <a:gdLst>
                  <a:gd name="T0" fmla="*/ 218 w 219"/>
                  <a:gd name="T1" fmla="*/ 136 h 423"/>
                  <a:gd name="T2" fmla="*/ 218 w 219"/>
                  <a:gd name="T3" fmla="*/ 136 h 423"/>
                  <a:gd name="T4" fmla="*/ 54 w 219"/>
                  <a:gd name="T5" fmla="*/ 0 h 423"/>
                  <a:gd name="T6" fmla="*/ 0 w 219"/>
                  <a:gd name="T7" fmla="*/ 0 h 423"/>
                  <a:gd name="T8" fmla="*/ 0 w 219"/>
                  <a:gd name="T9" fmla="*/ 422 h 423"/>
                  <a:gd name="T10" fmla="*/ 41 w 219"/>
                  <a:gd name="T11" fmla="*/ 381 h 423"/>
                  <a:gd name="T12" fmla="*/ 54 w 219"/>
                  <a:gd name="T13" fmla="*/ 381 h 423"/>
                  <a:gd name="T14" fmla="*/ 218 w 219"/>
                  <a:gd name="T15" fmla="*/ 163 h 423"/>
                  <a:gd name="T16" fmla="*/ 218 w 219"/>
                  <a:gd name="T17" fmla="*/ 136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9" h="423">
                    <a:moveTo>
                      <a:pt x="218" y="136"/>
                    </a:moveTo>
                    <a:lnTo>
                      <a:pt x="218" y="136"/>
                    </a:lnTo>
                    <a:cubicBezTo>
                      <a:pt x="54" y="0"/>
                      <a:pt x="54" y="0"/>
                      <a:pt x="5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22"/>
                      <a:pt x="0" y="422"/>
                      <a:pt x="0" y="422"/>
                    </a:cubicBezTo>
                    <a:cubicBezTo>
                      <a:pt x="41" y="381"/>
                      <a:pt x="41" y="381"/>
                      <a:pt x="41" y="381"/>
                    </a:cubicBezTo>
                    <a:cubicBezTo>
                      <a:pt x="41" y="381"/>
                      <a:pt x="41" y="381"/>
                      <a:pt x="54" y="381"/>
                    </a:cubicBezTo>
                    <a:cubicBezTo>
                      <a:pt x="218" y="163"/>
                      <a:pt x="218" y="163"/>
                      <a:pt x="218" y="163"/>
                    </a:cubicBezTo>
                    <a:lnTo>
                      <a:pt x="218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Freeform 221"/>
              <p:cNvSpPr>
                <a:spLocks noChangeArrowheads="1"/>
              </p:cNvSpPr>
              <p:nvPr/>
            </p:nvSpPr>
            <p:spPr bwMode="auto">
              <a:xfrm>
                <a:off x="6654855" y="11311249"/>
                <a:ext cx="50167" cy="37636"/>
              </a:xfrm>
              <a:custGeom>
                <a:avLst/>
                <a:gdLst>
                  <a:gd name="T0" fmla="*/ 26 w 55"/>
                  <a:gd name="T1" fmla="*/ 0 h 41"/>
                  <a:gd name="T2" fmla="*/ 26 w 55"/>
                  <a:gd name="T3" fmla="*/ 0 h 41"/>
                  <a:gd name="T4" fmla="*/ 12 w 55"/>
                  <a:gd name="T5" fmla="*/ 0 h 41"/>
                  <a:gd name="T6" fmla="*/ 12 w 55"/>
                  <a:gd name="T7" fmla="*/ 27 h 41"/>
                  <a:gd name="T8" fmla="*/ 40 w 55"/>
                  <a:gd name="T9" fmla="*/ 27 h 41"/>
                  <a:gd name="T10" fmla="*/ 40 w 55"/>
                  <a:gd name="T11" fmla="*/ 0 h 41"/>
                  <a:gd name="T12" fmla="*/ 26 w 55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1">
                    <a:moveTo>
                      <a:pt x="26" y="0"/>
                    </a:moveTo>
                    <a:lnTo>
                      <a:pt x="26" y="0"/>
                    </a:lnTo>
                    <a:lnTo>
                      <a:pt x="12" y="0"/>
                    </a:lnTo>
                    <a:cubicBezTo>
                      <a:pt x="0" y="12"/>
                      <a:pt x="12" y="27"/>
                      <a:pt x="12" y="27"/>
                    </a:cubicBezTo>
                    <a:cubicBezTo>
                      <a:pt x="26" y="40"/>
                      <a:pt x="40" y="40"/>
                      <a:pt x="40" y="27"/>
                    </a:cubicBezTo>
                    <a:cubicBezTo>
                      <a:pt x="54" y="12"/>
                      <a:pt x="54" y="0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4" name="Freeform 222"/>
              <p:cNvSpPr>
                <a:spLocks noChangeArrowheads="1"/>
              </p:cNvSpPr>
              <p:nvPr/>
            </p:nvSpPr>
            <p:spPr bwMode="auto">
              <a:xfrm>
                <a:off x="6604690" y="11261068"/>
                <a:ext cx="54346" cy="54363"/>
              </a:xfrm>
              <a:custGeom>
                <a:avLst/>
                <a:gdLst>
                  <a:gd name="T0" fmla="*/ 28 w 57"/>
                  <a:gd name="T1" fmla="*/ 0 h 56"/>
                  <a:gd name="T2" fmla="*/ 28 w 57"/>
                  <a:gd name="T3" fmla="*/ 0 h 56"/>
                  <a:gd name="T4" fmla="*/ 14 w 57"/>
                  <a:gd name="T5" fmla="*/ 13 h 56"/>
                  <a:gd name="T6" fmla="*/ 14 w 57"/>
                  <a:gd name="T7" fmla="*/ 41 h 56"/>
                  <a:gd name="T8" fmla="*/ 42 w 57"/>
                  <a:gd name="T9" fmla="*/ 41 h 56"/>
                  <a:gd name="T10" fmla="*/ 42 w 57"/>
                  <a:gd name="T11" fmla="*/ 13 h 56"/>
                  <a:gd name="T12" fmla="*/ 28 w 57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" h="56">
                    <a:moveTo>
                      <a:pt x="28" y="0"/>
                    </a:moveTo>
                    <a:lnTo>
                      <a:pt x="28" y="0"/>
                    </a:lnTo>
                    <a:lnTo>
                      <a:pt x="14" y="13"/>
                    </a:lnTo>
                    <a:cubicBezTo>
                      <a:pt x="0" y="27"/>
                      <a:pt x="14" y="41"/>
                      <a:pt x="14" y="41"/>
                    </a:cubicBezTo>
                    <a:cubicBezTo>
                      <a:pt x="28" y="55"/>
                      <a:pt x="42" y="55"/>
                      <a:pt x="42" y="41"/>
                    </a:cubicBezTo>
                    <a:cubicBezTo>
                      <a:pt x="56" y="27"/>
                      <a:pt x="56" y="13"/>
                      <a:pt x="42" y="13"/>
                    </a:cubicBezTo>
                    <a:cubicBezTo>
                      <a:pt x="42" y="0"/>
                      <a:pt x="42" y="0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Freeform 223"/>
              <p:cNvSpPr>
                <a:spLocks noChangeArrowheads="1"/>
              </p:cNvSpPr>
              <p:nvPr/>
            </p:nvSpPr>
            <p:spPr bwMode="auto">
              <a:xfrm>
                <a:off x="6964218" y="10834538"/>
                <a:ext cx="179762" cy="334532"/>
              </a:xfrm>
              <a:custGeom>
                <a:avLst/>
                <a:gdLst>
                  <a:gd name="T0" fmla="*/ 108 w 191"/>
                  <a:gd name="T1" fmla="*/ 0 h 354"/>
                  <a:gd name="T2" fmla="*/ 0 w 191"/>
                  <a:gd name="T3" fmla="*/ 122 h 354"/>
                  <a:gd name="T4" fmla="*/ 190 w 191"/>
                  <a:gd name="T5" fmla="*/ 353 h 354"/>
                  <a:gd name="T6" fmla="*/ 190 w 191"/>
                  <a:gd name="T7" fmla="*/ 0 h 354"/>
                  <a:gd name="T8" fmla="*/ 108 w 191"/>
                  <a:gd name="T9" fmla="*/ 0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54">
                    <a:moveTo>
                      <a:pt x="108" y="0"/>
                    </a:moveTo>
                    <a:lnTo>
                      <a:pt x="0" y="122"/>
                    </a:lnTo>
                    <a:lnTo>
                      <a:pt x="190" y="353"/>
                    </a:lnTo>
                    <a:lnTo>
                      <a:pt x="190" y="0"/>
                    </a:lnTo>
                    <a:lnTo>
                      <a:pt x="108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6" name="Freeform 224"/>
              <p:cNvSpPr>
                <a:spLocks noChangeArrowheads="1"/>
              </p:cNvSpPr>
              <p:nvPr/>
            </p:nvSpPr>
            <p:spPr bwMode="auto">
              <a:xfrm>
                <a:off x="6705022" y="11348885"/>
                <a:ext cx="50167" cy="41816"/>
              </a:xfrm>
              <a:custGeom>
                <a:avLst/>
                <a:gdLst>
                  <a:gd name="T0" fmla="*/ 26 w 55"/>
                  <a:gd name="T1" fmla="*/ 0 h 42"/>
                  <a:gd name="T2" fmla="*/ 26 w 55"/>
                  <a:gd name="T3" fmla="*/ 0 h 42"/>
                  <a:gd name="T4" fmla="*/ 14 w 55"/>
                  <a:gd name="T5" fmla="*/ 0 h 42"/>
                  <a:gd name="T6" fmla="*/ 14 w 55"/>
                  <a:gd name="T7" fmla="*/ 41 h 42"/>
                  <a:gd name="T8" fmla="*/ 40 w 55"/>
                  <a:gd name="T9" fmla="*/ 28 h 42"/>
                  <a:gd name="T10" fmla="*/ 40 w 55"/>
                  <a:gd name="T11" fmla="*/ 0 h 42"/>
                  <a:gd name="T12" fmla="*/ 26 w 55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2">
                    <a:moveTo>
                      <a:pt x="26" y="0"/>
                    </a:moveTo>
                    <a:lnTo>
                      <a:pt x="26" y="0"/>
                    </a:lnTo>
                    <a:lnTo>
                      <a:pt x="14" y="0"/>
                    </a:lnTo>
                    <a:cubicBezTo>
                      <a:pt x="0" y="14"/>
                      <a:pt x="14" y="28"/>
                      <a:pt x="14" y="41"/>
                    </a:cubicBezTo>
                    <a:cubicBezTo>
                      <a:pt x="26" y="41"/>
                      <a:pt x="40" y="41"/>
                      <a:pt x="40" y="28"/>
                    </a:cubicBezTo>
                    <a:cubicBezTo>
                      <a:pt x="54" y="28"/>
                      <a:pt x="54" y="14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7" name="Freeform 225"/>
              <p:cNvSpPr>
                <a:spLocks noChangeArrowheads="1"/>
              </p:cNvSpPr>
              <p:nvPr/>
            </p:nvSpPr>
            <p:spPr bwMode="auto">
              <a:xfrm>
                <a:off x="6759368" y="10976718"/>
                <a:ext cx="351166" cy="246719"/>
              </a:xfrm>
              <a:custGeom>
                <a:avLst/>
                <a:gdLst>
                  <a:gd name="T0" fmla="*/ 14 w 369"/>
                  <a:gd name="T1" fmla="*/ 135 h 259"/>
                  <a:gd name="T2" fmla="*/ 14 w 369"/>
                  <a:gd name="T3" fmla="*/ 135 h 259"/>
                  <a:gd name="T4" fmla="*/ 0 w 369"/>
                  <a:gd name="T5" fmla="*/ 177 h 259"/>
                  <a:gd name="T6" fmla="*/ 41 w 369"/>
                  <a:gd name="T7" fmla="*/ 177 h 259"/>
                  <a:gd name="T8" fmla="*/ 123 w 369"/>
                  <a:gd name="T9" fmla="*/ 109 h 259"/>
                  <a:gd name="T10" fmla="*/ 123 w 369"/>
                  <a:gd name="T11" fmla="*/ 109 h 259"/>
                  <a:gd name="T12" fmla="*/ 135 w 369"/>
                  <a:gd name="T13" fmla="*/ 109 h 259"/>
                  <a:gd name="T14" fmla="*/ 135 w 369"/>
                  <a:gd name="T15" fmla="*/ 109 h 259"/>
                  <a:gd name="T16" fmla="*/ 135 w 369"/>
                  <a:gd name="T17" fmla="*/ 109 h 259"/>
                  <a:gd name="T18" fmla="*/ 135 w 369"/>
                  <a:gd name="T19" fmla="*/ 109 h 259"/>
                  <a:gd name="T20" fmla="*/ 135 w 369"/>
                  <a:gd name="T21" fmla="*/ 109 h 259"/>
                  <a:gd name="T22" fmla="*/ 231 w 369"/>
                  <a:gd name="T23" fmla="*/ 191 h 259"/>
                  <a:gd name="T24" fmla="*/ 231 w 369"/>
                  <a:gd name="T25" fmla="*/ 191 h 259"/>
                  <a:gd name="T26" fmla="*/ 300 w 369"/>
                  <a:gd name="T27" fmla="*/ 258 h 259"/>
                  <a:gd name="T28" fmla="*/ 368 w 369"/>
                  <a:gd name="T29" fmla="*/ 203 h 259"/>
                  <a:gd name="T30" fmla="*/ 204 w 369"/>
                  <a:gd name="T31" fmla="*/ 0 h 259"/>
                  <a:gd name="T32" fmla="*/ 14 w 369"/>
                  <a:gd name="T33" fmla="*/ 135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9" h="259">
                    <a:moveTo>
                      <a:pt x="14" y="135"/>
                    </a:moveTo>
                    <a:lnTo>
                      <a:pt x="14" y="135"/>
                    </a:lnTo>
                    <a:cubicBezTo>
                      <a:pt x="0" y="135"/>
                      <a:pt x="0" y="163"/>
                      <a:pt x="0" y="177"/>
                    </a:cubicBezTo>
                    <a:cubicBezTo>
                      <a:pt x="14" y="177"/>
                      <a:pt x="41" y="177"/>
                      <a:pt x="41" y="177"/>
                    </a:cubicBezTo>
                    <a:cubicBezTo>
                      <a:pt x="55" y="163"/>
                      <a:pt x="109" y="109"/>
                      <a:pt x="123" y="109"/>
                    </a:cubicBezTo>
                    <a:lnTo>
                      <a:pt x="123" y="109"/>
                    </a:lnTo>
                    <a:cubicBezTo>
                      <a:pt x="123" y="109"/>
                      <a:pt x="123" y="109"/>
                      <a:pt x="135" y="109"/>
                    </a:cubicBez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cubicBezTo>
                      <a:pt x="231" y="191"/>
                      <a:pt x="231" y="191"/>
                      <a:pt x="231" y="191"/>
                    </a:cubicBezTo>
                    <a:lnTo>
                      <a:pt x="231" y="191"/>
                    </a:lnTo>
                    <a:cubicBezTo>
                      <a:pt x="300" y="258"/>
                      <a:pt x="300" y="258"/>
                      <a:pt x="300" y="258"/>
                    </a:cubicBezTo>
                    <a:cubicBezTo>
                      <a:pt x="368" y="203"/>
                      <a:pt x="368" y="203"/>
                      <a:pt x="368" y="203"/>
                    </a:cubicBezTo>
                    <a:cubicBezTo>
                      <a:pt x="204" y="0"/>
                      <a:pt x="204" y="0"/>
                      <a:pt x="204" y="0"/>
                    </a:cubicBezTo>
                    <a:cubicBezTo>
                      <a:pt x="177" y="13"/>
                      <a:pt x="55" y="67"/>
                      <a:pt x="14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Freeform 226"/>
              <p:cNvSpPr>
                <a:spLocks noChangeArrowheads="1"/>
              </p:cNvSpPr>
              <p:nvPr/>
            </p:nvSpPr>
            <p:spPr bwMode="auto">
              <a:xfrm>
                <a:off x="6629773" y="11001807"/>
                <a:ext cx="438957" cy="426529"/>
              </a:xfrm>
              <a:custGeom>
                <a:avLst/>
                <a:gdLst>
                  <a:gd name="T0" fmla="*/ 259 w 463"/>
                  <a:gd name="T1" fmla="*/ 108 h 450"/>
                  <a:gd name="T2" fmla="*/ 259 w 463"/>
                  <a:gd name="T3" fmla="*/ 108 h 450"/>
                  <a:gd name="T4" fmla="*/ 204 w 463"/>
                  <a:gd name="T5" fmla="*/ 164 h 450"/>
                  <a:gd name="T6" fmla="*/ 122 w 463"/>
                  <a:gd name="T7" fmla="*/ 164 h 450"/>
                  <a:gd name="T8" fmla="*/ 122 w 463"/>
                  <a:gd name="T9" fmla="*/ 94 h 450"/>
                  <a:gd name="T10" fmla="*/ 217 w 463"/>
                  <a:gd name="T11" fmla="*/ 0 h 450"/>
                  <a:gd name="T12" fmla="*/ 150 w 463"/>
                  <a:gd name="T13" fmla="*/ 13 h 450"/>
                  <a:gd name="T14" fmla="*/ 0 w 463"/>
                  <a:gd name="T15" fmla="*/ 218 h 450"/>
                  <a:gd name="T16" fmla="*/ 271 w 463"/>
                  <a:gd name="T17" fmla="*/ 449 h 450"/>
                  <a:gd name="T18" fmla="*/ 286 w 463"/>
                  <a:gd name="T19" fmla="*/ 449 h 450"/>
                  <a:gd name="T20" fmla="*/ 286 w 463"/>
                  <a:gd name="T21" fmla="*/ 449 h 450"/>
                  <a:gd name="T22" fmla="*/ 299 w 463"/>
                  <a:gd name="T23" fmla="*/ 449 h 450"/>
                  <a:gd name="T24" fmla="*/ 313 w 463"/>
                  <a:gd name="T25" fmla="*/ 435 h 450"/>
                  <a:gd name="T26" fmla="*/ 299 w 463"/>
                  <a:gd name="T27" fmla="*/ 422 h 450"/>
                  <a:gd name="T28" fmla="*/ 204 w 463"/>
                  <a:gd name="T29" fmla="*/ 339 h 450"/>
                  <a:gd name="T30" fmla="*/ 204 w 463"/>
                  <a:gd name="T31" fmla="*/ 313 h 450"/>
                  <a:gd name="T32" fmla="*/ 231 w 463"/>
                  <a:gd name="T33" fmla="*/ 313 h 450"/>
                  <a:gd name="T34" fmla="*/ 245 w 463"/>
                  <a:gd name="T35" fmla="*/ 327 h 450"/>
                  <a:gd name="T36" fmla="*/ 245 w 463"/>
                  <a:gd name="T37" fmla="*/ 327 h 450"/>
                  <a:gd name="T38" fmla="*/ 327 w 463"/>
                  <a:gd name="T39" fmla="*/ 395 h 450"/>
                  <a:gd name="T40" fmla="*/ 327 w 463"/>
                  <a:gd name="T41" fmla="*/ 395 h 450"/>
                  <a:gd name="T42" fmla="*/ 340 w 463"/>
                  <a:gd name="T43" fmla="*/ 408 h 450"/>
                  <a:gd name="T44" fmla="*/ 354 w 463"/>
                  <a:gd name="T45" fmla="*/ 408 h 450"/>
                  <a:gd name="T46" fmla="*/ 367 w 463"/>
                  <a:gd name="T47" fmla="*/ 408 h 450"/>
                  <a:gd name="T48" fmla="*/ 367 w 463"/>
                  <a:gd name="T49" fmla="*/ 381 h 450"/>
                  <a:gd name="T50" fmla="*/ 271 w 463"/>
                  <a:gd name="T51" fmla="*/ 299 h 450"/>
                  <a:gd name="T52" fmla="*/ 271 w 463"/>
                  <a:gd name="T53" fmla="*/ 272 h 450"/>
                  <a:gd name="T54" fmla="*/ 286 w 463"/>
                  <a:gd name="T55" fmla="*/ 272 h 450"/>
                  <a:gd name="T56" fmla="*/ 299 w 463"/>
                  <a:gd name="T57" fmla="*/ 285 h 450"/>
                  <a:gd name="T58" fmla="*/ 381 w 463"/>
                  <a:gd name="T59" fmla="*/ 354 h 450"/>
                  <a:gd name="T60" fmla="*/ 381 w 463"/>
                  <a:gd name="T61" fmla="*/ 367 h 450"/>
                  <a:gd name="T62" fmla="*/ 394 w 463"/>
                  <a:gd name="T63" fmla="*/ 367 h 450"/>
                  <a:gd name="T64" fmla="*/ 394 w 463"/>
                  <a:gd name="T65" fmla="*/ 367 h 450"/>
                  <a:gd name="T66" fmla="*/ 394 w 463"/>
                  <a:gd name="T67" fmla="*/ 367 h 450"/>
                  <a:gd name="T68" fmla="*/ 394 w 463"/>
                  <a:gd name="T69" fmla="*/ 367 h 450"/>
                  <a:gd name="T70" fmla="*/ 394 w 463"/>
                  <a:gd name="T71" fmla="*/ 367 h 450"/>
                  <a:gd name="T72" fmla="*/ 408 w 463"/>
                  <a:gd name="T73" fmla="*/ 354 h 450"/>
                  <a:gd name="T74" fmla="*/ 408 w 463"/>
                  <a:gd name="T75" fmla="*/ 327 h 450"/>
                  <a:gd name="T76" fmla="*/ 313 w 463"/>
                  <a:gd name="T77" fmla="*/ 245 h 450"/>
                  <a:gd name="T78" fmla="*/ 313 w 463"/>
                  <a:gd name="T79" fmla="*/ 245 h 450"/>
                  <a:gd name="T80" fmla="*/ 313 w 463"/>
                  <a:gd name="T81" fmla="*/ 245 h 450"/>
                  <a:gd name="T82" fmla="*/ 313 w 463"/>
                  <a:gd name="T83" fmla="*/ 218 h 450"/>
                  <a:gd name="T84" fmla="*/ 327 w 463"/>
                  <a:gd name="T85" fmla="*/ 218 h 450"/>
                  <a:gd name="T86" fmla="*/ 422 w 463"/>
                  <a:gd name="T87" fmla="*/ 299 h 450"/>
                  <a:gd name="T88" fmla="*/ 422 w 463"/>
                  <a:gd name="T89" fmla="*/ 299 h 450"/>
                  <a:gd name="T90" fmla="*/ 436 w 463"/>
                  <a:gd name="T91" fmla="*/ 299 h 450"/>
                  <a:gd name="T92" fmla="*/ 436 w 463"/>
                  <a:gd name="T93" fmla="*/ 299 h 450"/>
                  <a:gd name="T94" fmla="*/ 450 w 463"/>
                  <a:gd name="T95" fmla="*/ 299 h 450"/>
                  <a:gd name="T96" fmla="*/ 450 w 463"/>
                  <a:gd name="T97" fmla="*/ 272 h 450"/>
                  <a:gd name="T98" fmla="*/ 259 w 463"/>
                  <a:gd name="T99" fmla="*/ 108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3" h="450">
                    <a:moveTo>
                      <a:pt x="259" y="108"/>
                    </a:moveTo>
                    <a:lnTo>
                      <a:pt x="259" y="108"/>
                    </a:lnTo>
                    <a:cubicBezTo>
                      <a:pt x="245" y="122"/>
                      <a:pt x="217" y="136"/>
                      <a:pt x="204" y="164"/>
                    </a:cubicBezTo>
                    <a:cubicBezTo>
                      <a:pt x="177" y="190"/>
                      <a:pt x="150" y="190"/>
                      <a:pt x="122" y="164"/>
                    </a:cubicBezTo>
                    <a:cubicBezTo>
                      <a:pt x="96" y="150"/>
                      <a:pt x="108" y="108"/>
                      <a:pt x="122" y="94"/>
                    </a:cubicBezTo>
                    <a:cubicBezTo>
                      <a:pt x="136" y="54"/>
                      <a:pt x="177" y="27"/>
                      <a:pt x="217" y="0"/>
                    </a:cubicBezTo>
                    <a:cubicBezTo>
                      <a:pt x="150" y="13"/>
                      <a:pt x="150" y="13"/>
                      <a:pt x="150" y="13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271" y="449"/>
                      <a:pt x="271" y="449"/>
                      <a:pt x="271" y="449"/>
                    </a:cubicBezTo>
                    <a:cubicBezTo>
                      <a:pt x="286" y="449"/>
                      <a:pt x="286" y="449"/>
                      <a:pt x="286" y="449"/>
                    </a:cubicBezTo>
                    <a:lnTo>
                      <a:pt x="286" y="449"/>
                    </a:lnTo>
                    <a:cubicBezTo>
                      <a:pt x="299" y="449"/>
                      <a:pt x="299" y="449"/>
                      <a:pt x="299" y="449"/>
                    </a:cubicBezTo>
                    <a:cubicBezTo>
                      <a:pt x="313" y="435"/>
                      <a:pt x="313" y="435"/>
                      <a:pt x="313" y="435"/>
                    </a:cubicBezTo>
                    <a:cubicBezTo>
                      <a:pt x="313" y="422"/>
                      <a:pt x="313" y="422"/>
                      <a:pt x="299" y="422"/>
                    </a:cubicBezTo>
                    <a:cubicBezTo>
                      <a:pt x="204" y="339"/>
                      <a:pt x="204" y="339"/>
                      <a:pt x="204" y="339"/>
                    </a:cubicBezTo>
                    <a:cubicBezTo>
                      <a:pt x="204" y="339"/>
                      <a:pt x="204" y="327"/>
                      <a:pt x="204" y="313"/>
                    </a:cubicBezTo>
                    <a:cubicBezTo>
                      <a:pt x="217" y="313"/>
                      <a:pt x="217" y="313"/>
                      <a:pt x="231" y="313"/>
                    </a:cubicBezTo>
                    <a:cubicBezTo>
                      <a:pt x="245" y="327"/>
                      <a:pt x="245" y="327"/>
                      <a:pt x="245" y="327"/>
                    </a:cubicBezTo>
                    <a:lnTo>
                      <a:pt x="245" y="327"/>
                    </a:lnTo>
                    <a:cubicBezTo>
                      <a:pt x="327" y="395"/>
                      <a:pt x="327" y="395"/>
                      <a:pt x="327" y="395"/>
                    </a:cubicBezTo>
                    <a:lnTo>
                      <a:pt x="327" y="395"/>
                    </a:lnTo>
                    <a:cubicBezTo>
                      <a:pt x="340" y="408"/>
                      <a:pt x="340" y="408"/>
                      <a:pt x="340" y="408"/>
                    </a:cubicBezTo>
                    <a:cubicBezTo>
                      <a:pt x="340" y="408"/>
                      <a:pt x="340" y="408"/>
                      <a:pt x="354" y="408"/>
                    </a:cubicBezTo>
                    <a:cubicBezTo>
                      <a:pt x="354" y="408"/>
                      <a:pt x="354" y="408"/>
                      <a:pt x="367" y="408"/>
                    </a:cubicBezTo>
                    <a:cubicBezTo>
                      <a:pt x="367" y="395"/>
                      <a:pt x="367" y="381"/>
                      <a:pt x="367" y="381"/>
                    </a:cubicBezTo>
                    <a:cubicBezTo>
                      <a:pt x="271" y="299"/>
                      <a:pt x="271" y="299"/>
                      <a:pt x="271" y="299"/>
                    </a:cubicBezTo>
                    <a:cubicBezTo>
                      <a:pt x="259" y="285"/>
                      <a:pt x="259" y="285"/>
                      <a:pt x="271" y="272"/>
                    </a:cubicBezTo>
                    <a:lnTo>
                      <a:pt x="286" y="272"/>
                    </a:lnTo>
                    <a:cubicBezTo>
                      <a:pt x="299" y="285"/>
                      <a:pt x="299" y="285"/>
                      <a:pt x="299" y="285"/>
                    </a:cubicBezTo>
                    <a:cubicBezTo>
                      <a:pt x="381" y="354"/>
                      <a:pt x="381" y="354"/>
                      <a:pt x="381" y="354"/>
                    </a:cubicBezTo>
                    <a:cubicBezTo>
                      <a:pt x="381" y="367"/>
                      <a:pt x="381" y="367"/>
                      <a:pt x="381" y="367"/>
                    </a:cubicBezTo>
                    <a:cubicBezTo>
                      <a:pt x="394" y="367"/>
                      <a:pt x="394" y="367"/>
                      <a:pt x="394" y="367"/>
                    </a:cubicBez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cubicBezTo>
                      <a:pt x="408" y="367"/>
                      <a:pt x="408" y="354"/>
                      <a:pt x="408" y="354"/>
                    </a:cubicBezTo>
                    <a:cubicBezTo>
                      <a:pt x="422" y="339"/>
                      <a:pt x="422" y="339"/>
                      <a:pt x="408" y="327"/>
                    </a:cubicBezTo>
                    <a:cubicBezTo>
                      <a:pt x="313" y="245"/>
                      <a:pt x="313" y="245"/>
                      <a:pt x="313" y="245"/>
                    </a:cubicBezTo>
                    <a:lnTo>
                      <a:pt x="313" y="245"/>
                    </a:lnTo>
                    <a:lnTo>
                      <a:pt x="313" y="245"/>
                    </a:lnTo>
                    <a:cubicBezTo>
                      <a:pt x="299" y="231"/>
                      <a:pt x="299" y="231"/>
                      <a:pt x="313" y="218"/>
                    </a:cubicBezTo>
                    <a:lnTo>
                      <a:pt x="327" y="218"/>
                    </a:lnTo>
                    <a:cubicBezTo>
                      <a:pt x="422" y="299"/>
                      <a:pt x="422" y="299"/>
                      <a:pt x="422" y="299"/>
                    </a:cubicBezTo>
                    <a:lnTo>
                      <a:pt x="422" y="299"/>
                    </a:lnTo>
                    <a:lnTo>
                      <a:pt x="436" y="299"/>
                    </a:lnTo>
                    <a:lnTo>
                      <a:pt x="436" y="299"/>
                    </a:lnTo>
                    <a:lnTo>
                      <a:pt x="450" y="299"/>
                    </a:lnTo>
                    <a:cubicBezTo>
                      <a:pt x="462" y="285"/>
                      <a:pt x="450" y="272"/>
                      <a:pt x="450" y="272"/>
                    </a:cubicBezTo>
                    <a:lnTo>
                      <a:pt x="259" y="108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9" name="Freeform 227"/>
              <p:cNvSpPr>
                <a:spLocks noChangeArrowheads="1"/>
              </p:cNvSpPr>
              <p:nvPr/>
            </p:nvSpPr>
            <p:spPr bwMode="auto">
              <a:xfrm>
                <a:off x="6759368" y="11390700"/>
                <a:ext cx="54349" cy="50180"/>
              </a:xfrm>
              <a:custGeom>
                <a:avLst/>
                <a:gdLst>
                  <a:gd name="T0" fmla="*/ 27 w 56"/>
                  <a:gd name="T1" fmla="*/ 0 h 55"/>
                  <a:gd name="T2" fmla="*/ 27 w 56"/>
                  <a:gd name="T3" fmla="*/ 0 h 55"/>
                  <a:gd name="T4" fmla="*/ 14 w 56"/>
                  <a:gd name="T5" fmla="*/ 14 h 55"/>
                  <a:gd name="T6" fmla="*/ 14 w 56"/>
                  <a:gd name="T7" fmla="*/ 41 h 55"/>
                  <a:gd name="T8" fmla="*/ 41 w 56"/>
                  <a:gd name="T9" fmla="*/ 41 h 55"/>
                  <a:gd name="T10" fmla="*/ 41 w 56"/>
                  <a:gd name="T11" fmla="*/ 0 h 55"/>
                  <a:gd name="T12" fmla="*/ 27 w 56"/>
                  <a:gd name="T1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55">
                    <a:moveTo>
                      <a:pt x="27" y="0"/>
                    </a:moveTo>
                    <a:lnTo>
                      <a:pt x="27" y="0"/>
                    </a:lnTo>
                    <a:cubicBezTo>
                      <a:pt x="27" y="0"/>
                      <a:pt x="14" y="0"/>
                      <a:pt x="14" y="14"/>
                    </a:cubicBezTo>
                    <a:cubicBezTo>
                      <a:pt x="0" y="14"/>
                      <a:pt x="14" y="27"/>
                      <a:pt x="14" y="41"/>
                    </a:cubicBezTo>
                    <a:cubicBezTo>
                      <a:pt x="27" y="54"/>
                      <a:pt x="41" y="41"/>
                      <a:pt x="41" y="41"/>
                    </a:cubicBezTo>
                    <a:cubicBezTo>
                      <a:pt x="55" y="27"/>
                      <a:pt x="55" y="14"/>
                      <a:pt x="41" y="0"/>
                    </a:cubicBezTo>
                    <a:cubicBezTo>
                      <a:pt x="41" y="0"/>
                      <a:pt x="41" y="0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Freeform 228"/>
              <p:cNvSpPr>
                <a:spLocks noChangeArrowheads="1"/>
              </p:cNvSpPr>
              <p:nvPr/>
            </p:nvSpPr>
            <p:spPr bwMode="auto">
              <a:xfrm>
                <a:off x="6901508" y="11453424"/>
                <a:ext cx="4181" cy="4184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5" name="Group 77"/>
            <p:cNvGrpSpPr/>
            <p:nvPr/>
          </p:nvGrpSpPr>
          <p:grpSpPr>
            <a:xfrm>
              <a:off x="2938153" y="5470202"/>
              <a:ext cx="422725" cy="378475"/>
              <a:chOff x="13222514" y="10847085"/>
              <a:chExt cx="635447" cy="568706"/>
            </a:xfrm>
            <a:solidFill>
              <a:srgbClr val="FFFFFF"/>
            </a:solidFill>
          </p:grpSpPr>
          <p:sp>
            <p:nvSpPr>
              <p:cNvPr id="59" name="Freeform 245"/>
              <p:cNvSpPr>
                <a:spLocks noChangeArrowheads="1"/>
              </p:cNvSpPr>
              <p:nvPr/>
            </p:nvSpPr>
            <p:spPr bwMode="auto">
              <a:xfrm>
                <a:off x="13276865" y="11323795"/>
                <a:ext cx="41805" cy="41816"/>
              </a:xfrm>
              <a:custGeom>
                <a:avLst/>
                <a:gdLst>
                  <a:gd name="T0" fmla="*/ 14 w 42"/>
                  <a:gd name="T1" fmla="*/ 42 h 43"/>
                  <a:gd name="T2" fmla="*/ 14 w 42"/>
                  <a:gd name="T3" fmla="*/ 42 h 43"/>
                  <a:gd name="T4" fmla="*/ 41 w 42"/>
                  <a:gd name="T5" fmla="*/ 28 h 43"/>
                  <a:gd name="T6" fmla="*/ 14 w 42"/>
                  <a:gd name="T7" fmla="*/ 0 h 43"/>
                  <a:gd name="T8" fmla="*/ 0 w 42"/>
                  <a:gd name="T9" fmla="*/ 28 h 43"/>
                  <a:gd name="T10" fmla="*/ 14 w 42"/>
                  <a:gd name="T11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3">
                    <a:moveTo>
                      <a:pt x="14" y="42"/>
                    </a:moveTo>
                    <a:lnTo>
                      <a:pt x="14" y="42"/>
                    </a:lnTo>
                    <a:cubicBezTo>
                      <a:pt x="28" y="42"/>
                      <a:pt x="41" y="42"/>
                      <a:pt x="41" y="28"/>
                    </a:cubicBezTo>
                    <a:cubicBezTo>
                      <a:pt x="41" y="15"/>
                      <a:pt x="28" y="0"/>
                      <a:pt x="14" y="0"/>
                    </a:cubicBezTo>
                    <a:cubicBezTo>
                      <a:pt x="14" y="0"/>
                      <a:pt x="0" y="15"/>
                      <a:pt x="0" y="28"/>
                    </a:cubicBezTo>
                    <a:cubicBezTo>
                      <a:pt x="0" y="42"/>
                      <a:pt x="14" y="42"/>
                      <a:pt x="14" y="4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Freeform 246"/>
              <p:cNvSpPr>
                <a:spLocks noChangeArrowheads="1"/>
              </p:cNvSpPr>
              <p:nvPr/>
            </p:nvSpPr>
            <p:spPr bwMode="auto">
              <a:xfrm>
                <a:off x="13222514" y="11068713"/>
                <a:ext cx="167223" cy="347078"/>
              </a:xfrm>
              <a:custGeom>
                <a:avLst/>
                <a:gdLst>
                  <a:gd name="T0" fmla="*/ 0 w 177"/>
                  <a:gd name="T1" fmla="*/ 367 h 368"/>
                  <a:gd name="T2" fmla="*/ 0 w 177"/>
                  <a:gd name="T3" fmla="*/ 367 h 368"/>
                  <a:gd name="T4" fmla="*/ 176 w 177"/>
                  <a:gd name="T5" fmla="*/ 367 h 368"/>
                  <a:gd name="T6" fmla="*/ 176 w 177"/>
                  <a:gd name="T7" fmla="*/ 0 h 368"/>
                  <a:gd name="T8" fmla="*/ 0 w 177"/>
                  <a:gd name="T9" fmla="*/ 0 h 368"/>
                  <a:gd name="T10" fmla="*/ 0 w 177"/>
                  <a:gd name="T11" fmla="*/ 367 h 368"/>
                  <a:gd name="T12" fmla="*/ 95 w 177"/>
                  <a:gd name="T13" fmla="*/ 26 h 368"/>
                  <a:gd name="T14" fmla="*/ 95 w 177"/>
                  <a:gd name="T15" fmla="*/ 26 h 368"/>
                  <a:gd name="T16" fmla="*/ 122 w 177"/>
                  <a:gd name="T17" fmla="*/ 26 h 368"/>
                  <a:gd name="T18" fmla="*/ 122 w 177"/>
                  <a:gd name="T19" fmla="*/ 231 h 368"/>
                  <a:gd name="T20" fmla="*/ 95 w 177"/>
                  <a:gd name="T21" fmla="*/ 231 h 368"/>
                  <a:gd name="T22" fmla="*/ 95 w 177"/>
                  <a:gd name="T23" fmla="*/ 26 h 368"/>
                  <a:gd name="T24" fmla="*/ 68 w 177"/>
                  <a:gd name="T25" fmla="*/ 245 h 368"/>
                  <a:gd name="T26" fmla="*/ 68 w 177"/>
                  <a:gd name="T27" fmla="*/ 245 h 368"/>
                  <a:gd name="T28" fmla="*/ 122 w 177"/>
                  <a:gd name="T29" fmla="*/ 299 h 368"/>
                  <a:gd name="T30" fmla="*/ 68 w 177"/>
                  <a:gd name="T31" fmla="*/ 340 h 368"/>
                  <a:gd name="T32" fmla="*/ 27 w 177"/>
                  <a:gd name="T33" fmla="*/ 299 h 368"/>
                  <a:gd name="T34" fmla="*/ 68 w 177"/>
                  <a:gd name="T35" fmla="*/ 245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7" h="368">
                    <a:moveTo>
                      <a:pt x="0" y="367"/>
                    </a:moveTo>
                    <a:lnTo>
                      <a:pt x="0" y="367"/>
                    </a:lnTo>
                    <a:cubicBezTo>
                      <a:pt x="176" y="367"/>
                      <a:pt x="176" y="367"/>
                      <a:pt x="176" y="367"/>
                    </a:cubicBezTo>
                    <a:cubicBezTo>
                      <a:pt x="176" y="0"/>
                      <a:pt x="176" y="0"/>
                      <a:pt x="17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67"/>
                    </a:lnTo>
                    <a:close/>
                    <a:moveTo>
                      <a:pt x="95" y="26"/>
                    </a:moveTo>
                    <a:lnTo>
                      <a:pt x="95" y="26"/>
                    </a:ln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31"/>
                      <a:pt x="122" y="231"/>
                      <a:pt x="122" y="231"/>
                    </a:cubicBezTo>
                    <a:cubicBezTo>
                      <a:pt x="95" y="231"/>
                      <a:pt x="95" y="231"/>
                      <a:pt x="95" y="231"/>
                    </a:cubicBezTo>
                    <a:lnTo>
                      <a:pt x="95" y="26"/>
                    </a:lnTo>
                    <a:close/>
                    <a:moveTo>
                      <a:pt x="68" y="245"/>
                    </a:moveTo>
                    <a:lnTo>
                      <a:pt x="68" y="245"/>
                    </a:lnTo>
                    <a:cubicBezTo>
                      <a:pt x="95" y="245"/>
                      <a:pt x="122" y="271"/>
                      <a:pt x="122" y="299"/>
                    </a:cubicBezTo>
                    <a:cubicBezTo>
                      <a:pt x="122" y="327"/>
                      <a:pt x="95" y="340"/>
                      <a:pt x="68" y="340"/>
                    </a:cubicBezTo>
                    <a:cubicBezTo>
                      <a:pt x="41" y="340"/>
                      <a:pt x="27" y="327"/>
                      <a:pt x="27" y="299"/>
                    </a:cubicBezTo>
                    <a:cubicBezTo>
                      <a:pt x="27" y="271"/>
                      <a:pt x="41" y="245"/>
                      <a:pt x="68" y="24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Freeform 247"/>
              <p:cNvSpPr>
                <a:spLocks noChangeArrowheads="1"/>
              </p:cNvSpPr>
              <p:nvPr/>
            </p:nvSpPr>
            <p:spPr bwMode="auto">
              <a:xfrm>
                <a:off x="13419004" y="10847085"/>
                <a:ext cx="438957" cy="518524"/>
              </a:xfrm>
              <a:custGeom>
                <a:avLst/>
                <a:gdLst>
                  <a:gd name="T0" fmla="*/ 436 w 464"/>
                  <a:gd name="T1" fmla="*/ 300 h 546"/>
                  <a:gd name="T2" fmla="*/ 436 w 464"/>
                  <a:gd name="T3" fmla="*/ 300 h 546"/>
                  <a:gd name="T4" fmla="*/ 463 w 464"/>
                  <a:gd name="T5" fmla="*/ 258 h 546"/>
                  <a:gd name="T6" fmla="*/ 408 w 464"/>
                  <a:gd name="T7" fmla="*/ 218 h 546"/>
                  <a:gd name="T8" fmla="*/ 314 w 464"/>
                  <a:gd name="T9" fmla="*/ 218 h 546"/>
                  <a:gd name="T10" fmla="*/ 394 w 464"/>
                  <a:gd name="T11" fmla="*/ 95 h 546"/>
                  <a:gd name="T12" fmla="*/ 382 w 464"/>
                  <a:gd name="T13" fmla="*/ 27 h 546"/>
                  <a:gd name="T14" fmla="*/ 326 w 464"/>
                  <a:gd name="T15" fmla="*/ 0 h 546"/>
                  <a:gd name="T16" fmla="*/ 326 w 464"/>
                  <a:gd name="T17" fmla="*/ 0 h 546"/>
                  <a:gd name="T18" fmla="*/ 326 w 464"/>
                  <a:gd name="T19" fmla="*/ 0 h 546"/>
                  <a:gd name="T20" fmla="*/ 218 w 464"/>
                  <a:gd name="T21" fmla="*/ 123 h 546"/>
                  <a:gd name="T22" fmla="*/ 41 w 464"/>
                  <a:gd name="T23" fmla="*/ 272 h 546"/>
                  <a:gd name="T24" fmla="*/ 0 w 464"/>
                  <a:gd name="T25" fmla="*/ 272 h 546"/>
                  <a:gd name="T26" fmla="*/ 0 w 464"/>
                  <a:gd name="T27" fmla="*/ 518 h 546"/>
                  <a:gd name="T28" fmla="*/ 0 w 464"/>
                  <a:gd name="T29" fmla="*/ 518 h 546"/>
                  <a:gd name="T30" fmla="*/ 14 w 464"/>
                  <a:gd name="T31" fmla="*/ 518 h 546"/>
                  <a:gd name="T32" fmla="*/ 81 w 464"/>
                  <a:gd name="T33" fmla="*/ 531 h 546"/>
                  <a:gd name="T34" fmla="*/ 135 w 464"/>
                  <a:gd name="T35" fmla="*/ 545 h 546"/>
                  <a:gd name="T36" fmla="*/ 231 w 464"/>
                  <a:gd name="T37" fmla="*/ 531 h 546"/>
                  <a:gd name="T38" fmla="*/ 368 w 464"/>
                  <a:gd name="T39" fmla="*/ 531 h 546"/>
                  <a:gd name="T40" fmla="*/ 408 w 464"/>
                  <a:gd name="T41" fmla="*/ 491 h 546"/>
                  <a:gd name="T42" fmla="*/ 394 w 464"/>
                  <a:gd name="T43" fmla="*/ 449 h 546"/>
                  <a:gd name="T44" fmla="*/ 394 w 464"/>
                  <a:gd name="T45" fmla="*/ 449 h 546"/>
                  <a:gd name="T46" fmla="*/ 449 w 464"/>
                  <a:gd name="T47" fmla="*/ 409 h 546"/>
                  <a:gd name="T48" fmla="*/ 422 w 464"/>
                  <a:gd name="T49" fmla="*/ 382 h 546"/>
                  <a:gd name="T50" fmla="*/ 463 w 464"/>
                  <a:gd name="T51" fmla="*/ 328 h 546"/>
                  <a:gd name="T52" fmla="*/ 436 w 464"/>
                  <a:gd name="T53" fmla="*/ 300 h 546"/>
                  <a:gd name="T54" fmla="*/ 204 w 464"/>
                  <a:gd name="T55" fmla="*/ 204 h 546"/>
                  <a:gd name="T56" fmla="*/ 204 w 464"/>
                  <a:gd name="T57" fmla="*/ 204 h 546"/>
                  <a:gd name="T58" fmla="*/ 123 w 464"/>
                  <a:gd name="T59" fmla="*/ 300 h 546"/>
                  <a:gd name="T60" fmla="*/ 109 w 464"/>
                  <a:gd name="T61" fmla="*/ 314 h 546"/>
                  <a:gd name="T62" fmla="*/ 109 w 464"/>
                  <a:gd name="T63" fmla="*/ 314 h 546"/>
                  <a:gd name="T64" fmla="*/ 95 w 464"/>
                  <a:gd name="T65" fmla="*/ 286 h 546"/>
                  <a:gd name="T66" fmla="*/ 191 w 464"/>
                  <a:gd name="T67" fmla="*/ 191 h 546"/>
                  <a:gd name="T68" fmla="*/ 218 w 464"/>
                  <a:gd name="T69" fmla="*/ 191 h 546"/>
                  <a:gd name="T70" fmla="*/ 204 w 464"/>
                  <a:gd name="T71" fmla="*/ 204 h 5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64" h="546">
                    <a:moveTo>
                      <a:pt x="436" y="300"/>
                    </a:moveTo>
                    <a:lnTo>
                      <a:pt x="436" y="300"/>
                    </a:lnTo>
                    <a:cubicBezTo>
                      <a:pt x="449" y="286"/>
                      <a:pt x="463" y="272"/>
                      <a:pt x="463" y="258"/>
                    </a:cubicBezTo>
                    <a:cubicBezTo>
                      <a:pt x="463" y="232"/>
                      <a:pt x="436" y="218"/>
                      <a:pt x="408" y="218"/>
                    </a:cubicBezTo>
                    <a:cubicBezTo>
                      <a:pt x="314" y="218"/>
                      <a:pt x="314" y="218"/>
                      <a:pt x="314" y="218"/>
                    </a:cubicBezTo>
                    <a:cubicBezTo>
                      <a:pt x="340" y="191"/>
                      <a:pt x="382" y="150"/>
                      <a:pt x="394" y="95"/>
                    </a:cubicBezTo>
                    <a:cubicBezTo>
                      <a:pt x="394" y="69"/>
                      <a:pt x="394" y="41"/>
                      <a:pt x="382" y="27"/>
                    </a:cubicBezTo>
                    <a:cubicBezTo>
                      <a:pt x="368" y="0"/>
                      <a:pt x="326" y="0"/>
                      <a:pt x="326" y="0"/>
                    </a:cubicBezTo>
                    <a:lnTo>
                      <a:pt x="326" y="0"/>
                    </a:lnTo>
                    <a:lnTo>
                      <a:pt x="326" y="0"/>
                    </a:lnTo>
                    <a:cubicBezTo>
                      <a:pt x="326" y="27"/>
                      <a:pt x="314" y="69"/>
                      <a:pt x="218" y="123"/>
                    </a:cubicBezTo>
                    <a:cubicBezTo>
                      <a:pt x="123" y="191"/>
                      <a:pt x="55" y="258"/>
                      <a:pt x="41" y="272"/>
                    </a:cubicBezTo>
                    <a:cubicBezTo>
                      <a:pt x="0" y="272"/>
                      <a:pt x="0" y="272"/>
                      <a:pt x="0" y="272"/>
                    </a:cubicBezTo>
                    <a:cubicBezTo>
                      <a:pt x="0" y="518"/>
                      <a:pt x="0" y="518"/>
                      <a:pt x="0" y="518"/>
                    </a:cubicBezTo>
                    <a:lnTo>
                      <a:pt x="0" y="518"/>
                    </a:lnTo>
                    <a:cubicBezTo>
                      <a:pt x="0" y="518"/>
                      <a:pt x="0" y="518"/>
                      <a:pt x="14" y="518"/>
                    </a:cubicBezTo>
                    <a:cubicBezTo>
                      <a:pt x="27" y="518"/>
                      <a:pt x="55" y="518"/>
                      <a:pt x="81" y="531"/>
                    </a:cubicBezTo>
                    <a:cubicBezTo>
                      <a:pt x="95" y="531"/>
                      <a:pt x="109" y="545"/>
                      <a:pt x="135" y="545"/>
                    </a:cubicBezTo>
                    <a:cubicBezTo>
                      <a:pt x="177" y="545"/>
                      <a:pt x="231" y="531"/>
                      <a:pt x="231" y="531"/>
                    </a:cubicBezTo>
                    <a:cubicBezTo>
                      <a:pt x="368" y="531"/>
                      <a:pt x="368" y="531"/>
                      <a:pt x="368" y="531"/>
                    </a:cubicBezTo>
                    <a:cubicBezTo>
                      <a:pt x="394" y="531"/>
                      <a:pt x="408" y="518"/>
                      <a:pt x="408" y="491"/>
                    </a:cubicBezTo>
                    <a:cubicBezTo>
                      <a:pt x="408" y="477"/>
                      <a:pt x="408" y="463"/>
                      <a:pt x="394" y="449"/>
                    </a:cubicBezTo>
                    <a:lnTo>
                      <a:pt x="394" y="449"/>
                    </a:lnTo>
                    <a:cubicBezTo>
                      <a:pt x="422" y="449"/>
                      <a:pt x="449" y="436"/>
                      <a:pt x="449" y="409"/>
                    </a:cubicBezTo>
                    <a:cubicBezTo>
                      <a:pt x="449" y="395"/>
                      <a:pt x="436" y="382"/>
                      <a:pt x="422" y="382"/>
                    </a:cubicBezTo>
                    <a:cubicBezTo>
                      <a:pt x="449" y="368"/>
                      <a:pt x="463" y="354"/>
                      <a:pt x="463" y="328"/>
                    </a:cubicBezTo>
                    <a:cubicBezTo>
                      <a:pt x="463" y="314"/>
                      <a:pt x="449" y="300"/>
                      <a:pt x="436" y="300"/>
                    </a:cubicBezTo>
                    <a:close/>
                    <a:moveTo>
                      <a:pt x="204" y="204"/>
                    </a:moveTo>
                    <a:lnTo>
                      <a:pt x="204" y="204"/>
                    </a:lnTo>
                    <a:cubicBezTo>
                      <a:pt x="163" y="246"/>
                      <a:pt x="123" y="300"/>
                      <a:pt x="123" y="300"/>
                    </a:cubicBezTo>
                    <a:cubicBezTo>
                      <a:pt x="123" y="314"/>
                      <a:pt x="123" y="314"/>
                      <a:pt x="109" y="314"/>
                    </a:cubicBezTo>
                    <a:lnTo>
                      <a:pt x="109" y="314"/>
                    </a:lnTo>
                    <a:cubicBezTo>
                      <a:pt x="95" y="300"/>
                      <a:pt x="95" y="300"/>
                      <a:pt x="95" y="286"/>
                    </a:cubicBezTo>
                    <a:cubicBezTo>
                      <a:pt x="95" y="286"/>
                      <a:pt x="135" y="218"/>
                      <a:pt x="191" y="191"/>
                    </a:cubicBezTo>
                    <a:cubicBezTo>
                      <a:pt x="204" y="177"/>
                      <a:pt x="218" y="191"/>
                      <a:pt x="218" y="191"/>
                    </a:cubicBezTo>
                    <a:cubicBezTo>
                      <a:pt x="218" y="204"/>
                      <a:pt x="218" y="204"/>
                      <a:pt x="204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Group 81"/>
            <p:cNvGrpSpPr/>
            <p:nvPr/>
          </p:nvGrpSpPr>
          <p:grpSpPr>
            <a:xfrm>
              <a:off x="5374940" y="5452115"/>
              <a:ext cx="411598" cy="414649"/>
              <a:chOff x="15935700" y="10788544"/>
              <a:chExt cx="618722" cy="623064"/>
            </a:xfrm>
            <a:solidFill>
              <a:srgbClr val="FFFFFF"/>
            </a:solidFill>
          </p:grpSpPr>
          <p:sp>
            <p:nvSpPr>
              <p:cNvPr id="57" name="Freeform 584"/>
              <p:cNvSpPr>
                <a:spLocks noChangeArrowheads="1"/>
              </p:cNvSpPr>
              <p:nvPr/>
            </p:nvSpPr>
            <p:spPr bwMode="auto">
              <a:xfrm>
                <a:off x="15935700" y="10788544"/>
                <a:ext cx="618722" cy="623064"/>
              </a:xfrm>
              <a:custGeom>
                <a:avLst/>
                <a:gdLst>
                  <a:gd name="T0" fmla="*/ 641 w 654"/>
                  <a:gd name="T1" fmla="*/ 258 h 655"/>
                  <a:gd name="T2" fmla="*/ 341 w 654"/>
                  <a:gd name="T3" fmla="*/ 13 h 655"/>
                  <a:gd name="T4" fmla="*/ 68 w 654"/>
                  <a:gd name="T5" fmla="*/ 258 h 655"/>
                  <a:gd name="T6" fmla="*/ 0 w 654"/>
                  <a:gd name="T7" fmla="*/ 258 h 655"/>
                  <a:gd name="T8" fmla="*/ 0 w 654"/>
                  <a:gd name="T9" fmla="*/ 654 h 655"/>
                  <a:gd name="T10" fmla="*/ 653 w 654"/>
                  <a:gd name="T11" fmla="*/ 654 h 655"/>
                  <a:gd name="T12" fmla="*/ 641 w 654"/>
                  <a:gd name="T13" fmla="*/ 258 h 655"/>
                  <a:gd name="T14" fmla="*/ 327 w 654"/>
                  <a:gd name="T15" fmla="*/ 55 h 655"/>
                  <a:gd name="T16" fmla="*/ 122 w 654"/>
                  <a:gd name="T17" fmla="*/ 258 h 655"/>
                  <a:gd name="T18" fmla="*/ 96 w 654"/>
                  <a:gd name="T19" fmla="*/ 558 h 655"/>
                  <a:gd name="T20" fmla="*/ 54 w 654"/>
                  <a:gd name="T21" fmla="*/ 545 h 655"/>
                  <a:gd name="T22" fmla="*/ 110 w 654"/>
                  <a:gd name="T23" fmla="*/ 545 h 655"/>
                  <a:gd name="T24" fmla="*/ 110 w 654"/>
                  <a:gd name="T25" fmla="*/ 477 h 655"/>
                  <a:gd name="T26" fmla="*/ 122 w 654"/>
                  <a:gd name="T27" fmla="*/ 381 h 655"/>
                  <a:gd name="T28" fmla="*/ 150 w 654"/>
                  <a:gd name="T29" fmla="*/ 409 h 655"/>
                  <a:gd name="T30" fmla="*/ 82 w 654"/>
                  <a:gd name="T31" fmla="*/ 422 h 655"/>
                  <a:gd name="T32" fmla="*/ 164 w 654"/>
                  <a:gd name="T33" fmla="*/ 504 h 655"/>
                  <a:gd name="T34" fmla="*/ 313 w 654"/>
                  <a:gd name="T35" fmla="*/ 558 h 655"/>
                  <a:gd name="T36" fmla="*/ 287 w 654"/>
                  <a:gd name="T37" fmla="*/ 504 h 655"/>
                  <a:gd name="T38" fmla="*/ 205 w 654"/>
                  <a:gd name="T39" fmla="*/ 558 h 655"/>
                  <a:gd name="T40" fmla="*/ 245 w 654"/>
                  <a:gd name="T41" fmla="*/ 381 h 655"/>
                  <a:gd name="T42" fmla="*/ 341 w 654"/>
                  <a:gd name="T43" fmla="*/ 558 h 655"/>
                  <a:gd name="T44" fmla="*/ 462 w 654"/>
                  <a:gd name="T45" fmla="*/ 558 h 655"/>
                  <a:gd name="T46" fmla="*/ 368 w 654"/>
                  <a:gd name="T47" fmla="*/ 558 h 655"/>
                  <a:gd name="T48" fmla="*/ 382 w 654"/>
                  <a:gd name="T49" fmla="*/ 381 h 655"/>
                  <a:gd name="T50" fmla="*/ 462 w 654"/>
                  <a:gd name="T51" fmla="*/ 545 h 655"/>
                  <a:gd name="T52" fmla="*/ 585 w 654"/>
                  <a:gd name="T53" fmla="*/ 558 h 655"/>
                  <a:gd name="T54" fmla="*/ 490 w 654"/>
                  <a:gd name="T55" fmla="*/ 558 h 655"/>
                  <a:gd name="T56" fmla="*/ 585 w 654"/>
                  <a:gd name="T57" fmla="*/ 381 h 655"/>
                  <a:gd name="T58" fmla="*/ 518 w 654"/>
                  <a:gd name="T59" fmla="*/ 395 h 655"/>
                  <a:gd name="T60" fmla="*/ 585 w 654"/>
                  <a:gd name="T61" fmla="*/ 449 h 655"/>
                  <a:gd name="T62" fmla="*/ 518 w 654"/>
                  <a:gd name="T63" fmla="*/ 477 h 655"/>
                  <a:gd name="T64" fmla="*/ 585 w 654"/>
                  <a:gd name="T65" fmla="*/ 545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54" h="655">
                    <a:moveTo>
                      <a:pt x="641" y="258"/>
                    </a:moveTo>
                    <a:lnTo>
                      <a:pt x="641" y="258"/>
                    </a:lnTo>
                    <a:cubicBezTo>
                      <a:pt x="585" y="258"/>
                      <a:pt x="585" y="258"/>
                      <a:pt x="585" y="258"/>
                    </a:cubicBezTo>
                    <a:cubicBezTo>
                      <a:pt x="341" y="13"/>
                      <a:pt x="341" y="13"/>
                      <a:pt x="341" y="13"/>
                    </a:cubicBezTo>
                    <a:cubicBezTo>
                      <a:pt x="327" y="0"/>
                      <a:pt x="313" y="0"/>
                      <a:pt x="313" y="13"/>
                    </a:cubicBezTo>
                    <a:cubicBezTo>
                      <a:pt x="68" y="258"/>
                      <a:pt x="68" y="258"/>
                      <a:pt x="68" y="258"/>
                    </a:cubicBezTo>
                    <a:cubicBezTo>
                      <a:pt x="0" y="258"/>
                      <a:pt x="0" y="258"/>
                      <a:pt x="0" y="258"/>
                    </a:cubicBezTo>
                    <a:lnTo>
                      <a:pt x="0" y="258"/>
                    </a:lnTo>
                    <a:cubicBezTo>
                      <a:pt x="0" y="654"/>
                      <a:pt x="0" y="654"/>
                      <a:pt x="0" y="654"/>
                    </a:cubicBezTo>
                    <a:lnTo>
                      <a:pt x="0" y="654"/>
                    </a:lnTo>
                    <a:cubicBezTo>
                      <a:pt x="641" y="654"/>
                      <a:pt x="641" y="654"/>
                      <a:pt x="641" y="654"/>
                    </a:cubicBezTo>
                    <a:cubicBezTo>
                      <a:pt x="653" y="654"/>
                      <a:pt x="653" y="654"/>
                      <a:pt x="653" y="654"/>
                    </a:cubicBezTo>
                    <a:cubicBezTo>
                      <a:pt x="653" y="258"/>
                      <a:pt x="653" y="258"/>
                      <a:pt x="653" y="258"/>
                    </a:cubicBezTo>
                    <a:cubicBezTo>
                      <a:pt x="653" y="258"/>
                      <a:pt x="653" y="258"/>
                      <a:pt x="641" y="258"/>
                    </a:cubicBezTo>
                    <a:close/>
                    <a:moveTo>
                      <a:pt x="327" y="55"/>
                    </a:moveTo>
                    <a:lnTo>
                      <a:pt x="327" y="55"/>
                    </a:lnTo>
                    <a:cubicBezTo>
                      <a:pt x="518" y="258"/>
                      <a:pt x="518" y="258"/>
                      <a:pt x="518" y="258"/>
                    </a:cubicBezTo>
                    <a:cubicBezTo>
                      <a:pt x="122" y="258"/>
                      <a:pt x="122" y="258"/>
                      <a:pt x="122" y="258"/>
                    </a:cubicBezTo>
                    <a:lnTo>
                      <a:pt x="327" y="55"/>
                    </a:lnTo>
                    <a:close/>
                    <a:moveTo>
                      <a:pt x="96" y="558"/>
                    </a:moveTo>
                    <a:lnTo>
                      <a:pt x="96" y="558"/>
                    </a:lnTo>
                    <a:cubicBezTo>
                      <a:pt x="82" y="558"/>
                      <a:pt x="68" y="558"/>
                      <a:pt x="54" y="545"/>
                    </a:cubicBezTo>
                    <a:cubicBezTo>
                      <a:pt x="68" y="531"/>
                      <a:pt x="68" y="531"/>
                      <a:pt x="68" y="531"/>
                    </a:cubicBezTo>
                    <a:cubicBezTo>
                      <a:pt x="68" y="531"/>
                      <a:pt x="82" y="545"/>
                      <a:pt x="110" y="545"/>
                    </a:cubicBezTo>
                    <a:cubicBezTo>
                      <a:pt x="122" y="545"/>
                      <a:pt x="136" y="531"/>
                      <a:pt x="136" y="517"/>
                    </a:cubicBezTo>
                    <a:cubicBezTo>
                      <a:pt x="136" y="489"/>
                      <a:pt x="136" y="489"/>
                      <a:pt x="110" y="477"/>
                    </a:cubicBezTo>
                    <a:cubicBezTo>
                      <a:pt x="82" y="463"/>
                      <a:pt x="54" y="449"/>
                      <a:pt x="54" y="422"/>
                    </a:cubicBezTo>
                    <a:cubicBezTo>
                      <a:pt x="54" y="395"/>
                      <a:pt x="82" y="381"/>
                      <a:pt x="122" y="381"/>
                    </a:cubicBezTo>
                    <a:cubicBezTo>
                      <a:pt x="136" y="381"/>
                      <a:pt x="150" y="381"/>
                      <a:pt x="164" y="381"/>
                    </a:cubicBezTo>
                    <a:cubicBezTo>
                      <a:pt x="150" y="409"/>
                      <a:pt x="150" y="409"/>
                      <a:pt x="150" y="409"/>
                    </a:cubicBezTo>
                    <a:cubicBezTo>
                      <a:pt x="150" y="395"/>
                      <a:pt x="136" y="395"/>
                      <a:pt x="122" y="395"/>
                    </a:cubicBezTo>
                    <a:cubicBezTo>
                      <a:pt x="96" y="395"/>
                      <a:pt x="82" y="409"/>
                      <a:pt x="82" y="422"/>
                    </a:cubicBezTo>
                    <a:cubicBezTo>
                      <a:pt x="82" y="435"/>
                      <a:pt x="96" y="449"/>
                      <a:pt x="122" y="449"/>
                    </a:cubicBezTo>
                    <a:cubicBezTo>
                      <a:pt x="150" y="463"/>
                      <a:pt x="164" y="477"/>
                      <a:pt x="164" y="504"/>
                    </a:cubicBezTo>
                    <a:cubicBezTo>
                      <a:pt x="164" y="531"/>
                      <a:pt x="150" y="558"/>
                      <a:pt x="96" y="558"/>
                    </a:cubicBezTo>
                    <a:close/>
                    <a:moveTo>
                      <a:pt x="313" y="558"/>
                    </a:moveTo>
                    <a:lnTo>
                      <a:pt x="313" y="558"/>
                    </a:lnTo>
                    <a:cubicBezTo>
                      <a:pt x="287" y="504"/>
                      <a:pt x="287" y="504"/>
                      <a:pt x="287" y="504"/>
                    </a:cubicBezTo>
                    <a:cubicBezTo>
                      <a:pt x="231" y="504"/>
                      <a:pt x="231" y="504"/>
                      <a:pt x="231" y="504"/>
                    </a:cubicBezTo>
                    <a:cubicBezTo>
                      <a:pt x="205" y="558"/>
                      <a:pt x="205" y="558"/>
                      <a:pt x="205" y="558"/>
                    </a:cubicBezTo>
                    <a:cubicBezTo>
                      <a:pt x="177" y="558"/>
                      <a:pt x="177" y="558"/>
                      <a:pt x="177" y="558"/>
                    </a:cubicBezTo>
                    <a:cubicBezTo>
                      <a:pt x="245" y="381"/>
                      <a:pt x="245" y="381"/>
                      <a:pt x="245" y="381"/>
                    </a:cubicBezTo>
                    <a:cubicBezTo>
                      <a:pt x="273" y="381"/>
                      <a:pt x="273" y="381"/>
                      <a:pt x="273" y="381"/>
                    </a:cubicBezTo>
                    <a:cubicBezTo>
                      <a:pt x="341" y="558"/>
                      <a:pt x="341" y="558"/>
                      <a:pt x="341" y="558"/>
                    </a:cubicBezTo>
                    <a:lnTo>
                      <a:pt x="313" y="558"/>
                    </a:lnTo>
                    <a:close/>
                    <a:moveTo>
                      <a:pt x="462" y="558"/>
                    </a:moveTo>
                    <a:lnTo>
                      <a:pt x="462" y="558"/>
                    </a:lnTo>
                    <a:cubicBezTo>
                      <a:pt x="368" y="558"/>
                      <a:pt x="368" y="558"/>
                      <a:pt x="368" y="558"/>
                    </a:cubicBezTo>
                    <a:cubicBezTo>
                      <a:pt x="368" y="381"/>
                      <a:pt x="368" y="381"/>
                      <a:pt x="368" y="381"/>
                    </a:cubicBezTo>
                    <a:cubicBezTo>
                      <a:pt x="382" y="381"/>
                      <a:pt x="382" y="381"/>
                      <a:pt x="382" y="381"/>
                    </a:cubicBezTo>
                    <a:cubicBezTo>
                      <a:pt x="382" y="545"/>
                      <a:pt x="382" y="545"/>
                      <a:pt x="382" y="545"/>
                    </a:cubicBezTo>
                    <a:cubicBezTo>
                      <a:pt x="462" y="545"/>
                      <a:pt x="462" y="545"/>
                      <a:pt x="462" y="545"/>
                    </a:cubicBezTo>
                    <a:lnTo>
                      <a:pt x="462" y="558"/>
                    </a:lnTo>
                    <a:close/>
                    <a:moveTo>
                      <a:pt x="585" y="558"/>
                    </a:moveTo>
                    <a:lnTo>
                      <a:pt x="585" y="558"/>
                    </a:lnTo>
                    <a:cubicBezTo>
                      <a:pt x="490" y="558"/>
                      <a:pt x="490" y="558"/>
                      <a:pt x="490" y="558"/>
                    </a:cubicBezTo>
                    <a:cubicBezTo>
                      <a:pt x="490" y="381"/>
                      <a:pt x="490" y="381"/>
                      <a:pt x="490" y="381"/>
                    </a:cubicBezTo>
                    <a:cubicBezTo>
                      <a:pt x="585" y="381"/>
                      <a:pt x="585" y="381"/>
                      <a:pt x="585" y="381"/>
                    </a:cubicBezTo>
                    <a:cubicBezTo>
                      <a:pt x="585" y="395"/>
                      <a:pt x="585" y="395"/>
                      <a:pt x="585" y="395"/>
                    </a:cubicBezTo>
                    <a:cubicBezTo>
                      <a:pt x="518" y="395"/>
                      <a:pt x="518" y="395"/>
                      <a:pt x="518" y="395"/>
                    </a:cubicBezTo>
                    <a:cubicBezTo>
                      <a:pt x="518" y="449"/>
                      <a:pt x="518" y="449"/>
                      <a:pt x="518" y="449"/>
                    </a:cubicBezTo>
                    <a:cubicBezTo>
                      <a:pt x="585" y="449"/>
                      <a:pt x="585" y="449"/>
                      <a:pt x="585" y="449"/>
                    </a:cubicBezTo>
                    <a:cubicBezTo>
                      <a:pt x="585" y="477"/>
                      <a:pt x="585" y="477"/>
                      <a:pt x="585" y="477"/>
                    </a:cubicBezTo>
                    <a:cubicBezTo>
                      <a:pt x="518" y="477"/>
                      <a:pt x="518" y="477"/>
                      <a:pt x="518" y="477"/>
                    </a:cubicBezTo>
                    <a:cubicBezTo>
                      <a:pt x="518" y="545"/>
                      <a:pt x="518" y="545"/>
                      <a:pt x="518" y="545"/>
                    </a:cubicBezTo>
                    <a:cubicBezTo>
                      <a:pt x="585" y="545"/>
                      <a:pt x="585" y="545"/>
                      <a:pt x="585" y="545"/>
                    </a:cubicBezTo>
                    <a:lnTo>
                      <a:pt x="585" y="55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8" name="Freeform 585"/>
              <p:cNvSpPr>
                <a:spLocks noChangeArrowheads="1"/>
              </p:cNvSpPr>
              <p:nvPr/>
            </p:nvSpPr>
            <p:spPr bwMode="auto">
              <a:xfrm>
                <a:off x="16153089" y="11160709"/>
                <a:ext cx="54346" cy="79454"/>
              </a:xfrm>
              <a:custGeom>
                <a:avLst/>
                <a:gdLst>
                  <a:gd name="T0" fmla="*/ 28 w 57"/>
                  <a:gd name="T1" fmla="*/ 0 h 83"/>
                  <a:gd name="T2" fmla="*/ 28 w 57"/>
                  <a:gd name="T3" fmla="*/ 0 h 83"/>
                  <a:gd name="T4" fmla="*/ 28 w 57"/>
                  <a:gd name="T5" fmla="*/ 0 h 83"/>
                  <a:gd name="T6" fmla="*/ 14 w 57"/>
                  <a:gd name="T7" fmla="*/ 40 h 83"/>
                  <a:gd name="T8" fmla="*/ 0 w 57"/>
                  <a:gd name="T9" fmla="*/ 82 h 83"/>
                  <a:gd name="T10" fmla="*/ 56 w 57"/>
                  <a:gd name="T11" fmla="*/ 82 h 83"/>
                  <a:gd name="T12" fmla="*/ 42 w 57"/>
                  <a:gd name="T13" fmla="*/ 40 h 83"/>
                  <a:gd name="T14" fmla="*/ 28 w 57"/>
                  <a:gd name="T1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83">
                    <a:moveTo>
                      <a:pt x="28" y="0"/>
                    </a:moveTo>
                    <a:lnTo>
                      <a:pt x="28" y="0"/>
                    </a:lnTo>
                    <a:lnTo>
                      <a:pt x="28" y="0"/>
                    </a:lnTo>
                    <a:cubicBezTo>
                      <a:pt x="28" y="14"/>
                      <a:pt x="28" y="27"/>
                      <a:pt x="14" y="40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56" y="82"/>
                      <a:pt x="56" y="82"/>
                      <a:pt x="56" y="82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28" y="27"/>
                      <a:pt x="28" y="14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</p:grpSp>
      <p:pic>
        <p:nvPicPr>
          <p:cNvPr id="45" name="图片 4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94" y="5200074"/>
            <a:ext cx="2578789" cy="7729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104471"/>
            <a:ext cx="1441256" cy="432000"/>
          </a:xfrm>
          <a:prstGeom prst="rect">
            <a:avLst/>
          </a:prstGeom>
        </p:spPr>
      </p:pic>
      <p:sp>
        <p:nvSpPr>
          <p:cNvPr id="8" name="文字方塊 7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5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Bar Tex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836958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Placeholder 6" descr="德國工廠-塑科精密 copy.jpg"/>
          <p:cNvPicPr>
            <a:picLocks noChangeAspect="1"/>
          </p:cNvPicPr>
          <p:nvPr userDrawn="1"/>
        </p:nvPicPr>
        <p:blipFill>
          <a:blip r:embed="rId2" cstate="email"/>
          <a:srcRect l="1" r="1"/>
          <a:stretch>
            <a:fillRect/>
          </a:stretch>
        </p:blipFill>
        <p:spPr>
          <a:xfrm>
            <a:off x="0" y="-8348"/>
            <a:ext cx="12192000" cy="4836958"/>
          </a:xfrm>
          <a:prstGeom prst="rect">
            <a:avLst/>
          </a:prstGeom>
        </p:spPr>
      </p:pic>
      <p:grpSp>
        <p:nvGrpSpPr>
          <p:cNvPr id="46" name="群組 45"/>
          <p:cNvGrpSpPr/>
          <p:nvPr userDrawn="1"/>
        </p:nvGrpSpPr>
        <p:grpSpPr>
          <a:xfrm>
            <a:off x="198122" y="5210979"/>
            <a:ext cx="4699531" cy="689369"/>
            <a:chOff x="291110" y="5209211"/>
            <a:chExt cx="5739857" cy="900457"/>
          </a:xfrm>
        </p:grpSpPr>
        <p:sp>
          <p:nvSpPr>
            <p:cNvPr id="47" name="Oval 29"/>
            <p:cNvSpPr/>
            <p:nvPr/>
          </p:nvSpPr>
          <p:spPr>
            <a:xfrm>
              <a:off x="291110" y="5209211"/>
              <a:ext cx="900457" cy="9004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8" name="Oval 41"/>
            <p:cNvSpPr/>
            <p:nvPr/>
          </p:nvSpPr>
          <p:spPr>
            <a:xfrm>
              <a:off x="1500960" y="5209211"/>
              <a:ext cx="900457" cy="9004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9" name="Oval 42"/>
            <p:cNvSpPr/>
            <p:nvPr/>
          </p:nvSpPr>
          <p:spPr>
            <a:xfrm>
              <a:off x="2710810" y="5209211"/>
              <a:ext cx="900457" cy="900457"/>
            </a:xfrm>
            <a:prstGeom prst="ellipse">
              <a:avLst/>
            </a:prstGeom>
            <a:solidFill>
              <a:srgbClr val="ACB3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0" name="Oval 45"/>
            <p:cNvSpPr/>
            <p:nvPr/>
          </p:nvSpPr>
          <p:spPr>
            <a:xfrm>
              <a:off x="3920660" y="5209211"/>
              <a:ext cx="900457" cy="90045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51" name="Oval 46"/>
            <p:cNvSpPr/>
            <p:nvPr/>
          </p:nvSpPr>
          <p:spPr>
            <a:xfrm>
              <a:off x="5130510" y="5209211"/>
              <a:ext cx="900457" cy="90045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2" name="Group 48"/>
            <p:cNvGrpSpPr/>
            <p:nvPr/>
          </p:nvGrpSpPr>
          <p:grpSpPr>
            <a:xfrm>
              <a:off x="4163753" y="5432911"/>
              <a:ext cx="452761" cy="453058"/>
              <a:chOff x="2524463" y="4766967"/>
              <a:chExt cx="618725" cy="618888"/>
            </a:xfrm>
            <a:solidFill>
              <a:schemeClr val="bg1"/>
            </a:solidFill>
          </p:grpSpPr>
          <p:sp>
            <p:nvSpPr>
              <p:cNvPr id="71" name="Freeform 67"/>
              <p:cNvSpPr>
                <a:spLocks noChangeArrowheads="1"/>
              </p:cNvSpPr>
              <p:nvPr/>
            </p:nvSpPr>
            <p:spPr bwMode="auto">
              <a:xfrm>
                <a:off x="2704225" y="4779511"/>
                <a:ext cx="117056" cy="117086"/>
              </a:xfrm>
              <a:custGeom>
                <a:avLst/>
                <a:gdLst>
                  <a:gd name="T0" fmla="*/ 0 w 123"/>
                  <a:gd name="T1" fmla="*/ 122 h 123"/>
                  <a:gd name="T2" fmla="*/ 0 w 123"/>
                  <a:gd name="T3" fmla="*/ 122 h 123"/>
                  <a:gd name="T4" fmla="*/ 122 w 123"/>
                  <a:gd name="T5" fmla="*/ 122 h 123"/>
                  <a:gd name="T6" fmla="*/ 122 w 123"/>
                  <a:gd name="T7" fmla="*/ 0 h 123"/>
                  <a:gd name="T8" fmla="*/ 0 w 123"/>
                  <a:gd name="T9" fmla="*/ 12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23">
                    <a:moveTo>
                      <a:pt x="0" y="122"/>
                    </a:moveTo>
                    <a:lnTo>
                      <a:pt x="0" y="122"/>
                    </a:lnTo>
                    <a:cubicBezTo>
                      <a:pt x="122" y="122"/>
                      <a:pt x="122" y="122"/>
                      <a:pt x="122" y="122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68" y="0"/>
                      <a:pt x="26" y="54"/>
                      <a:pt x="0" y="12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Freeform 68"/>
              <p:cNvSpPr>
                <a:spLocks noChangeArrowheads="1"/>
              </p:cNvSpPr>
              <p:nvPr/>
            </p:nvSpPr>
            <p:spPr bwMode="auto">
              <a:xfrm>
                <a:off x="2666603" y="4934235"/>
                <a:ext cx="154681" cy="129630"/>
              </a:xfrm>
              <a:custGeom>
                <a:avLst/>
                <a:gdLst>
                  <a:gd name="T0" fmla="*/ 163 w 164"/>
                  <a:gd name="T1" fmla="*/ 136 h 137"/>
                  <a:gd name="T2" fmla="*/ 163 w 164"/>
                  <a:gd name="T3" fmla="*/ 136 h 137"/>
                  <a:gd name="T4" fmla="*/ 163 w 164"/>
                  <a:gd name="T5" fmla="*/ 0 h 137"/>
                  <a:gd name="T6" fmla="*/ 27 w 164"/>
                  <a:gd name="T7" fmla="*/ 0 h 137"/>
                  <a:gd name="T8" fmla="*/ 0 w 164"/>
                  <a:gd name="T9" fmla="*/ 136 h 137"/>
                  <a:gd name="T10" fmla="*/ 163 w 164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37">
                    <a:moveTo>
                      <a:pt x="163" y="136"/>
                    </a:moveTo>
                    <a:lnTo>
                      <a:pt x="163" y="136"/>
                    </a:lnTo>
                    <a:cubicBezTo>
                      <a:pt x="163" y="0"/>
                      <a:pt x="163" y="0"/>
                      <a:pt x="163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13" y="40"/>
                      <a:pt x="0" y="82"/>
                      <a:pt x="0" y="136"/>
                    </a:cubicBezTo>
                    <a:lnTo>
                      <a:pt x="163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3" name="Freeform 69"/>
              <p:cNvSpPr>
                <a:spLocks noChangeArrowheads="1"/>
              </p:cNvSpPr>
              <p:nvPr/>
            </p:nvSpPr>
            <p:spPr bwMode="auto">
              <a:xfrm>
                <a:off x="2850546" y="4779511"/>
                <a:ext cx="117056" cy="117086"/>
              </a:xfrm>
              <a:custGeom>
                <a:avLst/>
                <a:gdLst>
                  <a:gd name="T0" fmla="*/ 0 w 122"/>
                  <a:gd name="T1" fmla="*/ 0 h 123"/>
                  <a:gd name="T2" fmla="*/ 0 w 122"/>
                  <a:gd name="T3" fmla="*/ 0 h 123"/>
                  <a:gd name="T4" fmla="*/ 0 w 122"/>
                  <a:gd name="T5" fmla="*/ 122 h 123"/>
                  <a:gd name="T6" fmla="*/ 121 w 122"/>
                  <a:gd name="T7" fmla="*/ 122 h 123"/>
                  <a:gd name="T8" fmla="*/ 0 w 122"/>
                  <a:gd name="T9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23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22"/>
                      <a:pt x="0" y="122"/>
                      <a:pt x="0" y="122"/>
                    </a:cubicBezTo>
                    <a:cubicBezTo>
                      <a:pt x="121" y="122"/>
                      <a:pt x="121" y="122"/>
                      <a:pt x="121" y="122"/>
                    </a:cubicBezTo>
                    <a:cubicBezTo>
                      <a:pt x="95" y="54"/>
                      <a:pt x="41" y="0"/>
                      <a:pt x="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Freeform 70"/>
              <p:cNvSpPr>
                <a:spLocks noChangeArrowheads="1"/>
              </p:cNvSpPr>
              <p:nvPr/>
            </p:nvSpPr>
            <p:spPr bwMode="auto">
              <a:xfrm>
                <a:off x="2524463" y="5088955"/>
                <a:ext cx="142140" cy="142175"/>
              </a:xfrm>
              <a:custGeom>
                <a:avLst/>
                <a:gdLst>
                  <a:gd name="T0" fmla="*/ 122 w 151"/>
                  <a:gd name="T1" fmla="*/ 0 h 150"/>
                  <a:gd name="T2" fmla="*/ 122 w 151"/>
                  <a:gd name="T3" fmla="*/ 0 h 150"/>
                  <a:gd name="T4" fmla="*/ 0 w 151"/>
                  <a:gd name="T5" fmla="*/ 0 h 150"/>
                  <a:gd name="T6" fmla="*/ 42 w 151"/>
                  <a:gd name="T7" fmla="*/ 149 h 150"/>
                  <a:gd name="T8" fmla="*/ 42 w 151"/>
                  <a:gd name="T9" fmla="*/ 149 h 150"/>
                  <a:gd name="T10" fmla="*/ 150 w 151"/>
                  <a:gd name="T11" fmla="*/ 149 h 150"/>
                  <a:gd name="T12" fmla="*/ 122 w 151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0">
                    <a:moveTo>
                      <a:pt x="122" y="0"/>
                    </a:moveTo>
                    <a:lnTo>
                      <a:pt x="122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4" y="109"/>
                      <a:pt x="42" y="149"/>
                    </a:cubicBezTo>
                    <a:lnTo>
                      <a:pt x="42" y="149"/>
                    </a:lnTo>
                    <a:cubicBezTo>
                      <a:pt x="150" y="149"/>
                      <a:pt x="150" y="149"/>
                      <a:pt x="150" y="149"/>
                    </a:cubicBezTo>
                    <a:cubicBezTo>
                      <a:pt x="136" y="109"/>
                      <a:pt x="122" y="54"/>
                      <a:pt x="122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Freeform 71"/>
              <p:cNvSpPr>
                <a:spLocks noChangeArrowheads="1"/>
              </p:cNvSpPr>
              <p:nvPr/>
            </p:nvSpPr>
            <p:spPr bwMode="auto">
              <a:xfrm>
                <a:off x="3001048" y="5088955"/>
                <a:ext cx="142140" cy="142175"/>
              </a:xfrm>
              <a:custGeom>
                <a:avLst/>
                <a:gdLst>
                  <a:gd name="T0" fmla="*/ 14 w 150"/>
                  <a:gd name="T1" fmla="*/ 0 h 150"/>
                  <a:gd name="T2" fmla="*/ 14 w 150"/>
                  <a:gd name="T3" fmla="*/ 0 h 150"/>
                  <a:gd name="T4" fmla="*/ 0 w 150"/>
                  <a:gd name="T5" fmla="*/ 149 h 150"/>
                  <a:gd name="T6" fmla="*/ 95 w 150"/>
                  <a:gd name="T7" fmla="*/ 149 h 150"/>
                  <a:gd name="T8" fmla="*/ 109 w 150"/>
                  <a:gd name="T9" fmla="*/ 149 h 150"/>
                  <a:gd name="T10" fmla="*/ 149 w 150"/>
                  <a:gd name="T11" fmla="*/ 0 h 150"/>
                  <a:gd name="T12" fmla="*/ 14 w 150"/>
                  <a:gd name="T13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0">
                    <a:moveTo>
                      <a:pt x="14" y="0"/>
                    </a:moveTo>
                    <a:lnTo>
                      <a:pt x="14" y="0"/>
                    </a:lnTo>
                    <a:cubicBezTo>
                      <a:pt x="14" y="54"/>
                      <a:pt x="0" y="109"/>
                      <a:pt x="0" y="149"/>
                    </a:cubicBezTo>
                    <a:cubicBezTo>
                      <a:pt x="95" y="149"/>
                      <a:pt x="95" y="149"/>
                      <a:pt x="95" y="149"/>
                    </a:cubicBezTo>
                    <a:lnTo>
                      <a:pt x="109" y="149"/>
                    </a:lnTo>
                    <a:cubicBezTo>
                      <a:pt x="122" y="109"/>
                      <a:pt x="149" y="54"/>
                      <a:pt x="149" y="0"/>
                    </a:cubicBez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6" name="Freeform 72"/>
              <p:cNvSpPr>
                <a:spLocks noChangeArrowheads="1"/>
              </p:cNvSpPr>
              <p:nvPr/>
            </p:nvSpPr>
            <p:spPr bwMode="auto">
              <a:xfrm>
                <a:off x="2666603" y="5088955"/>
                <a:ext cx="154681" cy="142175"/>
              </a:xfrm>
              <a:custGeom>
                <a:avLst/>
                <a:gdLst>
                  <a:gd name="T0" fmla="*/ 163 w 164"/>
                  <a:gd name="T1" fmla="*/ 0 h 150"/>
                  <a:gd name="T2" fmla="*/ 163 w 164"/>
                  <a:gd name="T3" fmla="*/ 0 h 150"/>
                  <a:gd name="T4" fmla="*/ 0 w 164"/>
                  <a:gd name="T5" fmla="*/ 0 h 150"/>
                  <a:gd name="T6" fmla="*/ 27 w 164"/>
                  <a:gd name="T7" fmla="*/ 149 h 150"/>
                  <a:gd name="T8" fmla="*/ 163 w 164"/>
                  <a:gd name="T9" fmla="*/ 149 h 150"/>
                  <a:gd name="T10" fmla="*/ 163 w 164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50">
                    <a:moveTo>
                      <a:pt x="163" y="0"/>
                    </a:moveTo>
                    <a:lnTo>
                      <a:pt x="163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54"/>
                      <a:pt x="13" y="109"/>
                      <a:pt x="27" y="149"/>
                    </a:cubicBezTo>
                    <a:cubicBezTo>
                      <a:pt x="163" y="149"/>
                      <a:pt x="163" y="149"/>
                      <a:pt x="163" y="149"/>
                    </a:cubicBezTo>
                    <a:lnTo>
                      <a:pt x="163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7" name="Freeform 73"/>
              <p:cNvSpPr>
                <a:spLocks noChangeArrowheads="1"/>
              </p:cNvSpPr>
              <p:nvPr/>
            </p:nvSpPr>
            <p:spPr bwMode="auto">
              <a:xfrm>
                <a:off x="2524463" y="4921688"/>
                <a:ext cx="142140" cy="142175"/>
              </a:xfrm>
              <a:custGeom>
                <a:avLst/>
                <a:gdLst>
                  <a:gd name="T0" fmla="*/ 122 w 151"/>
                  <a:gd name="T1" fmla="*/ 150 h 151"/>
                  <a:gd name="T2" fmla="*/ 122 w 151"/>
                  <a:gd name="T3" fmla="*/ 150 h 151"/>
                  <a:gd name="T4" fmla="*/ 150 w 151"/>
                  <a:gd name="T5" fmla="*/ 14 h 151"/>
                  <a:gd name="T6" fmla="*/ 42 w 151"/>
                  <a:gd name="T7" fmla="*/ 14 h 151"/>
                  <a:gd name="T8" fmla="*/ 42 w 151"/>
                  <a:gd name="T9" fmla="*/ 0 h 151"/>
                  <a:gd name="T10" fmla="*/ 0 w 151"/>
                  <a:gd name="T11" fmla="*/ 150 h 151"/>
                  <a:gd name="T12" fmla="*/ 122 w 151"/>
                  <a:gd name="T13" fmla="*/ 15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51">
                    <a:moveTo>
                      <a:pt x="122" y="150"/>
                    </a:moveTo>
                    <a:lnTo>
                      <a:pt x="122" y="150"/>
                    </a:lnTo>
                    <a:cubicBezTo>
                      <a:pt x="122" y="96"/>
                      <a:pt x="136" y="54"/>
                      <a:pt x="150" y="14"/>
                    </a:cubicBezTo>
                    <a:cubicBezTo>
                      <a:pt x="42" y="14"/>
                      <a:pt x="42" y="14"/>
                      <a:pt x="42" y="14"/>
                    </a:cubicBezTo>
                    <a:lnTo>
                      <a:pt x="42" y="0"/>
                    </a:lnTo>
                    <a:cubicBezTo>
                      <a:pt x="14" y="54"/>
                      <a:pt x="0" y="96"/>
                      <a:pt x="0" y="150"/>
                    </a:cubicBezTo>
                    <a:lnTo>
                      <a:pt x="122" y="15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8" name="Freeform 74"/>
              <p:cNvSpPr>
                <a:spLocks noChangeArrowheads="1"/>
              </p:cNvSpPr>
              <p:nvPr/>
            </p:nvSpPr>
            <p:spPr bwMode="auto">
              <a:xfrm>
                <a:off x="2850547" y="4934235"/>
                <a:ext cx="142140" cy="129630"/>
              </a:xfrm>
              <a:custGeom>
                <a:avLst/>
                <a:gdLst>
                  <a:gd name="T0" fmla="*/ 149 w 150"/>
                  <a:gd name="T1" fmla="*/ 136 h 137"/>
                  <a:gd name="T2" fmla="*/ 149 w 150"/>
                  <a:gd name="T3" fmla="*/ 136 h 137"/>
                  <a:gd name="T4" fmla="*/ 121 w 150"/>
                  <a:gd name="T5" fmla="*/ 0 h 137"/>
                  <a:gd name="T6" fmla="*/ 0 w 150"/>
                  <a:gd name="T7" fmla="*/ 0 h 137"/>
                  <a:gd name="T8" fmla="*/ 0 w 150"/>
                  <a:gd name="T9" fmla="*/ 136 h 137"/>
                  <a:gd name="T10" fmla="*/ 149 w 150"/>
                  <a:gd name="T11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37">
                    <a:moveTo>
                      <a:pt x="149" y="136"/>
                    </a:moveTo>
                    <a:lnTo>
                      <a:pt x="149" y="136"/>
                    </a:lnTo>
                    <a:cubicBezTo>
                      <a:pt x="149" y="82"/>
                      <a:pt x="135" y="40"/>
                      <a:pt x="12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lnTo>
                      <a:pt x="14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9" name="Freeform 75"/>
              <p:cNvSpPr>
                <a:spLocks noChangeArrowheads="1"/>
              </p:cNvSpPr>
              <p:nvPr/>
            </p:nvSpPr>
            <p:spPr bwMode="auto">
              <a:xfrm>
                <a:off x="2574630" y="4766967"/>
                <a:ext cx="183944" cy="129630"/>
              </a:xfrm>
              <a:custGeom>
                <a:avLst/>
                <a:gdLst>
                  <a:gd name="T0" fmla="*/ 109 w 192"/>
                  <a:gd name="T1" fmla="*/ 136 h 137"/>
                  <a:gd name="T2" fmla="*/ 109 w 192"/>
                  <a:gd name="T3" fmla="*/ 136 h 137"/>
                  <a:gd name="T4" fmla="*/ 191 w 192"/>
                  <a:gd name="T5" fmla="*/ 0 h 137"/>
                  <a:gd name="T6" fmla="*/ 0 w 192"/>
                  <a:gd name="T7" fmla="*/ 136 h 137"/>
                  <a:gd name="T8" fmla="*/ 109 w 192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7">
                    <a:moveTo>
                      <a:pt x="109" y="136"/>
                    </a:moveTo>
                    <a:lnTo>
                      <a:pt x="109" y="136"/>
                    </a:lnTo>
                    <a:cubicBezTo>
                      <a:pt x="123" y="82"/>
                      <a:pt x="151" y="28"/>
                      <a:pt x="191" y="0"/>
                    </a:cubicBezTo>
                    <a:cubicBezTo>
                      <a:pt x="109" y="28"/>
                      <a:pt x="42" y="82"/>
                      <a:pt x="0" y="136"/>
                    </a:cubicBezTo>
                    <a:lnTo>
                      <a:pt x="109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0" name="Freeform 76"/>
              <p:cNvSpPr>
                <a:spLocks noChangeArrowheads="1"/>
              </p:cNvSpPr>
              <p:nvPr/>
            </p:nvSpPr>
            <p:spPr bwMode="auto">
              <a:xfrm>
                <a:off x="2574630" y="5256222"/>
                <a:ext cx="183944" cy="129633"/>
              </a:xfrm>
              <a:custGeom>
                <a:avLst/>
                <a:gdLst>
                  <a:gd name="T0" fmla="*/ 109 w 192"/>
                  <a:gd name="T1" fmla="*/ 0 h 136"/>
                  <a:gd name="T2" fmla="*/ 109 w 192"/>
                  <a:gd name="T3" fmla="*/ 0 h 136"/>
                  <a:gd name="T4" fmla="*/ 0 w 192"/>
                  <a:gd name="T5" fmla="*/ 0 h 136"/>
                  <a:gd name="T6" fmla="*/ 191 w 192"/>
                  <a:gd name="T7" fmla="*/ 135 h 136"/>
                  <a:gd name="T8" fmla="*/ 109 w 19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136">
                    <a:moveTo>
                      <a:pt x="109" y="0"/>
                    </a:moveTo>
                    <a:lnTo>
                      <a:pt x="109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42" y="67"/>
                      <a:pt x="109" y="121"/>
                      <a:pt x="191" y="135"/>
                    </a:cubicBezTo>
                    <a:cubicBezTo>
                      <a:pt x="151" y="109"/>
                      <a:pt x="123" y="67"/>
                      <a:pt x="109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1" name="Freeform 77"/>
              <p:cNvSpPr>
                <a:spLocks noChangeArrowheads="1"/>
              </p:cNvSpPr>
              <p:nvPr/>
            </p:nvSpPr>
            <p:spPr bwMode="auto">
              <a:xfrm>
                <a:off x="2900713" y="4766967"/>
                <a:ext cx="179762" cy="129630"/>
              </a:xfrm>
              <a:custGeom>
                <a:avLst/>
                <a:gdLst>
                  <a:gd name="T0" fmla="*/ 95 w 191"/>
                  <a:gd name="T1" fmla="*/ 136 h 137"/>
                  <a:gd name="T2" fmla="*/ 95 w 191"/>
                  <a:gd name="T3" fmla="*/ 136 h 137"/>
                  <a:gd name="T4" fmla="*/ 190 w 191"/>
                  <a:gd name="T5" fmla="*/ 136 h 137"/>
                  <a:gd name="T6" fmla="*/ 0 w 191"/>
                  <a:gd name="T7" fmla="*/ 0 h 137"/>
                  <a:gd name="T8" fmla="*/ 95 w 191"/>
                  <a:gd name="T9" fmla="*/ 136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7">
                    <a:moveTo>
                      <a:pt x="95" y="136"/>
                    </a:moveTo>
                    <a:lnTo>
                      <a:pt x="95" y="136"/>
                    </a:lnTo>
                    <a:cubicBezTo>
                      <a:pt x="190" y="136"/>
                      <a:pt x="190" y="136"/>
                      <a:pt x="190" y="136"/>
                    </a:cubicBezTo>
                    <a:cubicBezTo>
                      <a:pt x="150" y="82"/>
                      <a:pt x="81" y="28"/>
                      <a:pt x="0" y="0"/>
                    </a:cubicBezTo>
                    <a:cubicBezTo>
                      <a:pt x="41" y="28"/>
                      <a:pt x="67" y="82"/>
                      <a:pt x="95" y="136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2" name="Freeform 78"/>
              <p:cNvSpPr>
                <a:spLocks noChangeArrowheads="1"/>
              </p:cNvSpPr>
              <p:nvPr/>
            </p:nvSpPr>
            <p:spPr bwMode="auto">
              <a:xfrm>
                <a:off x="2900713" y="5256222"/>
                <a:ext cx="179762" cy="129633"/>
              </a:xfrm>
              <a:custGeom>
                <a:avLst/>
                <a:gdLst>
                  <a:gd name="T0" fmla="*/ 95 w 191"/>
                  <a:gd name="T1" fmla="*/ 0 h 136"/>
                  <a:gd name="T2" fmla="*/ 95 w 191"/>
                  <a:gd name="T3" fmla="*/ 0 h 136"/>
                  <a:gd name="T4" fmla="*/ 0 w 191"/>
                  <a:gd name="T5" fmla="*/ 135 h 136"/>
                  <a:gd name="T6" fmla="*/ 190 w 191"/>
                  <a:gd name="T7" fmla="*/ 0 h 136"/>
                  <a:gd name="T8" fmla="*/ 95 w 191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36">
                    <a:moveTo>
                      <a:pt x="95" y="0"/>
                    </a:moveTo>
                    <a:lnTo>
                      <a:pt x="95" y="0"/>
                    </a:lnTo>
                    <a:cubicBezTo>
                      <a:pt x="67" y="67"/>
                      <a:pt x="41" y="109"/>
                      <a:pt x="0" y="135"/>
                    </a:cubicBezTo>
                    <a:cubicBezTo>
                      <a:pt x="81" y="121"/>
                      <a:pt x="150" y="67"/>
                      <a:pt x="190" y="0"/>
                    </a:cubicBezTo>
                    <a:lnTo>
                      <a:pt x="95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3" name="Freeform 79"/>
              <p:cNvSpPr>
                <a:spLocks noChangeArrowheads="1"/>
              </p:cNvSpPr>
              <p:nvPr/>
            </p:nvSpPr>
            <p:spPr bwMode="auto">
              <a:xfrm>
                <a:off x="3001048" y="4921688"/>
                <a:ext cx="142140" cy="142175"/>
              </a:xfrm>
              <a:custGeom>
                <a:avLst/>
                <a:gdLst>
                  <a:gd name="T0" fmla="*/ 95 w 150"/>
                  <a:gd name="T1" fmla="*/ 14 h 151"/>
                  <a:gd name="T2" fmla="*/ 95 w 150"/>
                  <a:gd name="T3" fmla="*/ 14 h 151"/>
                  <a:gd name="T4" fmla="*/ 0 w 150"/>
                  <a:gd name="T5" fmla="*/ 14 h 151"/>
                  <a:gd name="T6" fmla="*/ 14 w 150"/>
                  <a:gd name="T7" fmla="*/ 150 h 151"/>
                  <a:gd name="T8" fmla="*/ 149 w 150"/>
                  <a:gd name="T9" fmla="*/ 150 h 151"/>
                  <a:gd name="T10" fmla="*/ 109 w 150"/>
                  <a:gd name="T11" fmla="*/ 0 h 151"/>
                  <a:gd name="T12" fmla="*/ 95 w 150"/>
                  <a:gd name="T13" fmla="*/ 1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151">
                    <a:moveTo>
                      <a:pt x="95" y="14"/>
                    </a:moveTo>
                    <a:lnTo>
                      <a:pt x="95" y="14"/>
                    </a:lnTo>
                    <a:cubicBezTo>
                      <a:pt x="0" y="14"/>
                      <a:pt x="0" y="14"/>
                      <a:pt x="0" y="14"/>
                    </a:cubicBezTo>
                    <a:cubicBezTo>
                      <a:pt x="0" y="54"/>
                      <a:pt x="14" y="96"/>
                      <a:pt x="14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96"/>
                      <a:pt x="122" y="54"/>
                      <a:pt x="109" y="0"/>
                    </a:cubicBezTo>
                    <a:lnTo>
                      <a:pt x="95" y="14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4" name="Freeform 80"/>
              <p:cNvSpPr>
                <a:spLocks noChangeArrowheads="1"/>
              </p:cNvSpPr>
              <p:nvPr/>
            </p:nvSpPr>
            <p:spPr bwMode="auto">
              <a:xfrm>
                <a:off x="2850546" y="5256222"/>
                <a:ext cx="117056" cy="129633"/>
              </a:xfrm>
              <a:custGeom>
                <a:avLst/>
                <a:gdLst>
                  <a:gd name="T0" fmla="*/ 121 w 122"/>
                  <a:gd name="T1" fmla="*/ 0 h 136"/>
                  <a:gd name="T2" fmla="*/ 121 w 122"/>
                  <a:gd name="T3" fmla="*/ 0 h 136"/>
                  <a:gd name="T4" fmla="*/ 0 w 122"/>
                  <a:gd name="T5" fmla="*/ 0 h 136"/>
                  <a:gd name="T6" fmla="*/ 0 w 122"/>
                  <a:gd name="T7" fmla="*/ 135 h 136"/>
                  <a:gd name="T8" fmla="*/ 121 w 122"/>
                  <a:gd name="T9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2" h="136">
                    <a:moveTo>
                      <a:pt x="121" y="0"/>
                    </a:moveTo>
                    <a:lnTo>
                      <a:pt x="121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41" y="135"/>
                      <a:pt x="95" y="81"/>
                      <a:pt x="121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5" name="Freeform 81"/>
              <p:cNvSpPr>
                <a:spLocks noChangeArrowheads="1"/>
              </p:cNvSpPr>
              <p:nvPr/>
            </p:nvSpPr>
            <p:spPr bwMode="auto">
              <a:xfrm>
                <a:off x="2850547" y="5088955"/>
                <a:ext cx="142140" cy="142175"/>
              </a:xfrm>
              <a:custGeom>
                <a:avLst/>
                <a:gdLst>
                  <a:gd name="T0" fmla="*/ 0 w 150"/>
                  <a:gd name="T1" fmla="*/ 0 h 150"/>
                  <a:gd name="T2" fmla="*/ 0 w 150"/>
                  <a:gd name="T3" fmla="*/ 0 h 150"/>
                  <a:gd name="T4" fmla="*/ 0 w 150"/>
                  <a:gd name="T5" fmla="*/ 149 h 150"/>
                  <a:gd name="T6" fmla="*/ 121 w 150"/>
                  <a:gd name="T7" fmla="*/ 149 h 150"/>
                  <a:gd name="T8" fmla="*/ 149 w 150"/>
                  <a:gd name="T9" fmla="*/ 0 h 150"/>
                  <a:gd name="T10" fmla="*/ 0 w 150"/>
                  <a:gd name="T11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0" h="15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49"/>
                      <a:pt x="0" y="149"/>
                      <a:pt x="0" y="149"/>
                    </a:cubicBezTo>
                    <a:cubicBezTo>
                      <a:pt x="121" y="149"/>
                      <a:pt x="121" y="149"/>
                      <a:pt x="121" y="149"/>
                    </a:cubicBezTo>
                    <a:cubicBezTo>
                      <a:pt x="135" y="109"/>
                      <a:pt x="149" y="54"/>
                      <a:pt x="149" y="0"/>
                    </a:cubicBez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6" name="Freeform 82"/>
              <p:cNvSpPr>
                <a:spLocks noChangeArrowheads="1"/>
              </p:cNvSpPr>
              <p:nvPr/>
            </p:nvSpPr>
            <p:spPr bwMode="auto">
              <a:xfrm>
                <a:off x="2704225" y="5256222"/>
                <a:ext cx="117056" cy="129633"/>
              </a:xfrm>
              <a:custGeom>
                <a:avLst/>
                <a:gdLst>
                  <a:gd name="T0" fmla="*/ 122 w 123"/>
                  <a:gd name="T1" fmla="*/ 135 h 136"/>
                  <a:gd name="T2" fmla="*/ 122 w 123"/>
                  <a:gd name="T3" fmla="*/ 135 h 136"/>
                  <a:gd name="T4" fmla="*/ 122 w 123"/>
                  <a:gd name="T5" fmla="*/ 0 h 136"/>
                  <a:gd name="T6" fmla="*/ 0 w 123"/>
                  <a:gd name="T7" fmla="*/ 0 h 136"/>
                  <a:gd name="T8" fmla="*/ 122 w 123"/>
                  <a:gd name="T9" fmla="*/ 13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36">
                    <a:moveTo>
                      <a:pt x="122" y="135"/>
                    </a:moveTo>
                    <a:lnTo>
                      <a:pt x="122" y="135"/>
                    </a:lnTo>
                    <a:cubicBezTo>
                      <a:pt x="122" y="0"/>
                      <a:pt x="122" y="0"/>
                      <a:pt x="1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81"/>
                      <a:pt x="68" y="135"/>
                      <a:pt x="122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3" name="Freeform 182"/>
            <p:cNvSpPr>
              <a:spLocks noChangeArrowheads="1"/>
            </p:cNvSpPr>
            <p:nvPr/>
          </p:nvSpPr>
          <p:spPr bwMode="auto">
            <a:xfrm>
              <a:off x="542679" y="5453461"/>
              <a:ext cx="411796" cy="411957"/>
            </a:xfrm>
            <a:custGeom>
              <a:avLst/>
              <a:gdLst>
                <a:gd name="T0" fmla="*/ 822259 w 654"/>
                <a:gd name="T1" fmla="*/ 0 h 654"/>
                <a:gd name="T2" fmla="*/ 0 w 654"/>
                <a:gd name="T3" fmla="*/ 17633 h 654"/>
                <a:gd name="T4" fmla="*/ 0 w 654"/>
                <a:gd name="T5" fmla="*/ 822474 h 654"/>
                <a:gd name="T6" fmla="*/ 342503 w 654"/>
                <a:gd name="T7" fmla="*/ 822474 h 654"/>
                <a:gd name="T8" fmla="*/ 478497 w 654"/>
                <a:gd name="T9" fmla="*/ 566789 h 654"/>
                <a:gd name="T10" fmla="*/ 478497 w 654"/>
                <a:gd name="T11" fmla="*/ 822474 h 654"/>
                <a:gd name="T12" fmla="*/ 822259 w 654"/>
                <a:gd name="T13" fmla="*/ 822474 h 654"/>
                <a:gd name="T14" fmla="*/ 822259 w 654"/>
                <a:gd name="T15" fmla="*/ 0 h 654"/>
                <a:gd name="T16" fmla="*/ 222879 w 654"/>
                <a:gd name="T17" fmla="*/ 566789 h 654"/>
                <a:gd name="T18" fmla="*/ 101995 w 654"/>
                <a:gd name="T19" fmla="*/ 702819 h 654"/>
                <a:gd name="T20" fmla="*/ 222879 w 654"/>
                <a:gd name="T21" fmla="*/ 566789 h 654"/>
                <a:gd name="T22" fmla="*/ 101995 w 654"/>
                <a:gd name="T23" fmla="*/ 463508 h 654"/>
                <a:gd name="T24" fmla="*/ 222879 w 654"/>
                <a:gd name="T25" fmla="*/ 326219 h 654"/>
                <a:gd name="T26" fmla="*/ 101995 w 654"/>
                <a:gd name="T27" fmla="*/ 463508 h 654"/>
                <a:gd name="T28" fmla="*/ 101995 w 654"/>
                <a:gd name="T29" fmla="*/ 222937 h 654"/>
                <a:gd name="T30" fmla="*/ 222879 w 654"/>
                <a:gd name="T31" fmla="*/ 85648 h 654"/>
                <a:gd name="T32" fmla="*/ 101995 w 654"/>
                <a:gd name="T33" fmla="*/ 222937 h 654"/>
                <a:gd name="T34" fmla="*/ 478497 w 654"/>
                <a:gd name="T35" fmla="*/ 326219 h 654"/>
                <a:gd name="T36" fmla="*/ 342503 w 654"/>
                <a:gd name="T37" fmla="*/ 463508 h 654"/>
                <a:gd name="T38" fmla="*/ 478497 w 654"/>
                <a:gd name="T39" fmla="*/ 326219 h 654"/>
                <a:gd name="T40" fmla="*/ 342503 w 654"/>
                <a:gd name="T41" fmla="*/ 222937 h 654"/>
                <a:gd name="T42" fmla="*/ 478497 w 654"/>
                <a:gd name="T43" fmla="*/ 85648 h 654"/>
                <a:gd name="T44" fmla="*/ 342503 w 654"/>
                <a:gd name="T45" fmla="*/ 222937 h 654"/>
                <a:gd name="T46" fmla="*/ 719004 w 654"/>
                <a:gd name="T47" fmla="*/ 566789 h 654"/>
                <a:gd name="T48" fmla="*/ 599380 w 654"/>
                <a:gd name="T49" fmla="*/ 702819 h 654"/>
                <a:gd name="T50" fmla="*/ 719004 w 654"/>
                <a:gd name="T51" fmla="*/ 566789 h 654"/>
                <a:gd name="T52" fmla="*/ 599380 w 654"/>
                <a:gd name="T53" fmla="*/ 463508 h 654"/>
                <a:gd name="T54" fmla="*/ 719004 w 654"/>
                <a:gd name="T55" fmla="*/ 326219 h 654"/>
                <a:gd name="T56" fmla="*/ 599380 w 654"/>
                <a:gd name="T57" fmla="*/ 463508 h 654"/>
                <a:gd name="T58" fmla="*/ 599380 w 654"/>
                <a:gd name="T59" fmla="*/ 222937 h 654"/>
                <a:gd name="T60" fmla="*/ 719004 w 654"/>
                <a:gd name="T61" fmla="*/ 85648 h 654"/>
                <a:gd name="T62" fmla="*/ 599380 w 654"/>
                <a:gd name="T63" fmla="*/ 222937 h 6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54" h="654">
                  <a:moveTo>
                    <a:pt x="653" y="0"/>
                  </a:moveTo>
                  <a:lnTo>
                    <a:pt x="653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4"/>
                  </a:cubicBezTo>
                  <a:cubicBezTo>
                    <a:pt x="0" y="653"/>
                    <a:pt x="0" y="653"/>
                    <a:pt x="0" y="653"/>
                  </a:cubicBezTo>
                  <a:cubicBezTo>
                    <a:pt x="272" y="653"/>
                    <a:pt x="272" y="653"/>
                    <a:pt x="272" y="653"/>
                  </a:cubicBezTo>
                  <a:cubicBezTo>
                    <a:pt x="272" y="450"/>
                    <a:pt x="272" y="450"/>
                    <a:pt x="272" y="450"/>
                  </a:cubicBezTo>
                  <a:cubicBezTo>
                    <a:pt x="380" y="450"/>
                    <a:pt x="380" y="450"/>
                    <a:pt x="380" y="450"/>
                  </a:cubicBezTo>
                  <a:cubicBezTo>
                    <a:pt x="380" y="653"/>
                    <a:pt x="380" y="653"/>
                    <a:pt x="380" y="653"/>
                  </a:cubicBezTo>
                  <a:cubicBezTo>
                    <a:pt x="653" y="653"/>
                    <a:pt x="653" y="653"/>
                    <a:pt x="653" y="653"/>
                  </a:cubicBezTo>
                  <a:cubicBezTo>
                    <a:pt x="653" y="14"/>
                    <a:pt x="653" y="14"/>
                    <a:pt x="653" y="14"/>
                  </a:cubicBezTo>
                  <a:cubicBezTo>
                    <a:pt x="653" y="0"/>
                    <a:pt x="653" y="0"/>
                    <a:pt x="653" y="0"/>
                  </a:cubicBezTo>
                  <a:close/>
                  <a:moveTo>
                    <a:pt x="177" y="450"/>
                  </a:moveTo>
                  <a:lnTo>
                    <a:pt x="177" y="450"/>
                  </a:lnTo>
                  <a:cubicBezTo>
                    <a:pt x="177" y="558"/>
                    <a:pt x="177" y="558"/>
                    <a:pt x="177" y="558"/>
                  </a:cubicBezTo>
                  <a:cubicBezTo>
                    <a:pt x="81" y="558"/>
                    <a:pt x="81" y="558"/>
                    <a:pt x="81" y="558"/>
                  </a:cubicBezTo>
                  <a:cubicBezTo>
                    <a:pt x="81" y="450"/>
                    <a:pt x="81" y="450"/>
                    <a:pt x="81" y="450"/>
                  </a:cubicBezTo>
                  <a:lnTo>
                    <a:pt x="177" y="450"/>
                  </a:lnTo>
                  <a:close/>
                  <a:moveTo>
                    <a:pt x="81" y="368"/>
                  </a:moveTo>
                  <a:lnTo>
                    <a:pt x="81" y="368"/>
                  </a:lnTo>
                  <a:cubicBezTo>
                    <a:pt x="81" y="259"/>
                    <a:pt x="81" y="259"/>
                    <a:pt x="81" y="259"/>
                  </a:cubicBezTo>
                  <a:cubicBezTo>
                    <a:pt x="177" y="259"/>
                    <a:pt x="177" y="259"/>
                    <a:pt x="177" y="259"/>
                  </a:cubicBezTo>
                  <a:cubicBezTo>
                    <a:pt x="177" y="368"/>
                    <a:pt x="177" y="368"/>
                    <a:pt x="177" y="368"/>
                  </a:cubicBezTo>
                  <a:lnTo>
                    <a:pt x="81" y="368"/>
                  </a:lnTo>
                  <a:close/>
                  <a:moveTo>
                    <a:pt x="81" y="177"/>
                  </a:moveTo>
                  <a:lnTo>
                    <a:pt x="81" y="177"/>
                  </a:lnTo>
                  <a:cubicBezTo>
                    <a:pt x="81" y="68"/>
                    <a:pt x="81" y="68"/>
                    <a:pt x="81" y="68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77" y="177"/>
                    <a:pt x="177" y="177"/>
                    <a:pt x="177" y="177"/>
                  </a:cubicBezTo>
                  <a:lnTo>
                    <a:pt x="81" y="177"/>
                  </a:lnTo>
                  <a:close/>
                  <a:moveTo>
                    <a:pt x="380" y="259"/>
                  </a:moveTo>
                  <a:lnTo>
                    <a:pt x="380" y="259"/>
                  </a:lnTo>
                  <a:cubicBezTo>
                    <a:pt x="380" y="368"/>
                    <a:pt x="380" y="368"/>
                    <a:pt x="380" y="368"/>
                  </a:cubicBezTo>
                  <a:cubicBezTo>
                    <a:pt x="272" y="368"/>
                    <a:pt x="272" y="368"/>
                    <a:pt x="272" y="368"/>
                  </a:cubicBezTo>
                  <a:cubicBezTo>
                    <a:pt x="272" y="259"/>
                    <a:pt x="272" y="259"/>
                    <a:pt x="272" y="259"/>
                  </a:cubicBezTo>
                  <a:lnTo>
                    <a:pt x="380" y="259"/>
                  </a:lnTo>
                  <a:close/>
                  <a:moveTo>
                    <a:pt x="272" y="177"/>
                  </a:moveTo>
                  <a:lnTo>
                    <a:pt x="272" y="177"/>
                  </a:lnTo>
                  <a:cubicBezTo>
                    <a:pt x="272" y="68"/>
                    <a:pt x="272" y="68"/>
                    <a:pt x="272" y="68"/>
                  </a:cubicBezTo>
                  <a:cubicBezTo>
                    <a:pt x="380" y="68"/>
                    <a:pt x="380" y="68"/>
                    <a:pt x="380" y="68"/>
                  </a:cubicBezTo>
                  <a:cubicBezTo>
                    <a:pt x="380" y="177"/>
                    <a:pt x="380" y="177"/>
                    <a:pt x="380" y="177"/>
                  </a:cubicBezTo>
                  <a:lnTo>
                    <a:pt x="272" y="177"/>
                  </a:lnTo>
                  <a:close/>
                  <a:moveTo>
                    <a:pt x="571" y="450"/>
                  </a:moveTo>
                  <a:lnTo>
                    <a:pt x="571" y="450"/>
                  </a:lnTo>
                  <a:cubicBezTo>
                    <a:pt x="571" y="558"/>
                    <a:pt x="571" y="558"/>
                    <a:pt x="571" y="558"/>
                  </a:cubicBezTo>
                  <a:cubicBezTo>
                    <a:pt x="476" y="558"/>
                    <a:pt x="476" y="558"/>
                    <a:pt x="476" y="558"/>
                  </a:cubicBezTo>
                  <a:cubicBezTo>
                    <a:pt x="476" y="450"/>
                    <a:pt x="476" y="450"/>
                    <a:pt x="476" y="450"/>
                  </a:cubicBezTo>
                  <a:lnTo>
                    <a:pt x="571" y="450"/>
                  </a:lnTo>
                  <a:close/>
                  <a:moveTo>
                    <a:pt x="476" y="368"/>
                  </a:moveTo>
                  <a:lnTo>
                    <a:pt x="476" y="368"/>
                  </a:lnTo>
                  <a:cubicBezTo>
                    <a:pt x="476" y="259"/>
                    <a:pt x="476" y="259"/>
                    <a:pt x="476" y="259"/>
                  </a:cubicBezTo>
                  <a:cubicBezTo>
                    <a:pt x="571" y="259"/>
                    <a:pt x="571" y="259"/>
                    <a:pt x="571" y="259"/>
                  </a:cubicBezTo>
                  <a:cubicBezTo>
                    <a:pt x="571" y="368"/>
                    <a:pt x="571" y="368"/>
                    <a:pt x="571" y="368"/>
                  </a:cubicBezTo>
                  <a:lnTo>
                    <a:pt x="476" y="368"/>
                  </a:lnTo>
                  <a:close/>
                  <a:moveTo>
                    <a:pt x="476" y="177"/>
                  </a:moveTo>
                  <a:lnTo>
                    <a:pt x="476" y="177"/>
                  </a:lnTo>
                  <a:cubicBezTo>
                    <a:pt x="476" y="68"/>
                    <a:pt x="476" y="68"/>
                    <a:pt x="476" y="68"/>
                  </a:cubicBezTo>
                  <a:cubicBezTo>
                    <a:pt x="571" y="68"/>
                    <a:pt x="571" y="68"/>
                    <a:pt x="571" y="68"/>
                  </a:cubicBezTo>
                  <a:cubicBezTo>
                    <a:pt x="571" y="177"/>
                    <a:pt x="571" y="177"/>
                    <a:pt x="571" y="177"/>
                  </a:cubicBezTo>
                  <a:lnTo>
                    <a:pt x="47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none" lIns="76183" tIns="38092" rIns="76183" bIns="38092" anchor="ctr"/>
            <a:lstStyle/>
            <a:p>
              <a:pPr defTabSz="914400"/>
              <a:endParaRPr 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grpSp>
          <p:nvGrpSpPr>
            <p:cNvPr id="54" name="Group 67"/>
            <p:cNvGrpSpPr/>
            <p:nvPr/>
          </p:nvGrpSpPr>
          <p:grpSpPr>
            <a:xfrm>
              <a:off x="1761746" y="5452113"/>
              <a:ext cx="394912" cy="414654"/>
              <a:chOff x="6550342" y="10834538"/>
              <a:chExt cx="593638" cy="623070"/>
            </a:xfrm>
            <a:solidFill>
              <a:srgbClr val="FFFFFF"/>
            </a:solidFill>
          </p:grpSpPr>
          <p:sp>
            <p:nvSpPr>
              <p:cNvPr id="62" name="Freeform 220"/>
              <p:cNvSpPr>
                <a:spLocks noChangeArrowheads="1"/>
              </p:cNvSpPr>
              <p:nvPr/>
            </p:nvSpPr>
            <p:spPr bwMode="auto">
              <a:xfrm>
                <a:off x="6550342" y="10834540"/>
                <a:ext cx="209028" cy="401438"/>
              </a:xfrm>
              <a:custGeom>
                <a:avLst/>
                <a:gdLst>
                  <a:gd name="T0" fmla="*/ 218 w 219"/>
                  <a:gd name="T1" fmla="*/ 136 h 423"/>
                  <a:gd name="T2" fmla="*/ 218 w 219"/>
                  <a:gd name="T3" fmla="*/ 136 h 423"/>
                  <a:gd name="T4" fmla="*/ 54 w 219"/>
                  <a:gd name="T5" fmla="*/ 0 h 423"/>
                  <a:gd name="T6" fmla="*/ 0 w 219"/>
                  <a:gd name="T7" fmla="*/ 0 h 423"/>
                  <a:gd name="T8" fmla="*/ 0 w 219"/>
                  <a:gd name="T9" fmla="*/ 422 h 423"/>
                  <a:gd name="T10" fmla="*/ 41 w 219"/>
                  <a:gd name="T11" fmla="*/ 381 h 423"/>
                  <a:gd name="T12" fmla="*/ 54 w 219"/>
                  <a:gd name="T13" fmla="*/ 381 h 423"/>
                  <a:gd name="T14" fmla="*/ 218 w 219"/>
                  <a:gd name="T15" fmla="*/ 163 h 423"/>
                  <a:gd name="T16" fmla="*/ 218 w 219"/>
                  <a:gd name="T17" fmla="*/ 136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9" h="423">
                    <a:moveTo>
                      <a:pt x="218" y="136"/>
                    </a:moveTo>
                    <a:lnTo>
                      <a:pt x="218" y="136"/>
                    </a:lnTo>
                    <a:cubicBezTo>
                      <a:pt x="54" y="0"/>
                      <a:pt x="54" y="0"/>
                      <a:pt x="5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22"/>
                      <a:pt x="0" y="422"/>
                      <a:pt x="0" y="422"/>
                    </a:cubicBezTo>
                    <a:cubicBezTo>
                      <a:pt x="41" y="381"/>
                      <a:pt x="41" y="381"/>
                      <a:pt x="41" y="381"/>
                    </a:cubicBezTo>
                    <a:cubicBezTo>
                      <a:pt x="41" y="381"/>
                      <a:pt x="41" y="381"/>
                      <a:pt x="54" y="381"/>
                    </a:cubicBezTo>
                    <a:cubicBezTo>
                      <a:pt x="218" y="163"/>
                      <a:pt x="218" y="163"/>
                      <a:pt x="218" y="163"/>
                    </a:cubicBezTo>
                    <a:lnTo>
                      <a:pt x="218" y="13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Freeform 221"/>
              <p:cNvSpPr>
                <a:spLocks noChangeArrowheads="1"/>
              </p:cNvSpPr>
              <p:nvPr/>
            </p:nvSpPr>
            <p:spPr bwMode="auto">
              <a:xfrm>
                <a:off x="6654855" y="11311249"/>
                <a:ext cx="50167" cy="37636"/>
              </a:xfrm>
              <a:custGeom>
                <a:avLst/>
                <a:gdLst>
                  <a:gd name="T0" fmla="*/ 26 w 55"/>
                  <a:gd name="T1" fmla="*/ 0 h 41"/>
                  <a:gd name="T2" fmla="*/ 26 w 55"/>
                  <a:gd name="T3" fmla="*/ 0 h 41"/>
                  <a:gd name="T4" fmla="*/ 12 w 55"/>
                  <a:gd name="T5" fmla="*/ 0 h 41"/>
                  <a:gd name="T6" fmla="*/ 12 w 55"/>
                  <a:gd name="T7" fmla="*/ 27 h 41"/>
                  <a:gd name="T8" fmla="*/ 40 w 55"/>
                  <a:gd name="T9" fmla="*/ 27 h 41"/>
                  <a:gd name="T10" fmla="*/ 40 w 55"/>
                  <a:gd name="T11" fmla="*/ 0 h 41"/>
                  <a:gd name="T12" fmla="*/ 26 w 55"/>
                  <a:gd name="T13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1">
                    <a:moveTo>
                      <a:pt x="26" y="0"/>
                    </a:moveTo>
                    <a:lnTo>
                      <a:pt x="26" y="0"/>
                    </a:lnTo>
                    <a:lnTo>
                      <a:pt x="12" y="0"/>
                    </a:lnTo>
                    <a:cubicBezTo>
                      <a:pt x="0" y="12"/>
                      <a:pt x="12" y="27"/>
                      <a:pt x="12" y="27"/>
                    </a:cubicBezTo>
                    <a:cubicBezTo>
                      <a:pt x="26" y="40"/>
                      <a:pt x="40" y="40"/>
                      <a:pt x="40" y="27"/>
                    </a:cubicBezTo>
                    <a:cubicBezTo>
                      <a:pt x="54" y="12"/>
                      <a:pt x="54" y="0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4" name="Freeform 222"/>
              <p:cNvSpPr>
                <a:spLocks noChangeArrowheads="1"/>
              </p:cNvSpPr>
              <p:nvPr/>
            </p:nvSpPr>
            <p:spPr bwMode="auto">
              <a:xfrm>
                <a:off x="6604690" y="11261068"/>
                <a:ext cx="54346" cy="54363"/>
              </a:xfrm>
              <a:custGeom>
                <a:avLst/>
                <a:gdLst>
                  <a:gd name="T0" fmla="*/ 28 w 57"/>
                  <a:gd name="T1" fmla="*/ 0 h 56"/>
                  <a:gd name="T2" fmla="*/ 28 w 57"/>
                  <a:gd name="T3" fmla="*/ 0 h 56"/>
                  <a:gd name="T4" fmla="*/ 14 w 57"/>
                  <a:gd name="T5" fmla="*/ 13 h 56"/>
                  <a:gd name="T6" fmla="*/ 14 w 57"/>
                  <a:gd name="T7" fmla="*/ 41 h 56"/>
                  <a:gd name="T8" fmla="*/ 42 w 57"/>
                  <a:gd name="T9" fmla="*/ 41 h 56"/>
                  <a:gd name="T10" fmla="*/ 42 w 57"/>
                  <a:gd name="T11" fmla="*/ 13 h 56"/>
                  <a:gd name="T12" fmla="*/ 28 w 57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" h="56">
                    <a:moveTo>
                      <a:pt x="28" y="0"/>
                    </a:moveTo>
                    <a:lnTo>
                      <a:pt x="28" y="0"/>
                    </a:lnTo>
                    <a:lnTo>
                      <a:pt x="14" y="13"/>
                    </a:lnTo>
                    <a:cubicBezTo>
                      <a:pt x="0" y="27"/>
                      <a:pt x="14" y="41"/>
                      <a:pt x="14" y="41"/>
                    </a:cubicBezTo>
                    <a:cubicBezTo>
                      <a:pt x="28" y="55"/>
                      <a:pt x="42" y="55"/>
                      <a:pt x="42" y="41"/>
                    </a:cubicBezTo>
                    <a:cubicBezTo>
                      <a:pt x="56" y="27"/>
                      <a:pt x="56" y="13"/>
                      <a:pt x="42" y="13"/>
                    </a:cubicBezTo>
                    <a:cubicBezTo>
                      <a:pt x="42" y="0"/>
                      <a:pt x="42" y="0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Freeform 223"/>
              <p:cNvSpPr>
                <a:spLocks noChangeArrowheads="1"/>
              </p:cNvSpPr>
              <p:nvPr/>
            </p:nvSpPr>
            <p:spPr bwMode="auto">
              <a:xfrm>
                <a:off x="6964218" y="10834538"/>
                <a:ext cx="179762" cy="334532"/>
              </a:xfrm>
              <a:custGeom>
                <a:avLst/>
                <a:gdLst>
                  <a:gd name="T0" fmla="*/ 108 w 191"/>
                  <a:gd name="T1" fmla="*/ 0 h 354"/>
                  <a:gd name="T2" fmla="*/ 0 w 191"/>
                  <a:gd name="T3" fmla="*/ 122 h 354"/>
                  <a:gd name="T4" fmla="*/ 190 w 191"/>
                  <a:gd name="T5" fmla="*/ 353 h 354"/>
                  <a:gd name="T6" fmla="*/ 190 w 191"/>
                  <a:gd name="T7" fmla="*/ 0 h 354"/>
                  <a:gd name="T8" fmla="*/ 108 w 191"/>
                  <a:gd name="T9" fmla="*/ 0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354">
                    <a:moveTo>
                      <a:pt x="108" y="0"/>
                    </a:moveTo>
                    <a:lnTo>
                      <a:pt x="0" y="122"/>
                    </a:lnTo>
                    <a:lnTo>
                      <a:pt x="190" y="353"/>
                    </a:lnTo>
                    <a:lnTo>
                      <a:pt x="190" y="0"/>
                    </a:lnTo>
                    <a:lnTo>
                      <a:pt x="108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6" name="Freeform 224"/>
              <p:cNvSpPr>
                <a:spLocks noChangeArrowheads="1"/>
              </p:cNvSpPr>
              <p:nvPr/>
            </p:nvSpPr>
            <p:spPr bwMode="auto">
              <a:xfrm>
                <a:off x="6705022" y="11348885"/>
                <a:ext cx="50167" cy="41816"/>
              </a:xfrm>
              <a:custGeom>
                <a:avLst/>
                <a:gdLst>
                  <a:gd name="T0" fmla="*/ 26 w 55"/>
                  <a:gd name="T1" fmla="*/ 0 h 42"/>
                  <a:gd name="T2" fmla="*/ 26 w 55"/>
                  <a:gd name="T3" fmla="*/ 0 h 42"/>
                  <a:gd name="T4" fmla="*/ 14 w 55"/>
                  <a:gd name="T5" fmla="*/ 0 h 42"/>
                  <a:gd name="T6" fmla="*/ 14 w 55"/>
                  <a:gd name="T7" fmla="*/ 41 h 42"/>
                  <a:gd name="T8" fmla="*/ 40 w 55"/>
                  <a:gd name="T9" fmla="*/ 28 h 42"/>
                  <a:gd name="T10" fmla="*/ 40 w 55"/>
                  <a:gd name="T11" fmla="*/ 0 h 42"/>
                  <a:gd name="T12" fmla="*/ 26 w 55"/>
                  <a:gd name="T1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42">
                    <a:moveTo>
                      <a:pt x="26" y="0"/>
                    </a:moveTo>
                    <a:lnTo>
                      <a:pt x="26" y="0"/>
                    </a:lnTo>
                    <a:lnTo>
                      <a:pt x="14" y="0"/>
                    </a:lnTo>
                    <a:cubicBezTo>
                      <a:pt x="0" y="14"/>
                      <a:pt x="14" y="28"/>
                      <a:pt x="14" y="41"/>
                    </a:cubicBezTo>
                    <a:cubicBezTo>
                      <a:pt x="26" y="41"/>
                      <a:pt x="40" y="41"/>
                      <a:pt x="40" y="28"/>
                    </a:cubicBezTo>
                    <a:cubicBezTo>
                      <a:pt x="54" y="28"/>
                      <a:pt x="54" y="14"/>
                      <a:pt x="40" y="0"/>
                    </a:cubicBezTo>
                    <a:cubicBezTo>
                      <a:pt x="40" y="0"/>
                      <a:pt x="40" y="0"/>
                      <a:pt x="26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7" name="Freeform 225"/>
              <p:cNvSpPr>
                <a:spLocks noChangeArrowheads="1"/>
              </p:cNvSpPr>
              <p:nvPr/>
            </p:nvSpPr>
            <p:spPr bwMode="auto">
              <a:xfrm>
                <a:off x="6759368" y="10976718"/>
                <a:ext cx="351166" cy="246719"/>
              </a:xfrm>
              <a:custGeom>
                <a:avLst/>
                <a:gdLst>
                  <a:gd name="T0" fmla="*/ 14 w 369"/>
                  <a:gd name="T1" fmla="*/ 135 h 259"/>
                  <a:gd name="T2" fmla="*/ 14 w 369"/>
                  <a:gd name="T3" fmla="*/ 135 h 259"/>
                  <a:gd name="T4" fmla="*/ 0 w 369"/>
                  <a:gd name="T5" fmla="*/ 177 h 259"/>
                  <a:gd name="T6" fmla="*/ 41 w 369"/>
                  <a:gd name="T7" fmla="*/ 177 h 259"/>
                  <a:gd name="T8" fmla="*/ 123 w 369"/>
                  <a:gd name="T9" fmla="*/ 109 h 259"/>
                  <a:gd name="T10" fmla="*/ 123 w 369"/>
                  <a:gd name="T11" fmla="*/ 109 h 259"/>
                  <a:gd name="T12" fmla="*/ 135 w 369"/>
                  <a:gd name="T13" fmla="*/ 109 h 259"/>
                  <a:gd name="T14" fmla="*/ 135 w 369"/>
                  <a:gd name="T15" fmla="*/ 109 h 259"/>
                  <a:gd name="T16" fmla="*/ 135 w 369"/>
                  <a:gd name="T17" fmla="*/ 109 h 259"/>
                  <a:gd name="T18" fmla="*/ 135 w 369"/>
                  <a:gd name="T19" fmla="*/ 109 h 259"/>
                  <a:gd name="T20" fmla="*/ 135 w 369"/>
                  <a:gd name="T21" fmla="*/ 109 h 259"/>
                  <a:gd name="T22" fmla="*/ 231 w 369"/>
                  <a:gd name="T23" fmla="*/ 191 h 259"/>
                  <a:gd name="T24" fmla="*/ 231 w 369"/>
                  <a:gd name="T25" fmla="*/ 191 h 259"/>
                  <a:gd name="T26" fmla="*/ 300 w 369"/>
                  <a:gd name="T27" fmla="*/ 258 h 259"/>
                  <a:gd name="T28" fmla="*/ 368 w 369"/>
                  <a:gd name="T29" fmla="*/ 203 h 259"/>
                  <a:gd name="T30" fmla="*/ 204 w 369"/>
                  <a:gd name="T31" fmla="*/ 0 h 259"/>
                  <a:gd name="T32" fmla="*/ 14 w 369"/>
                  <a:gd name="T33" fmla="*/ 135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9" h="259">
                    <a:moveTo>
                      <a:pt x="14" y="135"/>
                    </a:moveTo>
                    <a:lnTo>
                      <a:pt x="14" y="135"/>
                    </a:lnTo>
                    <a:cubicBezTo>
                      <a:pt x="0" y="135"/>
                      <a:pt x="0" y="163"/>
                      <a:pt x="0" y="177"/>
                    </a:cubicBezTo>
                    <a:cubicBezTo>
                      <a:pt x="14" y="177"/>
                      <a:pt x="41" y="177"/>
                      <a:pt x="41" y="177"/>
                    </a:cubicBezTo>
                    <a:cubicBezTo>
                      <a:pt x="55" y="163"/>
                      <a:pt x="109" y="109"/>
                      <a:pt x="123" y="109"/>
                    </a:cubicBezTo>
                    <a:lnTo>
                      <a:pt x="123" y="109"/>
                    </a:lnTo>
                    <a:cubicBezTo>
                      <a:pt x="123" y="109"/>
                      <a:pt x="123" y="109"/>
                      <a:pt x="135" y="109"/>
                    </a:cubicBez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lnTo>
                      <a:pt x="135" y="109"/>
                    </a:lnTo>
                    <a:cubicBezTo>
                      <a:pt x="231" y="191"/>
                      <a:pt x="231" y="191"/>
                      <a:pt x="231" y="191"/>
                    </a:cubicBezTo>
                    <a:lnTo>
                      <a:pt x="231" y="191"/>
                    </a:lnTo>
                    <a:cubicBezTo>
                      <a:pt x="300" y="258"/>
                      <a:pt x="300" y="258"/>
                      <a:pt x="300" y="258"/>
                    </a:cubicBezTo>
                    <a:cubicBezTo>
                      <a:pt x="368" y="203"/>
                      <a:pt x="368" y="203"/>
                      <a:pt x="368" y="203"/>
                    </a:cubicBezTo>
                    <a:cubicBezTo>
                      <a:pt x="204" y="0"/>
                      <a:pt x="204" y="0"/>
                      <a:pt x="204" y="0"/>
                    </a:cubicBezTo>
                    <a:cubicBezTo>
                      <a:pt x="177" y="13"/>
                      <a:pt x="55" y="67"/>
                      <a:pt x="14" y="13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Freeform 226"/>
              <p:cNvSpPr>
                <a:spLocks noChangeArrowheads="1"/>
              </p:cNvSpPr>
              <p:nvPr/>
            </p:nvSpPr>
            <p:spPr bwMode="auto">
              <a:xfrm>
                <a:off x="6629773" y="11001807"/>
                <a:ext cx="438957" cy="426529"/>
              </a:xfrm>
              <a:custGeom>
                <a:avLst/>
                <a:gdLst>
                  <a:gd name="T0" fmla="*/ 259 w 463"/>
                  <a:gd name="T1" fmla="*/ 108 h 450"/>
                  <a:gd name="T2" fmla="*/ 259 w 463"/>
                  <a:gd name="T3" fmla="*/ 108 h 450"/>
                  <a:gd name="T4" fmla="*/ 204 w 463"/>
                  <a:gd name="T5" fmla="*/ 164 h 450"/>
                  <a:gd name="T6" fmla="*/ 122 w 463"/>
                  <a:gd name="T7" fmla="*/ 164 h 450"/>
                  <a:gd name="T8" fmla="*/ 122 w 463"/>
                  <a:gd name="T9" fmla="*/ 94 h 450"/>
                  <a:gd name="T10" fmla="*/ 217 w 463"/>
                  <a:gd name="T11" fmla="*/ 0 h 450"/>
                  <a:gd name="T12" fmla="*/ 150 w 463"/>
                  <a:gd name="T13" fmla="*/ 13 h 450"/>
                  <a:gd name="T14" fmla="*/ 0 w 463"/>
                  <a:gd name="T15" fmla="*/ 218 h 450"/>
                  <a:gd name="T16" fmla="*/ 271 w 463"/>
                  <a:gd name="T17" fmla="*/ 449 h 450"/>
                  <a:gd name="T18" fmla="*/ 286 w 463"/>
                  <a:gd name="T19" fmla="*/ 449 h 450"/>
                  <a:gd name="T20" fmla="*/ 286 w 463"/>
                  <a:gd name="T21" fmla="*/ 449 h 450"/>
                  <a:gd name="T22" fmla="*/ 299 w 463"/>
                  <a:gd name="T23" fmla="*/ 449 h 450"/>
                  <a:gd name="T24" fmla="*/ 313 w 463"/>
                  <a:gd name="T25" fmla="*/ 435 h 450"/>
                  <a:gd name="T26" fmla="*/ 299 w 463"/>
                  <a:gd name="T27" fmla="*/ 422 h 450"/>
                  <a:gd name="T28" fmla="*/ 204 w 463"/>
                  <a:gd name="T29" fmla="*/ 339 h 450"/>
                  <a:gd name="T30" fmla="*/ 204 w 463"/>
                  <a:gd name="T31" fmla="*/ 313 h 450"/>
                  <a:gd name="T32" fmla="*/ 231 w 463"/>
                  <a:gd name="T33" fmla="*/ 313 h 450"/>
                  <a:gd name="T34" fmla="*/ 245 w 463"/>
                  <a:gd name="T35" fmla="*/ 327 h 450"/>
                  <a:gd name="T36" fmla="*/ 245 w 463"/>
                  <a:gd name="T37" fmla="*/ 327 h 450"/>
                  <a:gd name="T38" fmla="*/ 327 w 463"/>
                  <a:gd name="T39" fmla="*/ 395 h 450"/>
                  <a:gd name="T40" fmla="*/ 327 w 463"/>
                  <a:gd name="T41" fmla="*/ 395 h 450"/>
                  <a:gd name="T42" fmla="*/ 340 w 463"/>
                  <a:gd name="T43" fmla="*/ 408 h 450"/>
                  <a:gd name="T44" fmla="*/ 354 w 463"/>
                  <a:gd name="T45" fmla="*/ 408 h 450"/>
                  <a:gd name="T46" fmla="*/ 367 w 463"/>
                  <a:gd name="T47" fmla="*/ 408 h 450"/>
                  <a:gd name="T48" fmla="*/ 367 w 463"/>
                  <a:gd name="T49" fmla="*/ 381 h 450"/>
                  <a:gd name="T50" fmla="*/ 271 w 463"/>
                  <a:gd name="T51" fmla="*/ 299 h 450"/>
                  <a:gd name="T52" fmla="*/ 271 w 463"/>
                  <a:gd name="T53" fmla="*/ 272 h 450"/>
                  <a:gd name="T54" fmla="*/ 286 w 463"/>
                  <a:gd name="T55" fmla="*/ 272 h 450"/>
                  <a:gd name="T56" fmla="*/ 299 w 463"/>
                  <a:gd name="T57" fmla="*/ 285 h 450"/>
                  <a:gd name="T58" fmla="*/ 381 w 463"/>
                  <a:gd name="T59" fmla="*/ 354 h 450"/>
                  <a:gd name="T60" fmla="*/ 381 w 463"/>
                  <a:gd name="T61" fmla="*/ 367 h 450"/>
                  <a:gd name="T62" fmla="*/ 394 w 463"/>
                  <a:gd name="T63" fmla="*/ 367 h 450"/>
                  <a:gd name="T64" fmla="*/ 394 w 463"/>
                  <a:gd name="T65" fmla="*/ 367 h 450"/>
                  <a:gd name="T66" fmla="*/ 394 w 463"/>
                  <a:gd name="T67" fmla="*/ 367 h 450"/>
                  <a:gd name="T68" fmla="*/ 394 w 463"/>
                  <a:gd name="T69" fmla="*/ 367 h 450"/>
                  <a:gd name="T70" fmla="*/ 394 w 463"/>
                  <a:gd name="T71" fmla="*/ 367 h 450"/>
                  <a:gd name="T72" fmla="*/ 408 w 463"/>
                  <a:gd name="T73" fmla="*/ 354 h 450"/>
                  <a:gd name="T74" fmla="*/ 408 w 463"/>
                  <a:gd name="T75" fmla="*/ 327 h 450"/>
                  <a:gd name="T76" fmla="*/ 313 w 463"/>
                  <a:gd name="T77" fmla="*/ 245 h 450"/>
                  <a:gd name="T78" fmla="*/ 313 w 463"/>
                  <a:gd name="T79" fmla="*/ 245 h 450"/>
                  <a:gd name="T80" fmla="*/ 313 w 463"/>
                  <a:gd name="T81" fmla="*/ 245 h 450"/>
                  <a:gd name="T82" fmla="*/ 313 w 463"/>
                  <a:gd name="T83" fmla="*/ 218 h 450"/>
                  <a:gd name="T84" fmla="*/ 327 w 463"/>
                  <a:gd name="T85" fmla="*/ 218 h 450"/>
                  <a:gd name="T86" fmla="*/ 422 w 463"/>
                  <a:gd name="T87" fmla="*/ 299 h 450"/>
                  <a:gd name="T88" fmla="*/ 422 w 463"/>
                  <a:gd name="T89" fmla="*/ 299 h 450"/>
                  <a:gd name="T90" fmla="*/ 436 w 463"/>
                  <a:gd name="T91" fmla="*/ 299 h 450"/>
                  <a:gd name="T92" fmla="*/ 436 w 463"/>
                  <a:gd name="T93" fmla="*/ 299 h 450"/>
                  <a:gd name="T94" fmla="*/ 450 w 463"/>
                  <a:gd name="T95" fmla="*/ 299 h 450"/>
                  <a:gd name="T96" fmla="*/ 450 w 463"/>
                  <a:gd name="T97" fmla="*/ 272 h 450"/>
                  <a:gd name="T98" fmla="*/ 259 w 463"/>
                  <a:gd name="T99" fmla="*/ 108 h 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63" h="450">
                    <a:moveTo>
                      <a:pt x="259" y="108"/>
                    </a:moveTo>
                    <a:lnTo>
                      <a:pt x="259" y="108"/>
                    </a:lnTo>
                    <a:cubicBezTo>
                      <a:pt x="245" y="122"/>
                      <a:pt x="217" y="136"/>
                      <a:pt x="204" y="164"/>
                    </a:cubicBezTo>
                    <a:cubicBezTo>
                      <a:pt x="177" y="190"/>
                      <a:pt x="150" y="190"/>
                      <a:pt x="122" y="164"/>
                    </a:cubicBezTo>
                    <a:cubicBezTo>
                      <a:pt x="96" y="150"/>
                      <a:pt x="108" y="108"/>
                      <a:pt x="122" y="94"/>
                    </a:cubicBezTo>
                    <a:cubicBezTo>
                      <a:pt x="136" y="54"/>
                      <a:pt x="177" y="27"/>
                      <a:pt x="217" y="0"/>
                    </a:cubicBezTo>
                    <a:cubicBezTo>
                      <a:pt x="150" y="13"/>
                      <a:pt x="150" y="13"/>
                      <a:pt x="150" y="13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271" y="449"/>
                      <a:pt x="271" y="449"/>
                      <a:pt x="271" y="449"/>
                    </a:cubicBezTo>
                    <a:cubicBezTo>
                      <a:pt x="286" y="449"/>
                      <a:pt x="286" y="449"/>
                      <a:pt x="286" y="449"/>
                    </a:cubicBezTo>
                    <a:lnTo>
                      <a:pt x="286" y="449"/>
                    </a:lnTo>
                    <a:cubicBezTo>
                      <a:pt x="299" y="449"/>
                      <a:pt x="299" y="449"/>
                      <a:pt x="299" y="449"/>
                    </a:cubicBezTo>
                    <a:cubicBezTo>
                      <a:pt x="313" y="435"/>
                      <a:pt x="313" y="435"/>
                      <a:pt x="313" y="435"/>
                    </a:cubicBezTo>
                    <a:cubicBezTo>
                      <a:pt x="313" y="422"/>
                      <a:pt x="313" y="422"/>
                      <a:pt x="299" y="422"/>
                    </a:cubicBezTo>
                    <a:cubicBezTo>
                      <a:pt x="204" y="339"/>
                      <a:pt x="204" y="339"/>
                      <a:pt x="204" y="339"/>
                    </a:cubicBezTo>
                    <a:cubicBezTo>
                      <a:pt x="204" y="339"/>
                      <a:pt x="204" y="327"/>
                      <a:pt x="204" y="313"/>
                    </a:cubicBezTo>
                    <a:cubicBezTo>
                      <a:pt x="217" y="313"/>
                      <a:pt x="217" y="313"/>
                      <a:pt x="231" y="313"/>
                    </a:cubicBezTo>
                    <a:cubicBezTo>
                      <a:pt x="245" y="327"/>
                      <a:pt x="245" y="327"/>
                      <a:pt x="245" y="327"/>
                    </a:cubicBezTo>
                    <a:lnTo>
                      <a:pt x="245" y="327"/>
                    </a:lnTo>
                    <a:cubicBezTo>
                      <a:pt x="327" y="395"/>
                      <a:pt x="327" y="395"/>
                      <a:pt x="327" y="395"/>
                    </a:cubicBezTo>
                    <a:lnTo>
                      <a:pt x="327" y="395"/>
                    </a:lnTo>
                    <a:cubicBezTo>
                      <a:pt x="340" y="408"/>
                      <a:pt x="340" y="408"/>
                      <a:pt x="340" y="408"/>
                    </a:cubicBezTo>
                    <a:cubicBezTo>
                      <a:pt x="340" y="408"/>
                      <a:pt x="340" y="408"/>
                      <a:pt x="354" y="408"/>
                    </a:cubicBezTo>
                    <a:cubicBezTo>
                      <a:pt x="354" y="408"/>
                      <a:pt x="354" y="408"/>
                      <a:pt x="367" y="408"/>
                    </a:cubicBezTo>
                    <a:cubicBezTo>
                      <a:pt x="367" y="395"/>
                      <a:pt x="367" y="381"/>
                      <a:pt x="367" y="381"/>
                    </a:cubicBezTo>
                    <a:cubicBezTo>
                      <a:pt x="271" y="299"/>
                      <a:pt x="271" y="299"/>
                      <a:pt x="271" y="299"/>
                    </a:cubicBezTo>
                    <a:cubicBezTo>
                      <a:pt x="259" y="285"/>
                      <a:pt x="259" y="285"/>
                      <a:pt x="271" y="272"/>
                    </a:cubicBezTo>
                    <a:lnTo>
                      <a:pt x="286" y="272"/>
                    </a:lnTo>
                    <a:cubicBezTo>
                      <a:pt x="299" y="285"/>
                      <a:pt x="299" y="285"/>
                      <a:pt x="299" y="285"/>
                    </a:cubicBezTo>
                    <a:cubicBezTo>
                      <a:pt x="381" y="354"/>
                      <a:pt x="381" y="354"/>
                      <a:pt x="381" y="354"/>
                    </a:cubicBezTo>
                    <a:cubicBezTo>
                      <a:pt x="381" y="367"/>
                      <a:pt x="381" y="367"/>
                      <a:pt x="381" y="367"/>
                    </a:cubicBezTo>
                    <a:cubicBezTo>
                      <a:pt x="394" y="367"/>
                      <a:pt x="394" y="367"/>
                      <a:pt x="394" y="367"/>
                    </a:cubicBez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lnTo>
                      <a:pt x="394" y="367"/>
                    </a:lnTo>
                    <a:cubicBezTo>
                      <a:pt x="408" y="367"/>
                      <a:pt x="408" y="354"/>
                      <a:pt x="408" y="354"/>
                    </a:cubicBezTo>
                    <a:cubicBezTo>
                      <a:pt x="422" y="339"/>
                      <a:pt x="422" y="339"/>
                      <a:pt x="408" y="327"/>
                    </a:cubicBezTo>
                    <a:cubicBezTo>
                      <a:pt x="313" y="245"/>
                      <a:pt x="313" y="245"/>
                      <a:pt x="313" y="245"/>
                    </a:cubicBezTo>
                    <a:lnTo>
                      <a:pt x="313" y="245"/>
                    </a:lnTo>
                    <a:lnTo>
                      <a:pt x="313" y="245"/>
                    </a:lnTo>
                    <a:cubicBezTo>
                      <a:pt x="299" y="231"/>
                      <a:pt x="299" y="231"/>
                      <a:pt x="313" y="218"/>
                    </a:cubicBezTo>
                    <a:lnTo>
                      <a:pt x="327" y="218"/>
                    </a:lnTo>
                    <a:cubicBezTo>
                      <a:pt x="422" y="299"/>
                      <a:pt x="422" y="299"/>
                      <a:pt x="422" y="299"/>
                    </a:cubicBezTo>
                    <a:lnTo>
                      <a:pt x="422" y="299"/>
                    </a:lnTo>
                    <a:lnTo>
                      <a:pt x="436" y="299"/>
                    </a:lnTo>
                    <a:lnTo>
                      <a:pt x="436" y="299"/>
                    </a:lnTo>
                    <a:lnTo>
                      <a:pt x="450" y="299"/>
                    </a:lnTo>
                    <a:cubicBezTo>
                      <a:pt x="462" y="285"/>
                      <a:pt x="450" y="272"/>
                      <a:pt x="450" y="272"/>
                    </a:cubicBezTo>
                    <a:lnTo>
                      <a:pt x="259" y="108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9" name="Freeform 227"/>
              <p:cNvSpPr>
                <a:spLocks noChangeArrowheads="1"/>
              </p:cNvSpPr>
              <p:nvPr/>
            </p:nvSpPr>
            <p:spPr bwMode="auto">
              <a:xfrm>
                <a:off x="6759368" y="11390700"/>
                <a:ext cx="54349" cy="50180"/>
              </a:xfrm>
              <a:custGeom>
                <a:avLst/>
                <a:gdLst>
                  <a:gd name="T0" fmla="*/ 27 w 56"/>
                  <a:gd name="T1" fmla="*/ 0 h 55"/>
                  <a:gd name="T2" fmla="*/ 27 w 56"/>
                  <a:gd name="T3" fmla="*/ 0 h 55"/>
                  <a:gd name="T4" fmla="*/ 14 w 56"/>
                  <a:gd name="T5" fmla="*/ 14 h 55"/>
                  <a:gd name="T6" fmla="*/ 14 w 56"/>
                  <a:gd name="T7" fmla="*/ 41 h 55"/>
                  <a:gd name="T8" fmla="*/ 41 w 56"/>
                  <a:gd name="T9" fmla="*/ 41 h 55"/>
                  <a:gd name="T10" fmla="*/ 41 w 56"/>
                  <a:gd name="T11" fmla="*/ 0 h 55"/>
                  <a:gd name="T12" fmla="*/ 27 w 56"/>
                  <a:gd name="T13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" h="55">
                    <a:moveTo>
                      <a:pt x="27" y="0"/>
                    </a:moveTo>
                    <a:lnTo>
                      <a:pt x="27" y="0"/>
                    </a:lnTo>
                    <a:cubicBezTo>
                      <a:pt x="27" y="0"/>
                      <a:pt x="14" y="0"/>
                      <a:pt x="14" y="14"/>
                    </a:cubicBezTo>
                    <a:cubicBezTo>
                      <a:pt x="0" y="14"/>
                      <a:pt x="14" y="27"/>
                      <a:pt x="14" y="41"/>
                    </a:cubicBezTo>
                    <a:cubicBezTo>
                      <a:pt x="27" y="54"/>
                      <a:pt x="41" y="41"/>
                      <a:pt x="41" y="41"/>
                    </a:cubicBezTo>
                    <a:cubicBezTo>
                      <a:pt x="55" y="27"/>
                      <a:pt x="55" y="14"/>
                      <a:pt x="41" y="0"/>
                    </a:cubicBezTo>
                    <a:cubicBezTo>
                      <a:pt x="41" y="0"/>
                      <a:pt x="41" y="0"/>
                      <a:pt x="27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Freeform 228"/>
              <p:cNvSpPr>
                <a:spLocks noChangeArrowheads="1"/>
              </p:cNvSpPr>
              <p:nvPr/>
            </p:nvSpPr>
            <p:spPr bwMode="auto">
              <a:xfrm>
                <a:off x="6901508" y="11453424"/>
                <a:ext cx="4181" cy="4184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5" name="Group 77"/>
            <p:cNvGrpSpPr/>
            <p:nvPr/>
          </p:nvGrpSpPr>
          <p:grpSpPr>
            <a:xfrm>
              <a:off x="2938153" y="5470202"/>
              <a:ext cx="422725" cy="378475"/>
              <a:chOff x="13222514" y="10847085"/>
              <a:chExt cx="635447" cy="568706"/>
            </a:xfrm>
            <a:solidFill>
              <a:srgbClr val="FFFFFF"/>
            </a:solidFill>
          </p:grpSpPr>
          <p:sp>
            <p:nvSpPr>
              <p:cNvPr id="59" name="Freeform 245"/>
              <p:cNvSpPr>
                <a:spLocks noChangeArrowheads="1"/>
              </p:cNvSpPr>
              <p:nvPr/>
            </p:nvSpPr>
            <p:spPr bwMode="auto">
              <a:xfrm>
                <a:off x="13276865" y="11323795"/>
                <a:ext cx="41805" cy="41816"/>
              </a:xfrm>
              <a:custGeom>
                <a:avLst/>
                <a:gdLst>
                  <a:gd name="T0" fmla="*/ 14 w 42"/>
                  <a:gd name="T1" fmla="*/ 42 h 43"/>
                  <a:gd name="T2" fmla="*/ 14 w 42"/>
                  <a:gd name="T3" fmla="*/ 42 h 43"/>
                  <a:gd name="T4" fmla="*/ 41 w 42"/>
                  <a:gd name="T5" fmla="*/ 28 h 43"/>
                  <a:gd name="T6" fmla="*/ 14 w 42"/>
                  <a:gd name="T7" fmla="*/ 0 h 43"/>
                  <a:gd name="T8" fmla="*/ 0 w 42"/>
                  <a:gd name="T9" fmla="*/ 28 h 43"/>
                  <a:gd name="T10" fmla="*/ 14 w 42"/>
                  <a:gd name="T11" fmla="*/ 4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2" h="43">
                    <a:moveTo>
                      <a:pt x="14" y="42"/>
                    </a:moveTo>
                    <a:lnTo>
                      <a:pt x="14" y="42"/>
                    </a:lnTo>
                    <a:cubicBezTo>
                      <a:pt x="28" y="42"/>
                      <a:pt x="41" y="42"/>
                      <a:pt x="41" y="28"/>
                    </a:cubicBezTo>
                    <a:cubicBezTo>
                      <a:pt x="41" y="15"/>
                      <a:pt x="28" y="0"/>
                      <a:pt x="14" y="0"/>
                    </a:cubicBezTo>
                    <a:cubicBezTo>
                      <a:pt x="14" y="0"/>
                      <a:pt x="0" y="15"/>
                      <a:pt x="0" y="28"/>
                    </a:cubicBezTo>
                    <a:cubicBezTo>
                      <a:pt x="0" y="42"/>
                      <a:pt x="14" y="42"/>
                      <a:pt x="14" y="42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Freeform 246"/>
              <p:cNvSpPr>
                <a:spLocks noChangeArrowheads="1"/>
              </p:cNvSpPr>
              <p:nvPr/>
            </p:nvSpPr>
            <p:spPr bwMode="auto">
              <a:xfrm>
                <a:off x="13222514" y="11068713"/>
                <a:ext cx="167223" cy="347078"/>
              </a:xfrm>
              <a:custGeom>
                <a:avLst/>
                <a:gdLst>
                  <a:gd name="T0" fmla="*/ 0 w 177"/>
                  <a:gd name="T1" fmla="*/ 367 h 368"/>
                  <a:gd name="T2" fmla="*/ 0 w 177"/>
                  <a:gd name="T3" fmla="*/ 367 h 368"/>
                  <a:gd name="T4" fmla="*/ 176 w 177"/>
                  <a:gd name="T5" fmla="*/ 367 h 368"/>
                  <a:gd name="T6" fmla="*/ 176 w 177"/>
                  <a:gd name="T7" fmla="*/ 0 h 368"/>
                  <a:gd name="T8" fmla="*/ 0 w 177"/>
                  <a:gd name="T9" fmla="*/ 0 h 368"/>
                  <a:gd name="T10" fmla="*/ 0 w 177"/>
                  <a:gd name="T11" fmla="*/ 367 h 368"/>
                  <a:gd name="T12" fmla="*/ 95 w 177"/>
                  <a:gd name="T13" fmla="*/ 26 h 368"/>
                  <a:gd name="T14" fmla="*/ 95 w 177"/>
                  <a:gd name="T15" fmla="*/ 26 h 368"/>
                  <a:gd name="T16" fmla="*/ 122 w 177"/>
                  <a:gd name="T17" fmla="*/ 26 h 368"/>
                  <a:gd name="T18" fmla="*/ 122 w 177"/>
                  <a:gd name="T19" fmla="*/ 231 h 368"/>
                  <a:gd name="T20" fmla="*/ 95 w 177"/>
                  <a:gd name="T21" fmla="*/ 231 h 368"/>
                  <a:gd name="T22" fmla="*/ 95 w 177"/>
                  <a:gd name="T23" fmla="*/ 26 h 368"/>
                  <a:gd name="T24" fmla="*/ 68 w 177"/>
                  <a:gd name="T25" fmla="*/ 245 h 368"/>
                  <a:gd name="T26" fmla="*/ 68 w 177"/>
                  <a:gd name="T27" fmla="*/ 245 h 368"/>
                  <a:gd name="T28" fmla="*/ 122 w 177"/>
                  <a:gd name="T29" fmla="*/ 299 h 368"/>
                  <a:gd name="T30" fmla="*/ 68 w 177"/>
                  <a:gd name="T31" fmla="*/ 340 h 368"/>
                  <a:gd name="T32" fmla="*/ 27 w 177"/>
                  <a:gd name="T33" fmla="*/ 299 h 368"/>
                  <a:gd name="T34" fmla="*/ 68 w 177"/>
                  <a:gd name="T35" fmla="*/ 245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7" h="368">
                    <a:moveTo>
                      <a:pt x="0" y="367"/>
                    </a:moveTo>
                    <a:lnTo>
                      <a:pt x="0" y="367"/>
                    </a:lnTo>
                    <a:cubicBezTo>
                      <a:pt x="176" y="367"/>
                      <a:pt x="176" y="367"/>
                      <a:pt x="176" y="367"/>
                    </a:cubicBezTo>
                    <a:cubicBezTo>
                      <a:pt x="176" y="0"/>
                      <a:pt x="176" y="0"/>
                      <a:pt x="17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67"/>
                    </a:lnTo>
                    <a:close/>
                    <a:moveTo>
                      <a:pt x="95" y="26"/>
                    </a:moveTo>
                    <a:lnTo>
                      <a:pt x="95" y="26"/>
                    </a:lnTo>
                    <a:cubicBezTo>
                      <a:pt x="122" y="26"/>
                      <a:pt x="122" y="26"/>
                      <a:pt x="122" y="26"/>
                    </a:cubicBezTo>
                    <a:cubicBezTo>
                      <a:pt x="122" y="231"/>
                      <a:pt x="122" y="231"/>
                      <a:pt x="122" y="231"/>
                    </a:cubicBezTo>
                    <a:cubicBezTo>
                      <a:pt x="95" y="231"/>
                      <a:pt x="95" y="231"/>
                      <a:pt x="95" y="231"/>
                    </a:cubicBezTo>
                    <a:lnTo>
                      <a:pt x="95" y="26"/>
                    </a:lnTo>
                    <a:close/>
                    <a:moveTo>
                      <a:pt x="68" y="245"/>
                    </a:moveTo>
                    <a:lnTo>
                      <a:pt x="68" y="245"/>
                    </a:lnTo>
                    <a:cubicBezTo>
                      <a:pt x="95" y="245"/>
                      <a:pt x="122" y="271"/>
                      <a:pt x="122" y="299"/>
                    </a:cubicBezTo>
                    <a:cubicBezTo>
                      <a:pt x="122" y="327"/>
                      <a:pt x="95" y="340"/>
                      <a:pt x="68" y="340"/>
                    </a:cubicBezTo>
                    <a:cubicBezTo>
                      <a:pt x="41" y="340"/>
                      <a:pt x="27" y="327"/>
                      <a:pt x="27" y="299"/>
                    </a:cubicBezTo>
                    <a:cubicBezTo>
                      <a:pt x="27" y="271"/>
                      <a:pt x="41" y="245"/>
                      <a:pt x="68" y="24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Freeform 247"/>
              <p:cNvSpPr>
                <a:spLocks noChangeArrowheads="1"/>
              </p:cNvSpPr>
              <p:nvPr/>
            </p:nvSpPr>
            <p:spPr bwMode="auto">
              <a:xfrm>
                <a:off x="13419004" y="10847085"/>
                <a:ext cx="438957" cy="518524"/>
              </a:xfrm>
              <a:custGeom>
                <a:avLst/>
                <a:gdLst>
                  <a:gd name="T0" fmla="*/ 436 w 464"/>
                  <a:gd name="T1" fmla="*/ 300 h 546"/>
                  <a:gd name="T2" fmla="*/ 436 w 464"/>
                  <a:gd name="T3" fmla="*/ 300 h 546"/>
                  <a:gd name="T4" fmla="*/ 463 w 464"/>
                  <a:gd name="T5" fmla="*/ 258 h 546"/>
                  <a:gd name="T6" fmla="*/ 408 w 464"/>
                  <a:gd name="T7" fmla="*/ 218 h 546"/>
                  <a:gd name="T8" fmla="*/ 314 w 464"/>
                  <a:gd name="T9" fmla="*/ 218 h 546"/>
                  <a:gd name="T10" fmla="*/ 394 w 464"/>
                  <a:gd name="T11" fmla="*/ 95 h 546"/>
                  <a:gd name="T12" fmla="*/ 382 w 464"/>
                  <a:gd name="T13" fmla="*/ 27 h 546"/>
                  <a:gd name="T14" fmla="*/ 326 w 464"/>
                  <a:gd name="T15" fmla="*/ 0 h 546"/>
                  <a:gd name="T16" fmla="*/ 326 w 464"/>
                  <a:gd name="T17" fmla="*/ 0 h 546"/>
                  <a:gd name="T18" fmla="*/ 326 w 464"/>
                  <a:gd name="T19" fmla="*/ 0 h 546"/>
                  <a:gd name="T20" fmla="*/ 218 w 464"/>
                  <a:gd name="T21" fmla="*/ 123 h 546"/>
                  <a:gd name="T22" fmla="*/ 41 w 464"/>
                  <a:gd name="T23" fmla="*/ 272 h 546"/>
                  <a:gd name="T24" fmla="*/ 0 w 464"/>
                  <a:gd name="T25" fmla="*/ 272 h 546"/>
                  <a:gd name="T26" fmla="*/ 0 w 464"/>
                  <a:gd name="T27" fmla="*/ 518 h 546"/>
                  <a:gd name="T28" fmla="*/ 0 w 464"/>
                  <a:gd name="T29" fmla="*/ 518 h 546"/>
                  <a:gd name="T30" fmla="*/ 14 w 464"/>
                  <a:gd name="T31" fmla="*/ 518 h 546"/>
                  <a:gd name="T32" fmla="*/ 81 w 464"/>
                  <a:gd name="T33" fmla="*/ 531 h 546"/>
                  <a:gd name="T34" fmla="*/ 135 w 464"/>
                  <a:gd name="T35" fmla="*/ 545 h 546"/>
                  <a:gd name="T36" fmla="*/ 231 w 464"/>
                  <a:gd name="T37" fmla="*/ 531 h 546"/>
                  <a:gd name="T38" fmla="*/ 368 w 464"/>
                  <a:gd name="T39" fmla="*/ 531 h 546"/>
                  <a:gd name="T40" fmla="*/ 408 w 464"/>
                  <a:gd name="T41" fmla="*/ 491 h 546"/>
                  <a:gd name="T42" fmla="*/ 394 w 464"/>
                  <a:gd name="T43" fmla="*/ 449 h 546"/>
                  <a:gd name="T44" fmla="*/ 394 w 464"/>
                  <a:gd name="T45" fmla="*/ 449 h 546"/>
                  <a:gd name="T46" fmla="*/ 449 w 464"/>
                  <a:gd name="T47" fmla="*/ 409 h 546"/>
                  <a:gd name="T48" fmla="*/ 422 w 464"/>
                  <a:gd name="T49" fmla="*/ 382 h 546"/>
                  <a:gd name="T50" fmla="*/ 463 w 464"/>
                  <a:gd name="T51" fmla="*/ 328 h 546"/>
                  <a:gd name="T52" fmla="*/ 436 w 464"/>
                  <a:gd name="T53" fmla="*/ 300 h 546"/>
                  <a:gd name="T54" fmla="*/ 204 w 464"/>
                  <a:gd name="T55" fmla="*/ 204 h 546"/>
                  <a:gd name="T56" fmla="*/ 204 w 464"/>
                  <a:gd name="T57" fmla="*/ 204 h 546"/>
                  <a:gd name="T58" fmla="*/ 123 w 464"/>
                  <a:gd name="T59" fmla="*/ 300 h 546"/>
                  <a:gd name="T60" fmla="*/ 109 w 464"/>
                  <a:gd name="T61" fmla="*/ 314 h 546"/>
                  <a:gd name="T62" fmla="*/ 109 w 464"/>
                  <a:gd name="T63" fmla="*/ 314 h 546"/>
                  <a:gd name="T64" fmla="*/ 95 w 464"/>
                  <a:gd name="T65" fmla="*/ 286 h 546"/>
                  <a:gd name="T66" fmla="*/ 191 w 464"/>
                  <a:gd name="T67" fmla="*/ 191 h 546"/>
                  <a:gd name="T68" fmla="*/ 218 w 464"/>
                  <a:gd name="T69" fmla="*/ 191 h 546"/>
                  <a:gd name="T70" fmla="*/ 204 w 464"/>
                  <a:gd name="T71" fmla="*/ 204 h 5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64" h="546">
                    <a:moveTo>
                      <a:pt x="436" y="300"/>
                    </a:moveTo>
                    <a:lnTo>
                      <a:pt x="436" y="300"/>
                    </a:lnTo>
                    <a:cubicBezTo>
                      <a:pt x="449" y="286"/>
                      <a:pt x="463" y="272"/>
                      <a:pt x="463" y="258"/>
                    </a:cubicBezTo>
                    <a:cubicBezTo>
                      <a:pt x="463" y="232"/>
                      <a:pt x="436" y="218"/>
                      <a:pt x="408" y="218"/>
                    </a:cubicBezTo>
                    <a:cubicBezTo>
                      <a:pt x="314" y="218"/>
                      <a:pt x="314" y="218"/>
                      <a:pt x="314" y="218"/>
                    </a:cubicBezTo>
                    <a:cubicBezTo>
                      <a:pt x="340" y="191"/>
                      <a:pt x="382" y="150"/>
                      <a:pt x="394" y="95"/>
                    </a:cubicBezTo>
                    <a:cubicBezTo>
                      <a:pt x="394" y="69"/>
                      <a:pt x="394" y="41"/>
                      <a:pt x="382" y="27"/>
                    </a:cubicBezTo>
                    <a:cubicBezTo>
                      <a:pt x="368" y="0"/>
                      <a:pt x="326" y="0"/>
                      <a:pt x="326" y="0"/>
                    </a:cubicBezTo>
                    <a:lnTo>
                      <a:pt x="326" y="0"/>
                    </a:lnTo>
                    <a:lnTo>
                      <a:pt x="326" y="0"/>
                    </a:lnTo>
                    <a:cubicBezTo>
                      <a:pt x="326" y="27"/>
                      <a:pt x="314" y="69"/>
                      <a:pt x="218" y="123"/>
                    </a:cubicBezTo>
                    <a:cubicBezTo>
                      <a:pt x="123" y="191"/>
                      <a:pt x="55" y="258"/>
                      <a:pt x="41" y="272"/>
                    </a:cubicBezTo>
                    <a:cubicBezTo>
                      <a:pt x="0" y="272"/>
                      <a:pt x="0" y="272"/>
                      <a:pt x="0" y="272"/>
                    </a:cubicBezTo>
                    <a:cubicBezTo>
                      <a:pt x="0" y="518"/>
                      <a:pt x="0" y="518"/>
                      <a:pt x="0" y="518"/>
                    </a:cubicBezTo>
                    <a:lnTo>
                      <a:pt x="0" y="518"/>
                    </a:lnTo>
                    <a:cubicBezTo>
                      <a:pt x="0" y="518"/>
                      <a:pt x="0" y="518"/>
                      <a:pt x="14" y="518"/>
                    </a:cubicBezTo>
                    <a:cubicBezTo>
                      <a:pt x="27" y="518"/>
                      <a:pt x="55" y="518"/>
                      <a:pt x="81" y="531"/>
                    </a:cubicBezTo>
                    <a:cubicBezTo>
                      <a:pt x="95" y="531"/>
                      <a:pt x="109" y="545"/>
                      <a:pt x="135" y="545"/>
                    </a:cubicBezTo>
                    <a:cubicBezTo>
                      <a:pt x="177" y="545"/>
                      <a:pt x="231" y="531"/>
                      <a:pt x="231" y="531"/>
                    </a:cubicBezTo>
                    <a:cubicBezTo>
                      <a:pt x="368" y="531"/>
                      <a:pt x="368" y="531"/>
                      <a:pt x="368" y="531"/>
                    </a:cubicBezTo>
                    <a:cubicBezTo>
                      <a:pt x="394" y="531"/>
                      <a:pt x="408" y="518"/>
                      <a:pt x="408" y="491"/>
                    </a:cubicBezTo>
                    <a:cubicBezTo>
                      <a:pt x="408" y="477"/>
                      <a:pt x="408" y="463"/>
                      <a:pt x="394" y="449"/>
                    </a:cubicBezTo>
                    <a:lnTo>
                      <a:pt x="394" y="449"/>
                    </a:lnTo>
                    <a:cubicBezTo>
                      <a:pt x="422" y="449"/>
                      <a:pt x="449" y="436"/>
                      <a:pt x="449" y="409"/>
                    </a:cubicBezTo>
                    <a:cubicBezTo>
                      <a:pt x="449" y="395"/>
                      <a:pt x="436" y="382"/>
                      <a:pt x="422" y="382"/>
                    </a:cubicBezTo>
                    <a:cubicBezTo>
                      <a:pt x="449" y="368"/>
                      <a:pt x="463" y="354"/>
                      <a:pt x="463" y="328"/>
                    </a:cubicBezTo>
                    <a:cubicBezTo>
                      <a:pt x="463" y="314"/>
                      <a:pt x="449" y="300"/>
                      <a:pt x="436" y="300"/>
                    </a:cubicBezTo>
                    <a:close/>
                    <a:moveTo>
                      <a:pt x="204" y="204"/>
                    </a:moveTo>
                    <a:lnTo>
                      <a:pt x="204" y="204"/>
                    </a:lnTo>
                    <a:cubicBezTo>
                      <a:pt x="163" y="246"/>
                      <a:pt x="123" y="300"/>
                      <a:pt x="123" y="300"/>
                    </a:cubicBezTo>
                    <a:cubicBezTo>
                      <a:pt x="123" y="314"/>
                      <a:pt x="123" y="314"/>
                      <a:pt x="109" y="314"/>
                    </a:cubicBezTo>
                    <a:lnTo>
                      <a:pt x="109" y="314"/>
                    </a:lnTo>
                    <a:cubicBezTo>
                      <a:pt x="95" y="300"/>
                      <a:pt x="95" y="300"/>
                      <a:pt x="95" y="286"/>
                    </a:cubicBezTo>
                    <a:cubicBezTo>
                      <a:pt x="95" y="286"/>
                      <a:pt x="135" y="218"/>
                      <a:pt x="191" y="191"/>
                    </a:cubicBezTo>
                    <a:cubicBezTo>
                      <a:pt x="204" y="177"/>
                      <a:pt x="218" y="191"/>
                      <a:pt x="218" y="191"/>
                    </a:cubicBezTo>
                    <a:cubicBezTo>
                      <a:pt x="218" y="204"/>
                      <a:pt x="218" y="204"/>
                      <a:pt x="204" y="204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Group 81"/>
            <p:cNvGrpSpPr/>
            <p:nvPr/>
          </p:nvGrpSpPr>
          <p:grpSpPr>
            <a:xfrm>
              <a:off x="5374940" y="5452115"/>
              <a:ext cx="411598" cy="414649"/>
              <a:chOff x="15935700" y="10788544"/>
              <a:chExt cx="618722" cy="623064"/>
            </a:xfrm>
            <a:solidFill>
              <a:srgbClr val="FFFFFF"/>
            </a:solidFill>
          </p:grpSpPr>
          <p:sp>
            <p:nvSpPr>
              <p:cNvPr id="57" name="Freeform 584"/>
              <p:cNvSpPr>
                <a:spLocks noChangeArrowheads="1"/>
              </p:cNvSpPr>
              <p:nvPr/>
            </p:nvSpPr>
            <p:spPr bwMode="auto">
              <a:xfrm>
                <a:off x="15935700" y="10788544"/>
                <a:ext cx="618722" cy="623064"/>
              </a:xfrm>
              <a:custGeom>
                <a:avLst/>
                <a:gdLst>
                  <a:gd name="T0" fmla="*/ 641 w 654"/>
                  <a:gd name="T1" fmla="*/ 258 h 655"/>
                  <a:gd name="T2" fmla="*/ 341 w 654"/>
                  <a:gd name="T3" fmla="*/ 13 h 655"/>
                  <a:gd name="T4" fmla="*/ 68 w 654"/>
                  <a:gd name="T5" fmla="*/ 258 h 655"/>
                  <a:gd name="T6" fmla="*/ 0 w 654"/>
                  <a:gd name="T7" fmla="*/ 258 h 655"/>
                  <a:gd name="T8" fmla="*/ 0 w 654"/>
                  <a:gd name="T9" fmla="*/ 654 h 655"/>
                  <a:gd name="T10" fmla="*/ 653 w 654"/>
                  <a:gd name="T11" fmla="*/ 654 h 655"/>
                  <a:gd name="T12" fmla="*/ 641 w 654"/>
                  <a:gd name="T13" fmla="*/ 258 h 655"/>
                  <a:gd name="T14" fmla="*/ 327 w 654"/>
                  <a:gd name="T15" fmla="*/ 55 h 655"/>
                  <a:gd name="T16" fmla="*/ 122 w 654"/>
                  <a:gd name="T17" fmla="*/ 258 h 655"/>
                  <a:gd name="T18" fmla="*/ 96 w 654"/>
                  <a:gd name="T19" fmla="*/ 558 h 655"/>
                  <a:gd name="T20" fmla="*/ 54 w 654"/>
                  <a:gd name="T21" fmla="*/ 545 h 655"/>
                  <a:gd name="T22" fmla="*/ 110 w 654"/>
                  <a:gd name="T23" fmla="*/ 545 h 655"/>
                  <a:gd name="T24" fmla="*/ 110 w 654"/>
                  <a:gd name="T25" fmla="*/ 477 h 655"/>
                  <a:gd name="T26" fmla="*/ 122 w 654"/>
                  <a:gd name="T27" fmla="*/ 381 h 655"/>
                  <a:gd name="T28" fmla="*/ 150 w 654"/>
                  <a:gd name="T29" fmla="*/ 409 h 655"/>
                  <a:gd name="T30" fmla="*/ 82 w 654"/>
                  <a:gd name="T31" fmla="*/ 422 h 655"/>
                  <a:gd name="T32" fmla="*/ 164 w 654"/>
                  <a:gd name="T33" fmla="*/ 504 h 655"/>
                  <a:gd name="T34" fmla="*/ 313 w 654"/>
                  <a:gd name="T35" fmla="*/ 558 h 655"/>
                  <a:gd name="T36" fmla="*/ 287 w 654"/>
                  <a:gd name="T37" fmla="*/ 504 h 655"/>
                  <a:gd name="T38" fmla="*/ 205 w 654"/>
                  <a:gd name="T39" fmla="*/ 558 h 655"/>
                  <a:gd name="T40" fmla="*/ 245 w 654"/>
                  <a:gd name="T41" fmla="*/ 381 h 655"/>
                  <a:gd name="T42" fmla="*/ 341 w 654"/>
                  <a:gd name="T43" fmla="*/ 558 h 655"/>
                  <a:gd name="T44" fmla="*/ 462 w 654"/>
                  <a:gd name="T45" fmla="*/ 558 h 655"/>
                  <a:gd name="T46" fmla="*/ 368 w 654"/>
                  <a:gd name="T47" fmla="*/ 558 h 655"/>
                  <a:gd name="T48" fmla="*/ 382 w 654"/>
                  <a:gd name="T49" fmla="*/ 381 h 655"/>
                  <a:gd name="T50" fmla="*/ 462 w 654"/>
                  <a:gd name="T51" fmla="*/ 545 h 655"/>
                  <a:gd name="T52" fmla="*/ 585 w 654"/>
                  <a:gd name="T53" fmla="*/ 558 h 655"/>
                  <a:gd name="T54" fmla="*/ 490 w 654"/>
                  <a:gd name="T55" fmla="*/ 558 h 655"/>
                  <a:gd name="T56" fmla="*/ 585 w 654"/>
                  <a:gd name="T57" fmla="*/ 381 h 655"/>
                  <a:gd name="T58" fmla="*/ 518 w 654"/>
                  <a:gd name="T59" fmla="*/ 395 h 655"/>
                  <a:gd name="T60" fmla="*/ 585 w 654"/>
                  <a:gd name="T61" fmla="*/ 449 h 655"/>
                  <a:gd name="T62" fmla="*/ 518 w 654"/>
                  <a:gd name="T63" fmla="*/ 477 h 655"/>
                  <a:gd name="T64" fmla="*/ 585 w 654"/>
                  <a:gd name="T65" fmla="*/ 545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54" h="655">
                    <a:moveTo>
                      <a:pt x="641" y="258"/>
                    </a:moveTo>
                    <a:lnTo>
                      <a:pt x="641" y="258"/>
                    </a:lnTo>
                    <a:cubicBezTo>
                      <a:pt x="585" y="258"/>
                      <a:pt x="585" y="258"/>
                      <a:pt x="585" y="258"/>
                    </a:cubicBezTo>
                    <a:cubicBezTo>
                      <a:pt x="341" y="13"/>
                      <a:pt x="341" y="13"/>
                      <a:pt x="341" y="13"/>
                    </a:cubicBezTo>
                    <a:cubicBezTo>
                      <a:pt x="327" y="0"/>
                      <a:pt x="313" y="0"/>
                      <a:pt x="313" y="13"/>
                    </a:cubicBezTo>
                    <a:cubicBezTo>
                      <a:pt x="68" y="258"/>
                      <a:pt x="68" y="258"/>
                      <a:pt x="68" y="258"/>
                    </a:cubicBezTo>
                    <a:cubicBezTo>
                      <a:pt x="0" y="258"/>
                      <a:pt x="0" y="258"/>
                      <a:pt x="0" y="258"/>
                    </a:cubicBezTo>
                    <a:lnTo>
                      <a:pt x="0" y="258"/>
                    </a:lnTo>
                    <a:cubicBezTo>
                      <a:pt x="0" y="654"/>
                      <a:pt x="0" y="654"/>
                      <a:pt x="0" y="654"/>
                    </a:cubicBezTo>
                    <a:lnTo>
                      <a:pt x="0" y="654"/>
                    </a:lnTo>
                    <a:cubicBezTo>
                      <a:pt x="641" y="654"/>
                      <a:pt x="641" y="654"/>
                      <a:pt x="641" y="654"/>
                    </a:cubicBezTo>
                    <a:cubicBezTo>
                      <a:pt x="653" y="654"/>
                      <a:pt x="653" y="654"/>
                      <a:pt x="653" y="654"/>
                    </a:cubicBezTo>
                    <a:cubicBezTo>
                      <a:pt x="653" y="258"/>
                      <a:pt x="653" y="258"/>
                      <a:pt x="653" y="258"/>
                    </a:cubicBezTo>
                    <a:cubicBezTo>
                      <a:pt x="653" y="258"/>
                      <a:pt x="653" y="258"/>
                      <a:pt x="641" y="258"/>
                    </a:cubicBezTo>
                    <a:close/>
                    <a:moveTo>
                      <a:pt x="327" y="55"/>
                    </a:moveTo>
                    <a:lnTo>
                      <a:pt x="327" y="55"/>
                    </a:lnTo>
                    <a:cubicBezTo>
                      <a:pt x="518" y="258"/>
                      <a:pt x="518" y="258"/>
                      <a:pt x="518" y="258"/>
                    </a:cubicBezTo>
                    <a:cubicBezTo>
                      <a:pt x="122" y="258"/>
                      <a:pt x="122" y="258"/>
                      <a:pt x="122" y="258"/>
                    </a:cubicBezTo>
                    <a:lnTo>
                      <a:pt x="327" y="55"/>
                    </a:lnTo>
                    <a:close/>
                    <a:moveTo>
                      <a:pt x="96" y="558"/>
                    </a:moveTo>
                    <a:lnTo>
                      <a:pt x="96" y="558"/>
                    </a:lnTo>
                    <a:cubicBezTo>
                      <a:pt x="82" y="558"/>
                      <a:pt x="68" y="558"/>
                      <a:pt x="54" y="545"/>
                    </a:cubicBezTo>
                    <a:cubicBezTo>
                      <a:pt x="68" y="531"/>
                      <a:pt x="68" y="531"/>
                      <a:pt x="68" y="531"/>
                    </a:cubicBezTo>
                    <a:cubicBezTo>
                      <a:pt x="68" y="531"/>
                      <a:pt x="82" y="545"/>
                      <a:pt x="110" y="545"/>
                    </a:cubicBezTo>
                    <a:cubicBezTo>
                      <a:pt x="122" y="545"/>
                      <a:pt x="136" y="531"/>
                      <a:pt x="136" y="517"/>
                    </a:cubicBezTo>
                    <a:cubicBezTo>
                      <a:pt x="136" y="489"/>
                      <a:pt x="136" y="489"/>
                      <a:pt x="110" y="477"/>
                    </a:cubicBezTo>
                    <a:cubicBezTo>
                      <a:pt x="82" y="463"/>
                      <a:pt x="54" y="449"/>
                      <a:pt x="54" y="422"/>
                    </a:cubicBezTo>
                    <a:cubicBezTo>
                      <a:pt x="54" y="395"/>
                      <a:pt x="82" y="381"/>
                      <a:pt x="122" y="381"/>
                    </a:cubicBezTo>
                    <a:cubicBezTo>
                      <a:pt x="136" y="381"/>
                      <a:pt x="150" y="381"/>
                      <a:pt x="164" y="381"/>
                    </a:cubicBezTo>
                    <a:cubicBezTo>
                      <a:pt x="150" y="409"/>
                      <a:pt x="150" y="409"/>
                      <a:pt x="150" y="409"/>
                    </a:cubicBezTo>
                    <a:cubicBezTo>
                      <a:pt x="150" y="395"/>
                      <a:pt x="136" y="395"/>
                      <a:pt x="122" y="395"/>
                    </a:cubicBezTo>
                    <a:cubicBezTo>
                      <a:pt x="96" y="395"/>
                      <a:pt x="82" y="409"/>
                      <a:pt x="82" y="422"/>
                    </a:cubicBezTo>
                    <a:cubicBezTo>
                      <a:pt x="82" y="435"/>
                      <a:pt x="96" y="449"/>
                      <a:pt x="122" y="449"/>
                    </a:cubicBezTo>
                    <a:cubicBezTo>
                      <a:pt x="150" y="463"/>
                      <a:pt x="164" y="477"/>
                      <a:pt x="164" y="504"/>
                    </a:cubicBezTo>
                    <a:cubicBezTo>
                      <a:pt x="164" y="531"/>
                      <a:pt x="150" y="558"/>
                      <a:pt x="96" y="558"/>
                    </a:cubicBezTo>
                    <a:close/>
                    <a:moveTo>
                      <a:pt x="313" y="558"/>
                    </a:moveTo>
                    <a:lnTo>
                      <a:pt x="313" y="558"/>
                    </a:lnTo>
                    <a:cubicBezTo>
                      <a:pt x="287" y="504"/>
                      <a:pt x="287" y="504"/>
                      <a:pt x="287" y="504"/>
                    </a:cubicBezTo>
                    <a:cubicBezTo>
                      <a:pt x="231" y="504"/>
                      <a:pt x="231" y="504"/>
                      <a:pt x="231" y="504"/>
                    </a:cubicBezTo>
                    <a:cubicBezTo>
                      <a:pt x="205" y="558"/>
                      <a:pt x="205" y="558"/>
                      <a:pt x="205" y="558"/>
                    </a:cubicBezTo>
                    <a:cubicBezTo>
                      <a:pt x="177" y="558"/>
                      <a:pt x="177" y="558"/>
                      <a:pt x="177" y="558"/>
                    </a:cubicBezTo>
                    <a:cubicBezTo>
                      <a:pt x="245" y="381"/>
                      <a:pt x="245" y="381"/>
                      <a:pt x="245" y="381"/>
                    </a:cubicBezTo>
                    <a:cubicBezTo>
                      <a:pt x="273" y="381"/>
                      <a:pt x="273" y="381"/>
                      <a:pt x="273" y="381"/>
                    </a:cubicBezTo>
                    <a:cubicBezTo>
                      <a:pt x="341" y="558"/>
                      <a:pt x="341" y="558"/>
                      <a:pt x="341" y="558"/>
                    </a:cubicBezTo>
                    <a:lnTo>
                      <a:pt x="313" y="558"/>
                    </a:lnTo>
                    <a:close/>
                    <a:moveTo>
                      <a:pt x="462" y="558"/>
                    </a:moveTo>
                    <a:lnTo>
                      <a:pt x="462" y="558"/>
                    </a:lnTo>
                    <a:cubicBezTo>
                      <a:pt x="368" y="558"/>
                      <a:pt x="368" y="558"/>
                      <a:pt x="368" y="558"/>
                    </a:cubicBezTo>
                    <a:cubicBezTo>
                      <a:pt x="368" y="381"/>
                      <a:pt x="368" y="381"/>
                      <a:pt x="368" y="381"/>
                    </a:cubicBezTo>
                    <a:cubicBezTo>
                      <a:pt x="382" y="381"/>
                      <a:pt x="382" y="381"/>
                      <a:pt x="382" y="381"/>
                    </a:cubicBezTo>
                    <a:cubicBezTo>
                      <a:pt x="382" y="545"/>
                      <a:pt x="382" y="545"/>
                      <a:pt x="382" y="545"/>
                    </a:cubicBezTo>
                    <a:cubicBezTo>
                      <a:pt x="462" y="545"/>
                      <a:pt x="462" y="545"/>
                      <a:pt x="462" y="545"/>
                    </a:cubicBezTo>
                    <a:lnTo>
                      <a:pt x="462" y="558"/>
                    </a:lnTo>
                    <a:close/>
                    <a:moveTo>
                      <a:pt x="585" y="558"/>
                    </a:moveTo>
                    <a:lnTo>
                      <a:pt x="585" y="558"/>
                    </a:lnTo>
                    <a:cubicBezTo>
                      <a:pt x="490" y="558"/>
                      <a:pt x="490" y="558"/>
                      <a:pt x="490" y="558"/>
                    </a:cubicBezTo>
                    <a:cubicBezTo>
                      <a:pt x="490" y="381"/>
                      <a:pt x="490" y="381"/>
                      <a:pt x="490" y="381"/>
                    </a:cubicBezTo>
                    <a:cubicBezTo>
                      <a:pt x="585" y="381"/>
                      <a:pt x="585" y="381"/>
                      <a:pt x="585" y="381"/>
                    </a:cubicBezTo>
                    <a:cubicBezTo>
                      <a:pt x="585" y="395"/>
                      <a:pt x="585" y="395"/>
                      <a:pt x="585" y="395"/>
                    </a:cubicBezTo>
                    <a:cubicBezTo>
                      <a:pt x="518" y="395"/>
                      <a:pt x="518" y="395"/>
                      <a:pt x="518" y="395"/>
                    </a:cubicBezTo>
                    <a:cubicBezTo>
                      <a:pt x="518" y="449"/>
                      <a:pt x="518" y="449"/>
                      <a:pt x="518" y="449"/>
                    </a:cubicBezTo>
                    <a:cubicBezTo>
                      <a:pt x="585" y="449"/>
                      <a:pt x="585" y="449"/>
                      <a:pt x="585" y="449"/>
                    </a:cubicBezTo>
                    <a:cubicBezTo>
                      <a:pt x="585" y="477"/>
                      <a:pt x="585" y="477"/>
                      <a:pt x="585" y="477"/>
                    </a:cubicBezTo>
                    <a:cubicBezTo>
                      <a:pt x="518" y="477"/>
                      <a:pt x="518" y="477"/>
                      <a:pt x="518" y="477"/>
                    </a:cubicBezTo>
                    <a:cubicBezTo>
                      <a:pt x="518" y="545"/>
                      <a:pt x="518" y="545"/>
                      <a:pt x="518" y="545"/>
                    </a:cubicBezTo>
                    <a:cubicBezTo>
                      <a:pt x="585" y="545"/>
                      <a:pt x="585" y="545"/>
                      <a:pt x="585" y="545"/>
                    </a:cubicBezTo>
                    <a:lnTo>
                      <a:pt x="585" y="55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8" name="Freeform 585"/>
              <p:cNvSpPr>
                <a:spLocks noChangeArrowheads="1"/>
              </p:cNvSpPr>
              <p:nvPr/>
            </p:nvSpPr>
            <p:spPr bwMode="auto">
              <a:xfrm>
                <a:off x="16153089" y="11160709"/>
                <a:ext cx="54346" cy="79454"/>
              </a:xfrm>
              <a:custGeom>
                <a:avLst/>
                <a:gdLst>
                  <a:gd name="T0" fmla="*/ 28 w 57"/>
                  <a:gd name="T1" fmla="*/ 0 h 83"/>
                  <a:gd name="T2" fmla="*/ 28 w 57"/>
                  <a:gd name="T3" fmla="*/ 0 h 83"/>
                  <a:gd name="T4" fmla="*/ 28 w 57"/>
                  <a:gd name="T5" fmla="*/ 0 h 83"/>
                  <a:gd name="T6" fmla="*/ 14 w 57"/>
                  <a:gd name="T7" fmla="*/ 40 h 83"/>
                  <a:gd name="T8" fmla="*/ 0 w 57"/>
                  <a:gd name="T9" fmla="*/ 82 h 83"/>
                  <a:gd name="T10" fmla="*/ 56 w 57"/>
                  <a:gd name="T11" fmla="*/ 82 h 83"/>
                  <a:gd name="T12" fmla="*/ 42 w 57"/>
                  <a:gd name="T13" fmla="*/ 40 h 83"/>
                  <a:gd name="T14" fmla="*/ 28 w 57"/>
                  <a:gd name="T15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83">
                    <a:moveTo>
                      <a:pt x="28" y="0"/>
                    </a:moveTo>
                    <a:lnTo>
                      <a:pt x="28" y="0"/>
                    </a:lnTo>
                    <a:lnTo>
                      <a:pt x="28" y="0"/>
                    </a:lnTo>
                    <a:cubicBezTo>
                      <a:pt x="28" y="14"/>
                      <a:pt x="28" y="27"/>
                      <a:pt x="14" y="40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56" y="82"/>
                      <a:pt x="56" y="82"/>
                      <a:pt x="56" y="82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28" y="27"/>
                      <a:pt x="28" y="14"/>
                      <a:pt x="2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lIns="76183" tIns="38092" rIns="76183" bIns="38092" anchor="ctr"/>
              <a:lstStyle/>
              <a:p>
                <a:pPr defTabSz="544195">
                  <a:defRPr/>
                </a:pPr>
                <a:endParaRPr lang="en-US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</p:grpSp>
      <p:pic>
        <p:nvPicPr>
          <p:cNvPr id="45" name="图片 4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94" y="5200074"/>
            <a:ext cx="2578789" cy="7729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 userDrawn="1"/>
        </p:nvCxnSpPr>
        <p:spPr>
          <a:xfrm>
            <a:off x="0" y="638892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75" y="-5200"/>
            <a:ext cx="9628742" cy="622008"/>
          </a:xfrm>
        </p:spPr>
        <p:txBody>
          <a:bodyPr>
            <a:normAutofit/>
          </a:bodyPr>
          <a:lstStyle>
            <a:lvl1pPr>
              <a:defRPr sz="3200">
                <a:latin typeface="Helvetica" panose="020B0500000000000000" pitchFamily="2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方塊 2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9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pic>
        <p:nvPicPr>
          <p:cNvPr id="8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92896"/>
            <a:ext cx="1441256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808" y="104471"/>
            <a:ext cx="1441256" cy="432000"/>
          </a:xfrm>
          <a:prstGeom prst="rect">
            <a:avLst/>
          </a:prstGeom>
        </p:spPr>
      </p:pic>
      <p:sp>
        <p:nvSpPr>
          <p:cNvPr id="8" name="文字方塊 7"/>
          <p:cNvSpPr txBox="1"/>
          <p:nvPr userDrawn="1"/>
        </p:nvSpPr>
        <p:spPr>
          <a:xfrm>
            <a:off x="5292811" y="6599372"/>
            <a:ext cx="16063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65D64D8-5C09-E24E-A1AB-5AD73725F25E}" type="slidenum">
              <a:rPr kumimoji="1" lang="zh-TW" altLang="en-US" sz="800" smtClean="0">
                <a:solidFill>
                  <a:schemeClr val="bg1">
                    <a:lumMod val="65000"/>
                  </a:schemeClr>
                </a:solidFill>
                <a:latin typeface="Helvetica" panose="020B0500000000000000" pitchFamily="2" charset="0"/>
              </a:rPr>
              <a:t>‹#›</a:t>
            </a:fld>
            <a:endParaRPr kumimoji="1" lang="zh-TW" altLang="en-US" sz="800" dirty="0">
              <a:solidFill>
                <a:schemeClr val="bg1">
                  <a:lumMod val="65000"/>
                </a:schemeClr>
              </a:solidFill>
              <a:latin typeface="Helvetica" panose="020B0500000000000000" pitchFamily="2" charset="0"/>
            </a:endParaRPr>
          </a:p>
        </p:txBody>
      </p:sp>
      <p:sp>
        <p:nvSpPr>
          <p:cNvPr id="5" name="文本框 27"/>
          <p:cNvSpPr txBox="1"/>
          <p:nvPr userDrawn="1"/>
        </p:nvSpPr>
        <p:spPr>
          <a:xfrm>
            <a:off x="10513419" y="6568595"/>
            <a:ext cx="1678581" cy="2462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Internal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Use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cs typeface="Adobe Arabic" panose="02040503050201020203" pitchFamily="18" charset="-78"/>
                <a:sym typeface="+mn-lt"/>
              </a:rPr>
              <a:t>Confidential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0AEA4-1445-574E-8082-1DFCCB0FC12F}" type="datetimeFigureOut">
              <a:rPr kumimoji="1" lang="zh-TW" altLang="en-US" smtClean="0"/>
              <a:t>2023/5/17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66D2E-EC88-5049-B4D6-83160D82BB9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ags" Target="../tags/tag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ine 5"/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899" tIns="60950" rIns="121899" bIns="60950" numCol="1" anchor="t" anchorCtr="0" compatLnSpc="1"/>
          <a:lstStyle/>
          <a:p>
            <a:pPr defTabSz="914400"/>
            <a:endParaRPr 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45" name="Line 6"/>
          <p:cNvSpPr>
            <a:spLocks noChangeShapeType="1"/>
          </p:cNvSpPr>
          <p:nvPr/>
        </p:nvSpPr>
        <p:spPr bwMode="auto">
          <a:xfrm>
            <a:off x="748577" y="-874184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899" tIns="60950" rIns="121899" bIns="60950" numCol="1" anchor="t" anchorCtr="0" compatLnSpc="1"/>
          <a:lstStyle/>
          <a:p>
            <a:pPr defTabSz="914400"/>
            <a:endParaRPr 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84589" y="4973578"/>
            <a:ext cx="3474371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Zapf Dingbats"/>
              <a:buChar char="❑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DRI: 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杨清杰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Helvetica" panose="020B0500000000000000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Zapf Dingbats"/>
              <a:buChar char="❑"/>
            </a:pP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DATE: 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2023-05-06</a:t>
            </a:r>
          </a:p>
          <a:p>
            <a:pPr marL="285750" indent="-285750">
              <a:lnSpc>
                <a:spcPct val="150000"/>
              </a:lnSpc>
              <a:buFont typeface="Zapf Dingbats"/>
              <a:buChar char="❑"/>
            </a:pP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单位：</a:t>
            </a: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Helvetica" panose="020B0500000000000000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数据整合和系统品质部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Helvetica" panose="020B0500000000000000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92463" y="245488"/>
            <a:ext cx="1060209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Helvetica" panose="020B0500000000000000" pitchFamily="2" charset="0"/>
              </a:rPr>
              <a:t>数据底座</a:t>
            </a:r>
            <a:endParaRPr kumimoji="1" lang="zh-TW" altLang="en-US" sz="3600" b="1" dirty="0">
              <a:solidFill>
                <a:schemeClr val="tx1">
                  <a:lumMod val="50000"/>
                  <a:lumOff val="50000"/>
                </a:schemeClr>
              </a:solidFill>
              <a:latin typeface="Helvetica" panose="020B05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8"/>
          <p:cNvSpPr>
            <a:spLocks noGrp="1"/>
          </p:cNvSpPr>
          <p:nvPr>
            <p:ph type="title"/>
          </p:nvPr>
        </p:nvSpPr>
        <p:spPr>
          <a:xfrm>
            <a:off x="0" y="4090"/>
            <a:ext cx="10515600" cy="634335"/>
          </a:xfrm>
        </p:spPr>
        <p:txBody>
          <a:bodyPr>
            <a:normAutofit/>
          </a:bodyPr>
          <a:lstStyle/>
          <a:p>
            <a:r>
              <a:rPr kumimoji="1" lang="en-US" altLang="zh-TW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LUXSAN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TECH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  <a:sym typeface="Helvetica Neue"/>
              </a:rPr>
              <a:t>|</a:t>
            </a:r>
            <a:r>
              <a:rPr lang="zh-CN" altLang="en-US" sz="2800" kern="0" dirty="0">
                <a:solidFill>
                  <a:srgbClr val="FFFFFF">
                    <a:lumMod val="50000"/>
                  </a:srgb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solidFill>
                  <a:schemeClr val="bg1">
                    <a:lumMod val="65000"/>
                  </a:scheme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latin typeface="黑体" panose="02010609060101010101" pitchFamily="49" charset="-122"/>
                <a:ea typeface="黑体" panose="02010609060101010101" pitchFamily="49" charset="-122"/>
                <a:cs typeface="Helvetica Neue" panose="02000503000000020004" pitchFamily="2" charset="0"/>
                <a:sym typeface="Helvetica Neue"/>
              </a:rPr>
              <a:t>目录</a:t>
            </a:r>
            <a:endParaRPr kumimoji="1" lang="zh-TW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2142074" y="1221127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15665" y="1221127"/>
            <a:ext cx="5823752" cy="5835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数据底座架构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六边形 7"/>
          <p:cNvSpPr/>
          <p:nvPr/>
        </p:nvSpPr>
        <p:spPr>
          <a:xfrm>
            <a:off x="2142074" y="2238396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15665" y="2243539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数据底座规范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六边形 9"/>
          <p:cNvSpPr/>
          <p:nvPr/>
        </p:nvSpPr>
        <p:spPr>
          <a:xfrm>
            <a:off x="2142074" y="339911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215665" y="3399115"/>
            <a:ext cx="5823752" cy="5835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数据计算和分析流程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六边形 11"/>
          <p:cNvSpPr/>
          <p:nvPr/>
        </p:nvSpPr>
        <p:spPr>
          <a:xfrm>
            <a:off x="2142074" y="443040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15665" y="43416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数据应用层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5061" y="56220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数据底座架构</a:t>
            </a:r>
            <a:endParaRPr lang="zh-CN" altLang="en-US" dirty="0"/>
          </a:p>
        </p:txBody>
      </p:sp>
      <p:graphicFrame>
        <p:nvGraphicFramePr>
          <p:cNvPr id="7" name="图示 6"/>
          <p:cNvGraphicFramePr/>
          <p:nvPr/>
        </p:nvGraphicFramePr>
        <p:xfrm>
          <a:off x="1052949" y="5321887"/>
          <a:ext cx="9107055" cy="1086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圆角矩形 7"/>
          <p:cNvSpPr/>
          <p:nvPr/>
        </p:nvSpPr>
        <p:spPr>
          <a:xfrm>
            <a:off x="1052948" y="4572069"/>
            <a:ext cx="9107055" cy="56386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ODS</a:t>
            </a:r>
            <a:r>
              <a:rPr lang="zh-CN" altLang="en-US" sz="1600" dirty="0" smtClean="0"/>
              <a:t>原数据层</a:t>
            </a:r>
            <a:endParaRPr lang="zh-CN" altLang="en-US" sz="1600" dirty="0"/>
          </a:p>
        </p:txBody>
      </p:sp>
      <p:sp>
        <p:nvSpPr>
          <p:cNvPr id="9" name="圆角矩形 8"/>
          <p:cNvSpPr/>
          <p:nvPr/>
        </p:nvSpPr>
        <p:spPr>
          <a:xfrm>
            <a:off x="1052949" y="3921641"/>
            <a:ext cx="6739750" cy="563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DWD</a:t>
            </a:r>
            <a:r>
              <a:rPr lang="zh-CN" altLang="en-US" sz="1600" dirty="0" smtClean="0"/>
              <a:t>数据明细层</a:t>
            </a:r>
            <a:endParaRPr lang="zh-CN" altLang="en-US" sz="1600" dirty="0"/>
          </a:p>
        </p:txBody>
      </p:sp>
      <p:sp>
        <p:nvSpPr>
          <p:cNvPr id="10" name="圆角矩形 9"/>
          <p:cNvSpPr/>
          <p:nvPr/>
        </p:nvSpPr>
        <p:spPr>
          <a:xfrm>
            <a:off x="1052949" y="3281152"/>
            <a:ext cx="6739750" cy="563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DWS</a:t>
            </a:r>
            <a:r>
              <a:rPr lang="zh-CN" altLang="en-US" sz="1600" dirty="0" smtClean="0"/>
              <a:t>数据</a:t>
            </a:r>
            <a:r>
              <a:rPr lang="zh-CN" altLang="en-US" sz="1600" dirty="0"/>
              <a:t>汇总</a:t>
            </a:r>
            <a:r>
              <a:rPr lang="zh-CN" altLang="en-US" sz="1600" dirty="0" smtClean="0"/>
              <a:t>层</a:t>
            </a:r>
            <a:endParaRPr lang="zh-CN" altLang="en-US" sz="1600" dirty="0"/>
          </a:p>
        </p:txBody>
      </p:sp>
      <p:sp>
        <p:nvSpPr>
          <p:cNvPr id="11" name="圆角矩形 10"/>
          <p:cNvSpPr/>
          <p:nvPr/>
        </p:nvSpPr>
        <p:spPr>
          <a:xfrm>
            <a:off x="1052949" y="1956050"/>
            <a:ext cx="6739750" cy="563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DM</a:t>
            </a:r>
            <a:r>
              <a:rPr lang="zh-CN" altLang="en-US" sz="1600" dirty="0" smtClean="0"/>
              <a:t>数据集市层</a:t>
            </a:r>
            <a:endParaRPr lang="zh-CN" altLang="en-US" sz="1600" dirty="0"/>
          </a:p>
        </p:txBody>
      </p:sp>
      <p:sp>
        <p:nvSpPr>
          <p:cNvPr id="12" name="圆角矩形 11"/>
          <p:cNvSpPr/>
          <p:nvPr/>
        </p:nvSpPr>
        <p:spPr>
          <a:xfrm>
            <a:off x="1032779" y="1009330"/>
            <a:ext cx="2105891" cy="56386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报表</a:t>
            </a:r>
            <a:r>
              <a:rPr lang="en-US" altLang="zh-CN" sz="1600" dirty="0" smtClean="0"/>
              <a:t>&amp;BI</a:t>
            </a:r>
            <a:endParaRPr lang="zh-CN" altLang="en-US" sz="1600" dirty="0"/>
          </a:p>
        </p:txBody>
      </p:sp>
      <p:sp>
        <p:nvSpPr>
          <p:cNvPr id="13" name="圆角矩形 12"/>
          <p:cNvSpPr/>
          <p:nvPr/>
        </p:nvSpPr>
        <p:spPr>
          <a:xfrm>
            <a:off x="5771286" y="1020953"/>
            <a:ext cx="1879600" cy="56386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数据展现</a:t>
            </a:r>
            <a:r>
              <a:rPr lang="en-US" altLang="zh-CN" sz="1600" dirty="0" smtClean="0"/>
              <a:t>&amp;</a:t>
            </a:r>
            <a:r>
              <a:rPr lang="zh-CN" altLang="en-US" sz="1600" dirty="0" smtClean="0"/>
              <a:t>看板</a:t>
            </a:r>
            <a:endParaRPr lang="zh-CN" altLang="en-US" sz="1600" dirty="0"/>
          </a:p>
        </p:txBody>
      </p:sp>
      <p:sp>
        <p:nvSpPr>
          <p:cNvPr id="14" name="圆角矩形 13"/>
          <p:cNvSpPr/>
          <p:nvPr/>
        </p:nvSpPr>
        <p:spPr>
          <a:xfrm>
            <a:off x="7945444" y="996553"/>
            <a:ext cx="2170546" cy="56386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数据分析和决策</a:t>
            </a:r>
            <a:endParaRPr lang="zh-CN" altLang="en-US" sz="1600" dirty="0"/>
          </a:p>
        </p:txBody>
      </p:sp>
      <p:sp>
        <p:nvSpPr>
          <p:cNvPr id="15" name="圆角矩形 14"/>
          <p:cNvSpPr/>
          <p:nvPr/>
        </p:nvSpPr>
        <p:spPr>
          <a:xfrm>
            <a:off x="3369878" y="1009329"/>
            <a:ext cx="2105891" cy="56386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终端应用系统</a:t>
            </a:r>
            <a:endParaRPr lang="zh-CN" altLang="en-US" sz="1600" dirty="0"/>
          </a:p>
        </p:txBody>
      </p:sp>
      <p:sp>
        <p:nvSpPr>
          <p:cNvPr id="16" name="圆角矩形 15"/>
          <p:cNvSpPr/>
          <p:nvPr/>
        </p:nvSpPr>
        <p:spPr>
          <a:xfrm>
            <a:off x="7993855" y="1980896"/>
            <a:ext cx="2262817" cy="244579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rgbClr val="C00000"/>
                </a:solidFill>
              </a:rPr>
              <a:t>数据字典</a:t>
            </a:r>
            <a:r>
              <a:rPr lang="en-US" altLang="zh-CN" sz="2000" dirty="0" smtClean="0">
                <a:solidFill>
                  <a:srgbClr val="C00000"/>
                </a:solidFill>
              </a:rPr>
              <a:t>/</a:t>
            </a:r>
            <a:r>
              <a:rPr lang="zh-CN" altLang="en-US" sz="2000" dirty="0" smtClean="0">
                <a:solidFill>
                  <a:srgbClr val="C00000"/>
                </a:solidFill>
              </a:rPr>
              <a:t>维度层</a:t>
            </a:r>
            <a:r>
              <a:rPr lang="en-US" altLang="zh-CN" sz="2000" dirty="0" smtClean="0">
                <a:solidFill>
                  <a:srgbClr val="C00000"/>
                </a:solidFill>
              </a:rPr>
              <a:t>(DIM)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sp>
        <p:nvSpPr>
          <p:cNvPr id="21" name="上箭头 20"/>
          <p:cNvSpPr/>
          <p:nvPr/>
        </p:nvSpPr>
        <p:spPr>
          <a:xfrm>
            <a:off x="1625604" y="5349033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上箭头 21"/>
          <p:cNvSpPr/>
          <p:nvPr/>
        </p:nvSpPr>
        <p:spPr>
          <a:xfrm>
            <a:off x="2198259" y="5349033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上箭头 22"/>
          <p:cNvSpPr/>
          <p:nvPr/>
        </p:nvSpPr>
        <p:spPr>
          <a:xfrm>
            <a:off x="2724734" y="5355764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上箭头 23"/>
          <p:cNvSpPr/>
          <p:nvPr/>
        </p:nvSpPr>
        <p:spPr>
          <a:xfrm>
            <a:off x="7792699" y="5349033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上箭头 24"/>
          <p:cNvSpPr/>
          <p:nvPr/>
        </p:nvSpPr>
        <p:spPr>
          <a:xfrm>
            <a:off x="8506421" y="5341329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上箭头 25"/>
          <p:cNvSpPr/>
          <p:nvPr/>
        </p:nvSpPr>
        <p:spPr>
          <a:xfrm>
            <a:off x="9151842" y="5331123"/>
            <a:ext cx="221674" cy="403336"/>
          </a:xfrm>
          <a:prstGeom prst="upArrow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>
            <a:off x="-293" y="1808611"/>
            <a:ext cx="12180425" cy="923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1580" y="5210508"/>
            <a:ext cx="12180425" cy="923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-291" y="5922147"/>
            <a:ext cx="12180425" cy="923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929575" y="849313"/>
            <a:ext cx="34937" cy="597306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-293" y="6039382"/>
            <a:ext cx="894544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数据源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35031" y="5365127"/>
            <a:ext cx="787459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ETL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71467" y="3331962"/>
            <a:ext cx="751023" cy="64633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数据仓库</a:t>
            </a:r>
            <a:endParaRPr lang="zh-CN" alt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98755" y="930088"/>
            <a:ext cx="751023" cy="64633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数据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应用</a:t>
            </a:r>
            <a:endParaRPr lang="zh-CN" altLang="en-US" dirty="0"/>
          </a:p>
        </p:txBody>
      </p:sp>
      <p:cxnSp>
        <p:nvCxnSpPr>
          <p:cNvPr id="40" name="直接箭头连接符 39"/>
          <p:cNvCxnSpPr/>
          <p:nvPr/>
        </p:nvCxnSpPr>
        <p:spPr>
          <a:xfrm flipH="1">
            <a:off x="10457830" y="849313"/>
            <a:ext cx="34937" cy="5973062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10624788" y="5305083"/>
            <a:ext cx="1481066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 smtClean="0"/>
              <a:t>标准化同步工具</a:t>
            </a:r>
            <a:endParaRPr lang="en-US" altLang="zh-CN" sz="1400" dirty="0" smtClean="0"/>
          </a:p>
          <a:p>
            <a:r>
              <a:rPr lang="zh-CN" altLang="en-US" sz="1400" dirty="0" smtClean="0"/>
              <a:t>客制化同步程序</a:t>
            </a:r>
            <a:endParaRPr lang="zh-CN" altLang="en-US" sz="1400" dirty="0"/>
          </a:p>
        </p:txBody>
      </p:sp>
      <p:sp>
        <p:nvSpPr>
          <p:cNvPr id="42" name="文本框 41"/>
          <p:cNvSpPr txBox="1"/>
          <p:nvPr/>
        </p:nvSpPr>
        <p:spPr>
          <a:xfrm>
            <a:off x="10693924" y="2874744"/>
            <a:ext cx="1463791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/>
              <a:t>数据</a:t>
            </a:r>
            <a:r>
              <a:rPr lang="zh-CN" altLang="en-US" sz="1400" dirty="0" smtClean="0"/>
              <a:t>管理流程化</a:t>
            </a:r>
            <a:endParaRPr lang="en-US" altLang="zh-CN" sz="1400" dirty="0" smtClean="0"/>
          </a:p>
          <a:p>
            <a:r>
              <a:rPr lang="zh-CN" altLang="en-US" sz="1400" dirty="0" smtClean="0"/>
              <a:t>安全管理标准化</a:t>
            </a:r>
            <a:endParaRPr lang="zh-CN" altLang="en-US" sz="1400" dirty="0"/>
          </a:p>
        </p:txBody>
      </p:sp>
      <p:sp>
        <p:nvSpPr>
          <p:cNvPr id="43" name="文本框 42"/>
          <p:cNvSpPr txBox="1"/>
          <p:nvPr/>
        </p:nvSpPr>
        <p:spPr>
          <a:xfrm>
            <a:off x="10642063" y="985220"/>
            <a:ext cx="1463791" cy="3077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dirty="0" smtClean="0"/>
              <a:t>使用申请注册制</a:t>
            </a:r>
            <a:endParaRPr lang="zh-CN" altLang="en-US" sz="1400" dirty="0"/>
          </a:p>
        </p:txBody>
      </p:sp>
      <p:sp>
        <p:nvSpPr>
          <p:cNvPr id="31" name="圆角矩形 30"/>
          <p:cNvSpPr/>
          <p:nvPr/>
        </p:nvSpPr>
        <p:spPr>
          <a:xfrm>
            <a:off x="1034815" y="2634444"/>
            <a:ext cx="6739750" cy="5638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ADS</a:t>
            </a:r>
            <a:r>
              <a:rPr lang="zh-CN" altLang="en-US" sz="1600" dirty="0" smtClean="0"/>
              <a:t>数据应用层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8"/>
          <p:cNvSpPr>
            <a:spLocks noGrp="1"/>
          </p:cNvSpPr>
          <p:nvPr>
            <p:ph type="title"/>
          </p:nvPr>
        </p:nvSpPr>
        <p:spPr>
          <a:xfrm>
            <a:off x="0" y="4090"/>
            <a:ext cx="10515600" cy="634335"/>
          </a:xfrm>
        </p:spPr>
        <p:txBody>
          <a:bodyPr>
            <a:normAutofit/>
          </a:bodyPr>
          <a:lstStyle/>
          <a:p>
            <a:r>
              <a:rPr kumimoji="1" lang="en-US" altLang="zh-TW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LUXSAN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TECH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  <a:sym typeface="Helvetica Neue"/>
              </a:rPr>
              <a:t>|</a:t>
            </a:r>
            <a:r>
              <a:rPr lang="zh-CN" altLang="en-US" sz="2800" kern="0" dirty="0">
                <a:solidFill>
                  <a:srgbClr val="FFFFFF">
                    <a:lumMod val="50000"/>
                  </a:srgb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solidFill>
                  <a:schemeClr val="bg1">
                    <a:lumMod val="65000"/>
                  </a:scheme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latin typeface="黑体" panose="02010609060101010101" pitchFamily="49" charset="-122"/>
                <a:ea typeface="黑体" panose="02010609060101010101" pitchFamily="49" charset="-122"/>
                <a:cs typeface="Helvetica Neue" panose="02000503000000020004" pitchFamily="2" charset="0"/>
                <a:sym typeface="Helvetica Neue"/>
              </a:rPr>
              <a:t>目录</a:t>
            </a:r>
            <a:endParaRPr kumimoji="1" lang="zh-TW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2142074" y="1221127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15665" y="12211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数据底座数据</a:t>
            </a:r>
            <a:r>
              <a:rPr lang="zh-CN" altLang="en-US" dirty="0"/>
              <a:t>架构</a:t>
            </a:r>
          </a:p>
        </p:txBody>
      </p:sp>
      <p:sp>
        <p:nvSpPr>
          <p:cNvPr id="8" name="六边形 7"/>
          <p:cNvSpPr/>
          <p:nvPr/>
        </p:nvSpPr>
        <p:spPr>
          <a:xfrm>
            <a:off x="2142074" y="2238396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215665" y="2243539"/>
            <a:ext cx="5823752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数据底座规范</a:t>
            </a:r>
            <a:endParaRPr lang="zh-CN" altLang="en-US" dirty="0"/>
          </a:p>
        </p:txBody>
      </p:sp>
      <p:sp>
        <p:nvSpPr>
          <p:cNvPr id="10" name="六边形 9"/>
          <p:cNvSpPr/>
          <p:nvPr/>
        </p:nvSpPr>
        <p:spPr>
          <a:xfrm>
            <a:off x="2142074" y="339911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215665" y="3399115"/>
            <a:ext cx="5823752" cy="5835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数据计算和分析流程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六边形 11"/>
          <p:cNvSpPr/>
          <p:nvPr/>
        </p:nvSpPr>
        <p:spPr>
          <a:xfrm>
            <a:off x="2142074" y="443040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15665" y="43416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数据应用层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工作职责</a:t>
            </a:r>
            <a:endParaRPr lang="zh-CN" altLang="en-US" dirty="0"/>
          </a:p>
        </p:txBody>
      </p:sp>
      <p:graphicFrame>
        <p:nvGraphicFramePr>
          <p:cNvPr id="4" name="图示 3"/>
          <p:cNvGraphicFramePr/>
          <p:nvPr/>
        </p:nvGraphicFramePr>
        <p:xfrm>
          <a:off x="317546" y="1826953"/>
          <a:ext cx="11677974" cy="3867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17546" y="1021825"/>
            <a:ext cx="11677974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 smtClean="0"/>
              <a:t>数据底座平台共分三种角色的人员，分别为：数据</a:t>
            </a:r>
            <a:r>
              <a:rPr lang="en-US" altLang="zh-CN" sz="2000" dirty="0" smtClean="0"/>
              <a:t>ETL</a:t>
            </a:r>
            <a:r>
              <a:rPr lang="zh-CN" altLang="en-US" sz="2000" dirty="0" smtClean="0"/>
              <a:t>角色  数据开发角色  平台管理员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7527"/>
            <a:ext cx="9628742" cy="62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帐号权限管理</a:t>
            </a:r>
            <a:r>
              <a:rPr lang="en-US" altLang="zh-CN" dirty="0" smtClean="0"/>
              <a:t>(Flow </a:t>
            </a:r>
            <a:r>
              <a:rPr lang="zh-CN" altLang="en-US" dirty="0" smtClean="0"/>
              <a:t>中央管理的模式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1461051" y="679535"/>
            <a:ext cx="7076661" cy="61784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图示 2"/>
          <p:cNvGraphicFramePr/>
          <p:nvPr/>
        </p:nvGraphicFramePr>
        <p:xfrm>
          <a:off x="673584" y="1802657"/>
          <a:ext cx="8955158" cy="4170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矩形标注 5"/>
          <p:cNvSpPr/>
          <p:nvPr/>
        </p:nvSpPr>
        <p:spPr>
          <a:xfrm>
            <a:off x="9332595" y="1023620"/>
            <a:ext cx="2415540" cy="1709420"/>
          </a:xfrm>
          <a:prstGeom prst="wedgeRectCallout">
            <a:avLst>
              <a:gd name="adj1" fmla="val -139458"/>
              <a:gd name="adj2" fmla="val 25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在同一个租户下，分开发</a:t>
            </a:r>
            <a:r>
              <a:rPr lang="en-US" altLang="zh-CN" dirty="0" smtClean="0"/>
              <a:t>Team,</a:t>
            </a:r>
            <a:r>
              <a:rPr lang="zh-CN" altLang="en-US" dirty="0" smtClean="0"/>
              <a:t>建立权限，然后再建立开发人员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628742" cy="62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数据入湖流程</a:t>
            </a:r>
            <a:endParaRPr lang="zh-CN" altLang="en-US" dirty="0"/>
          </a:p>
        </p:txBody>
      </p:sp>
      <p:graphicFrame>
        <p:nvGraphicFramePr>
          <p:cNvPr id="3" name="图示 2"/>
          <p:cNvGraphicFramePr/>
          <p:nvPr/>
        </p:nvGraphicFramePr>
        <p:xfrm>
          <a:off x="-2633870" y="785191"/>
          <a:ext cx="12105861" cy="59137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流程图: 决策 3"/>
          <p:cNvSpPr/>
          <p:nvPr/>
        </p:nvSpPr>
        <p:spPr>
          <a:xfrm>
            <a:off x="5531124" y="3265003"/>
            <a:ext cx="2862470" cy="95415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源数据进行资产发布</a:t>
            </a:r>
            <a:endParaRPr lang="zh-CN" altLang="en-US" sz="1400" dirty="0"/>
          </a:p>
        </p:txBody>
      </p:sp>
      <p:sp>
        <p:nvSpPr>
          <p:cNvPr id="5" name="矩形 4"/>
          <p:cNvSpPr/>
          <p:nvPr/>
        </p:nvSpPr>
        <p:spPr>
          <a:xfrm>
            <a:off x="9471991" y="3265003"/>
            <a:ext cx="2604052" cy="934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资产平台查询相关数据，按数据权限，人员权限管制</a:t>
            </a:r>
            <a:endParaRPr lang="zh-CN" altLang="en-US" sz="1400" dirty="0"/>
          </a:p>
        </p:txBody>
      </p:sp>
      <p:sp>
        <p:nvSpPr>
          <p:cNvPr id="6" name="右箭头 5"/>
          <p:cNvSpPr/>
          <p:nvPr/>
        </p:nvSpPr>
        <p:spPr>
          <a:xfrm>
            <a:off x="4769538" y="3533360"/>
            <a:ext cx="655983" cy="4174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8604801" y="3533360"/>
            <a:ext cx="655983" cy="4174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628742" cy="62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-API</a:t>
            </a:r>
            <a:r>
              <a:rPr lang="zh-CN" altLang="en-US" dirty="0" smtClean="0"/>
              <a:t>对外发布数据</a:t>
            </a:r>
            <a:endParaRPr lang="zh-CN" altLang="en-US" dirty="0"/>
          </a:p>
        </p:txBody>
      </p:sp>
      <p:sp>
        <p:nvSpPr>
          <p:cNvPr id="8" name="圆柱形 7"/>
          <p:cNvSpPr/>
          <p:nvPr/>
        </p:nvSpPr>
        <p:spPr>
          <a:xfrm>
            <a:off x="4276590" y="986922"/>
            <a:ext cx="1057743" cy="85799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业务系统</a:t>
            </a:r>
            <a:endParaRPr lang="zh-CN" altLang="en-US" sz="1200" dirty="0"/>
          </a:p>
        </p:txBody>
      </p:sp>
      <p:sp>
        <p:nvSpPr>
          <p:cNvPr id="9" name="圆柱形 8"/>
          <p:cNvSpPr/>
          <p:nvPr/>
        </p:nvSpPr>
        <p:spPr>
          <a:xfrm>
            <a:off x="4359583" y="3688749"/>
            <a:ext cx="891758" cy="87314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数据集市</a:t>
            </a:r>
            <a:r>
              <a:rPr lang="en-US" altLang="zh-CN" sz="1200" dirty="0" smtClean="0"/>
              <a:t>DM</a:t>
            </a:r>
            <a:endParaRPr lang="zh-CN" altLang="en-US" sz="1200" dirty="0"/>
          </a:p>
        </p:txBody>
      </p:sp>
      <p:sp>
        <p:nvSpPr>
          <p:cNvPr id="10" name="流程图: 决策 9"/>
          <p:cNvSpPr/>
          <p:nvPr/>
        </p:nvSpPr>
        <p:spPr>
          <a:xfrm>
            <a:off x="3858300" y="2348952"/>
            <a:ext cx="1868557" cy="89849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是否直接消费数据（数据集市</a:t>
            </a:r>
            <a:r>
              <a:rPr lang="en-US" altLang="zh-CN" sz="1200" dirty="0" smtClean="0"/>
              <a:t>)</a:t>
            </a:r>
            <a:endParaRPr lang="zh-CN" altLang="en-US" sz="1200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805462" y="2002890"/>
            <a:ext cx="4929" cy="2782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4810391" y="3322989"/>
            <a:ext cx="0" cy="2782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流程图: 多文档 13"/>
          <p:cNvSpPr/>
          <p:nvPr/>
        </p:nvSpPr>
        <p:spPr>
          <a:xfrm>
            <a:off x="4277661" y="5080405"/>
            <a:ext cx="1224501" cy="715618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/>
              <a:t>API</a:t>
            </a:r>
            <a:r>
              <a:rPr lang="zh-CN" altLang="en-US" sz="1200" dirty="0" smtClean="0"/>
              <a:t>发布数据</a:t>
            </a:r>
            <a:endParaRPr lang="zh-CN" altLang="en-US" sz="1200" dirty="0"/>
          </a:p>
        </p:txBody>
      </p:sp>
      <p:sp>
        <p:nvSpPr>
          <p:cNvPr id="15" name="圆柱形 14"/>
          <p:cNvSpPr/>
          <p:nvPr/>
        </p:nvSpPr>
        <p:spPr>
          <a:xfrm>
            <a:off x="6431433" y="2495388"/>
            <a:ext cx="978011" cy="60562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ODS</a:t>
            </a:r>
            <a:endParaRPr lang="zh-CN" altLang="en-US" dirty="0"/>
          </a:p>
        </p:txBody>
      </p:sp>
      <p:sp>
        <p:nvSpPr>
          <p:cNvPr id="18" name="圆柱形 17"/>
          <p:cNvSpPr/>
          <p:nvPr/>
        </p:nvSpPr>
        <p:spPr>
          <a:xfrm>
            <a:off x="8050411" y="2495388"/>
            <a:ext cx="978011" cy="60562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DWD</a:t>
            </a:r>
            <a:endParaRPr lang="zh-CN" altLang="en-US" dirty="0"/>
          </a:p>
        </p:txBody>
      </p:sp>
      <p:sp>
        <p:nvSpPr>
          <p:cNvPr id="19" name="圆柱形 18"/>
          <p:cNvSpPr/>
          <p:nvPr/>
        </p:nvSpPr>
        <p:spPr>
          <a:xfrm>
            <a:off x="9669389" y="2495388"/>
            <a:ext cx="978011" cy="60562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DWS</a:t>
            </a:r>
            <a:endParaRPr lang="zh-CN" altLang="en-US" dirty="0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5782515" y="2798200"/>
            <a:ext cx="5109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7500666" y="2798199"/>
            <a:ext cx="5109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9097040" y="2798199"/>
            <a:ext cx="5109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9" idx="3"/>
            <a:endCxn id="9" idx="4"/>
          </p:cNvCxnSpPr>
          <p:nvPr/>
        </p:nvCxnSpPr>
        <p:spPr>
          <a:xfrm rot="5400000">
            <a:off x="7192715" y="1159638"/>
            <a:ext cx="1024307" cy="49070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4860166" y="4681999"/>
            <a:ext cx="0" cy="2782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stCxn id="15" idx="3"/>
            <a:endCxn id="9" idx="4"/>
          </p:cNvCxnSpPr>
          <p:nvPr/>
        </p:nvCxnSpPr>
        <p:spPr>
          <a:xfrm rot="5400000">
            <a:off x="5573737" y="2778616"/>
            <a:ext cx="1024307" cy="16690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18" idx="3"/>
            <a:endCxn id="9" idx="4"/>
          </p:cNvCxnSpPr>
          <p:nvPr/>
        </p:nvCxnSpPr>
        <p:spPr>
          <a:xfrm rot="5400000">
            <a:off x="6383226" y="1969127"/>
            <a:ext cx="1024307" cy="32880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团队清单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0391" y="1131477"/>
            <a:ext cx="11965895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dirty="0" smtClean="0"/>
              <a:t>Team</a:t>
            </a:r>
            <a:r>
              <a:rPr lang="zh-CN" altLang="en-US" dirty="0" smtClean="0"/>
              <a:t>帐号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5" y="1500809"/>
            <a:ext cx="12180425" cy="47310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8" y="1262271"/>
            <a:ext cx="11867960" cy="5307494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账号清单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1088" y="902876"/>
            <a:ext cx="11907078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每位成员一个帐号，以工号为帐号进行登陆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74" y="-5200"/>
            <a:ext cx="11120251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后台</a:t>
            </a:r>
            <a:r>
              <a:rPr lang="en-US" altLang="zh-CN" dirty="0" smtClean="0"/>
              <a:t>DB</a:t>
            </a:r>
            <a:r>
              <a:rPr lang="zh-CN" altLang="en-US" dirty="0" smtClean="0"/>
              <a:t>管理群组帐号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47872" y="1242395"/>
          <a:ext cx="10893286" cy="2526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1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2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98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序号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 Team </a:t>
                      </a:r>
                      <a:r>
                        <a:rPr lang="zh-CN" altLang="en-US" sz="1800" u="none" strike="noStrike">
                          <a:effectLst/>
                        </a:rPr>
                        <a:t>帐号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说明</a:t>
                      </a:r>
                      <a:r>
                        <a:rPr lang="en-US" altLang="zh-CN" sz="1800" u="none" strike="noStrike">
                          <a:effectLst/>
                        </a:rPr>
                        <a:t>(Dbeaver</a:t>
                      </a:r>
                      <a:r>
                        <a:rPr lang="zh-CN" altLang="en-US" sz="1800" u="none" strike="noStrike">
                          <a:effectLst/>
                        </a:rPr>
                        <a:t>或其他客户端工具登陆直接数据库）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 dirty="0">
                          <a:effectLst/>
                        </a:rPr>
                        <a:t>1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hive_hrms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hive_wms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hive_iams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 dirty="0">
                          <a:effectLst/>
                        </a:rPr>
                        <a:t>4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hive_imas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hive_bi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6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hive_mes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hive_iot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Team Number</a:t>
                      </a:r>
                      <a:r>
                        <a:rPr lang="zh-CN" altLang="en-US" sz="1800" u="none" strike="noStrike">
                          <a:effectLst/>
                        </a:rPr>
                        <a:t>使用本</a:t>
                      </a:r>
                      <a:r>
                        <a:rPr lang="en-US" sz="1800" u="none" strike="noStrike">
                          <a:effectLst/>
                        </a:rPr>
                        <a:t>Team</a:t>
                      </a:r>
                      <a:r>
                        <a:rPr lang="zh-CN" altLang="en-US" sz="1800" u="none" strike="noStrike">
                          <a:effectLst/>
                        </a:rPr>
                        <a:t>帐号登陆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982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hive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 dirty="0">
                          <a:effectLst/>
                        </a:rPr>
                        <a:t>管理员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72720" y="3945834"/>
          <a:ext cx="10868438" cy="27389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8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6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63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 dirty="0">
                          <a:effectLst/>
                        </a:rPr>
                        <a:t>序号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DORIS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>
                          <a:effectLst/>
                        </a:rPr>
                        <a:t>说明</a:t>
                      </a:r>
                      <a:r>
                        <a:rPr lang="en-US" altLang="zh-CN" sz="1800" u="none" strike="noStrike">
                          <a:effectLst/>
                        </a:rPr>
                        <a:t>(Dbeaver</a:t>
                      </a:r>
                      <a:r>
                        <a:rPr lang="zh-CN" altLang="en-US" sz="1800" u="none" strike="noStrike">
                          <a:effectLst/>
                        </a:rPr>
                        <a:t>或其他客户端工具登陆直接数据库</a:t>
                      </a:r>
                      <a:r>
                        <a:rPr lang="en-US" altLang="zh-CN" sz="1800" u="none" strike="noStrike">
                          <a:effectLst/>
                        </a:rPr>
                        <a:t>)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doris_hrms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2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doris_wms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3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doris_iams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4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doris_imas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90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doris_bi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6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</a:rPr>
                        <a:t>doris_mes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7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doris_iot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Team Number</a:t>
                      </a:r>
                      <a:r>
                        <a:rPr lang="zh-CN" altLang="en-US" sz="1800" u="none" strike="noStrike" dirty="0">
                          <a:effectLst/>
                        </a:rPr>
                        <a:t>使用本</a:t>
                      </a:r>
                      <a:r>
                        <a:rPr lang="en-US" sz="1800" u="none" strike="noStrike" dirty="0">
                          <a:effectLst/>
                        </a:rPr>
                        <a:t>Team</a:t>
                      </a:r>
                      <a:r>
                        <a:rPr lang="zh-CN" altLang="en-US" sz="1800" u="none" strike="noStrike" dirty="0">
                          <a:effectLst/>
                        </a:rPr>
                        <a:t>帐号登陆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63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800" u="none" strike="noStrike">
                          <a:effectLst/>
                        </a:rPr>
                        <a:t>8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root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u="none" strike="noStrike" dirty="0">
                          <a:effectLst/>
                        </a:rPr>
                        <a:t>管理员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47872" y="695654"/>
            <a:ext cx="10893286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数据按</a:t>
            </a:r>
            <a:r>
              <a:rPr lang="en-US" altLang="zh-CN" dirty="0" smtClean="0"/>
              <a:t>Team</a:t>
            </a:r>
            <a:r>
              <a:rPr lang="zh-CN" altLang="en-US" dirty="0" smtClean="0"/>
              <a:t>来分权限管理，跨</a:t>
            </a:r>
            <a:r>
              <a:rPr lang="en-US" altLang="zh-CN" dirty="0" smtClean="0"/>
              <a:t>Team</a:t>
            </a:r>
            <a:r>
              <a:rPr lang="zh-CN" altLang="en-US" dirty="0" smtClean="0"/>
              <a:t>访问数据，要走流程申请权限，才能访问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628742" cy="62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工作分工协同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1286" y="807086"/>
          <a:ext cx="11567133" cy="4480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5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9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序号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数据资产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对象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统一窗口申请人或执行人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主）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统一窗口申请人或执行人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备）</a:t>
                      </a:r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备注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325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数据源管理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杨清杰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数据底座管理员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32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帐号申请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杨清杰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ym typeface="+mn-ea"/>
                        </a:rPr>
                        <a:t>数据底座管理员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619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入湖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表</a:t>
                      </a:r>
                      <a:r>
                        <a:rPr lang="en-US" altLang="zh-CN" sz="1600" dirty="0" smtClean="0"/>
                        <a:t>)</a:t>
                      </a:r>
                      <a:r>
                        <a:rPr lang="zh-CN" altLang="en-US" sz="1600" dirty="0" smtClean="0"/>
                        <a:t>权限申请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杨清杰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ym typeface="+mn-ea"/>
                        </a:rPr>
                        <a:t>数据底座管理员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2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API</a:t>
                      </a:r>
                      <a:r>
                        <a:rPr lang="zh-CN" altLang="en-US" sz="1600" dirty="0" smtClean="0"/>
                        <a:t>接口申请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杨清杰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>
                          <a:sym typeface="+mn-ea"/>
                        </a:rPr>
                        <a:t>数据底座管理员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421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5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API</a:t>
                      </a:r>
                      <a:r>
                        <a:rPr lang="zh-CN" altLang="en-US" sz="1600" dirty="0" smtClean="0"/>
                        <a:t>接口开发和发布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黄秉宇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贾毅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617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6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数据资产发布和申请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杨清杰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>
                          <a:sym typeface="+mn-ea"/>
                        </a:rPr>
                        <a:t>数据底座管理员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843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7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数据抽取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入湖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黄秉宇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贾毅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统一由平台数据同步人员操作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8430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业务数据开发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Team </a:t>
                      </a:r>
                      <a:r>
                        <a:rPr lang="zh-CN" altLang="en-US" sz="1600" dirty="0" smtClean="0"/>
                        <a:t>开发人员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 smtClean="0"/>
                        <a:t>Team </a:t>
                      </a:r>
                      <a:r>
                        <a:rPr lang="zh-CN" altLang="en-US" sz="1600" dirty="0" smtClean="0"/>
                        <a:t>开发人员</a:t>
                      </a:r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904" y="57527"/>
            <a:ext cx="9782351" cy="62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数据底座</a:t>
            </a:r>
            <a:r>
              <a:rPr lang="en-US" altLang="zh-CN" dirty="0"/>
              <a:t>-</a:t>
            </a:r>
            <a:r>
              <a:rPr lang="en-US" altLang="zh-CN" dirty="0" smtClean="0"/>
              <a:t>ETL </a:t>
            </a:r>
            <a:r>
              <a:rPr lang="zh-CN" altLang="en-US" dirty="0" smtClean="0"/>
              <a:t>同步</a:t>
            </a:r>
            <a:r>
              <a:rPr lang="zh-CN" altLang="en-US" dirty="0"/>
              <a:t>标准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9391" y="1202633"/>
          <a:ext cx="11907079" cy="5077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0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0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9818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执行人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53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同步工具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</a:t>
                      </a:r>
                      <a:r>
                        <a:rPr lang="en-US" altLang="zh-CN" sz="1600" baseline="0" dirty="0" smtClean="0"/>
                        <a:t> </a:t>
                      </a:r>
                      <a:r>
                        <a:rPr lang="zh-CN" altLang="en-US" sz="1600" dirty="0" smtClean="0"/>
                        <a:t>使用平台内置</a:t>
                      </a:r>
                      <a:r>
                        <a:rPr lang="en-US" altLang="zh-CN" sz="1600" dirty="0" smtClean="0"/>
                        <a:t>DATAX</a:t>
                      </a:r>
                    </a:p>
                    <a:p>
                      <a:r>
                        <a:rPr lang="en-US" altLang="zh-CN" sz="1600" dirty="0" smtClean="0"/>
                        <a:t>2 </a:t>
                      </a:r>
                      <a:r>
                        <a:rPr lang="zh-CN" altLang="en-US" sz="1600" dirty="0" smtClean="0"/>
                        <a:t>及时数据使用</a:t>
                      </a:r>
                      <a:r>
                        <a:rPr lang="en-US" altLang="zh-CN" sz="1600" dirty="0" smtClean="0"/>
                        <a:t>KAFKA</a:t>
                      </a:r>
                    </a:p>
                    <a:p>
                      <a:r>
                        <a:rPr lang="en-US" altLang="zh-CN" sz="1600" dirty="0" smtClean="0"/>
                        <a:t>3</a:t>
                      </a:r>
                      <a:r>
                        <a:rPr lang="en-US" altLang="zh-CN" sz="1600" baseline="0" dirty="0" smtClean="0"/>
                        <a:t> </a:t>
                      </a:r>
                      <a:r>
                        <a:rPr lang="zh-CN" altLang="en-US" sz="1600" baseline="0" dirty="0" smtClean="0"/>
                        <a:t>其他程序使用</a:t>
                      </a:r>
                      <a:r>
                        <a:rPr lang="en-US" altLang="zh-CN" sz="1600" baseline="0" dirty="0" smtClean="0"/>
                        <a:t>API</a:t>
                      </a:r>
                      <a:r>
                        <a:rPr lang="zh-CN" altLang="en-US" sz="1600" baseline="0" dirty="0" smtClean="0"/>
                        <a:t>接口</a:t>
                      </a:r>
                      <a:endParaRPr lang="en-US" altLang="zh-CN" sz="1600" baseline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53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调度任务流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 </a:t>
                      </a:r>
                      <a:r>
                        <a:rPr lang="zh-CN" altLang="en-US" sz="1600" dirty="0" smtClean="0"/>
                        <a:t>统一由系统管理员建立</a:t>
                      </a:r>
                      <a:r>
                        <a:rPr lang="en-US" altLang="zh-CN" sz="1600" dirty="0" smtClean="0"/>
                        <a:t>,</a:t>
                      </a:r>
                      <a:r>
                        <a:rPr lang="zh-CN" altLang="en-US" sz="1600" dirty="0" smtClean="0"/>
                        <a:t>调度及管理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管理员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 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81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非调度任务流或任务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 </a:t>
                      </a:r>
                      <a:r>
                        <a:rPr lang="zh-CN" altLang="en-US" sz="1600" dirty="0" smtClean="0"/>
                        <a:t>业务系统开发人员自行建立，开发，测试</a:t>
                      </a:r>
                    </a:p>
                    <a:p>
                      <a:r>
                        <a:rPr lang="en-US" altLang="zh-CN" sz="1600" dirty="0" smtClean="0"/>
                        <a:t>2 </a:t>
                      </a:r>
                      <a:r>
                        <a:rPr lang="zh-CN" altLang="en-US" sz="1600" dirty="0" smtClean="0"/>
                        <a:t>按非调度任务命名标准进行使命名</a:t>
                      </a:r>
                    </a:p>
                    <a:p>
                      <a:r>
                        <a:rPr lang="en-US" altLang="zh-CN" sz="1600" dirty="0" smtClean="0"/>
                        <a:t>3 </a:t>
                      </a:r>
                      <a:r>
                        <a:rPr lang="zh-CN" altLang="en-US" sz="1600" dirty="0" smtClean="0"/>
                        <a:t>开发完成以后，统一交由系统管理员设定调度任务</a:t>
                      </a:r>
                    </a:p>
                    <a:p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开发人员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818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/>
              <a:t>-</a:t>
            </a:r>
            <a:r>
              <a:rPr lang="zh-CN" altLang="en-US" dirty="0" smtClean="0"/>
              <a:t>调度任务流命名标准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7409" y="1590261"/>
          <a:ext cx="12044591" cy="4263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4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2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194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调度任务流命名标准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任务类型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租户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id+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项目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id+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周期频率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+MAIN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全部大写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1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 任务类型</a:t>
                      </a:r>
                    </a:p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r>
                        <a:rPr lang="en-US" altLang="zh-CN" sz="1600" dirty="0" smtClean="0"/>
                        <a:t>(WF)</a:t>
                      </a:r>
                      <a:endParaRPr lang="zh-CN" altLang="en-US" sz="1600" dirty="0" smtClean="0"/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 </a:t>
                      </a:r>
                      <a:r>
                        <a:rPr lang="zh-CN" altLang="en-US" sz="1600" dirty="0" smtClean="0"/>
                        <a:t>大写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租户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数字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项目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 数字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1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5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周期频率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MIN/HOUR/WEEK/DAY/MONTH/YEAR+</a:t>
                      </a:r>
                      <a:r>
                        <a:rPr lang="zh-CN" altLang="en-US" sz="1600" dirty="0" smtClean="0"/>
                        <a:t>执行频率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数字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大写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47409" y="918868"/>
            <a:ext cx="11973339" cy="3683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任务流和任务参考中央和嘉善命名规范，将任务调度频率进行分类管理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非调度任务流命名标准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9389" y="1013791"/>
          <a:ext cx="11877263" cy="5605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33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1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非调度任务流命名标准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任务类型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租户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id+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项目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id+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任务流类别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层级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来源系统名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域主题）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任务逻辑名称或主要表名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1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 任务类型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r>
                        <a:rPr lang="en-US" altLang="zh-CN" sz="1600" dirty="0" smtClean="0"/>
                        <a:t>(WF)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 </a:t>
                      </a:r>
                      <a:r>
                        <a:rPr lang="zh-CN" altLang="en-US" sz="1600" dirty="0" smtClean="0"/>
                        <a:t>大写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租户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数字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1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项目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数字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77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5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任务流类别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dev/</a:t>
                      </a:r>
                      <a:r>
                        <a:rPr lang="en-US" altLang="zh-CN" sz="1600" dirty="0" err="1" smtClean="0"/>
                        <a:t>prd</a:t>
                      </a:r>
                      <a:endParaRPr lang="zh-CN" altLang="en-US" sz="16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只有两个值，开发环境和生产环境，都使用小写</a:t>
                      </a:r>
                      <a:endParaRPr lang="zh-CN" altLang="en-US" sz="16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6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6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层级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stg/</a:t>
                      </a:r>
                      <a:r>
                        <a:rPr lang="en-US" altLang="zh-CN" sz="1600" dirty="0" err="1" smtClean="0"/>
                        <a:t>ods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en-US" altLang="zh-CN" sz="1600" dirty="0" err="1" smtClean="0"/>
                        <a:t>dws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en-US" altLang="zh-CN" sz="1600" dirty="0" err="1" smtClean="0"/>
                        <a:t>dwd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en-US" altLang="zh-CN" sz="1600" dirty="0" err="1" smtClean="0"/>
                        <a:t>dm</a:t>
                      </a:r>
                      <a:r>
                        <a:rPr lang="en-US" altLang="zh-CN" sz="1600" dirty="0" smtClean="0"/>
                        <a:t>/dim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使用小写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7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来源系统名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域主题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根据实际业务场景来决定名称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使用小写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任务逻辑名称或主要表名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根据实际业务场景来决定名称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使用小写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任务命名规范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9389" y="1063486"/>
          <a:ext cx="11877263" cy="4587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233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19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非调度任务流命名标准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任务类型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租户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id+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项目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id+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层级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来源系统名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域主题）</a:t>
                      </a:r>
                      <a:r>
                        <a:rPr lang="en-US" altLang="zh-CN" sz="1600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sz="1600" dirty="0" smtClean="0">
                          <a:solidFill>
                            <a:srgbClr val="FF0000"/>
                          </a:solidFill>
                        </a:rPr>
                        <a:t>任务逻辑名称或主要表名</a:t>
                      </a:r>
                      <a:endParaRPr lang="zh-CN" alt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1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 任务类型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r>
                        <a:rPr lang="en-US" altLang="zh-CN" sz="1600" dirty="0" smtClean="0"/>
                        <a:t>(WF)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 </a:t>
                      </a:r>
                      <a:r>
                        <a:rPr lang="zh-CN" altLang="en-US" sz="1600" dirty="0" smtClean="0"/>
                        <a:t>大写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租户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数字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1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项目</a:t>
                      </a:r>
                      <a:r>
                        <a:rPr lang="en-US" altLang="zh-CN" sz="1600" dirty="0" smtClean="0"/>
                        <a:t>ID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系统自动生成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数字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63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6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层级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stg/</a:t>
                      </a:r>
                      <a:r>
                        <a:rPr lang="en-US" altLang="zh-CN" sz="1600" dirty="0" err="1" smtClean="0"/>
                        <a:t>ods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en-US" altLang="zh-CN" sz="1600" dirty="0" err="1" smtClean="0"/>
                        <a:t>dws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en-US" altLang="zh-CN" sz="1600" dirty="0" err="1" smtClean="0"/>
                        <a:t>dwd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en-US" altLang="zh-CN" sz="1600" dirty="0" err="1" smtClean="0"/>
                        <a:t>dm</a:t>
                      </a:r>
                      <a:r>
                        <a:rPr lang="en-US" altLang="zh-CN" sz="1600" dirty="0" smtClean="0"/>
                        <a:t>/dim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使用小写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7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来源系统名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域主题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根据实际业务场景来决定名称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使用小写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18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8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任务逻辑名称或主要表名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根据实际业务场景来决定名称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使用小写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调度任务流</a:t>
            </a:r>
            <a:r>
              <a:rPr lang="zh-CN" altLang="en-US" dirty="0" smtClean="0"/>
              <a:t>名称</a:t>
            </a:r>
            <a:r>
              <a:rPr lang="zh-CN" altLang="en-US" dirty="0"/>
              <a:t>（</a:t>
            </a:r>
            <a:r>
              <a:rPr lang="zh-CN" altLang="en-US" dirty="0" smtClean="0"/>
              <a:t>标准名称</a:t>
            </a:r>
            <a:r>
              <a:rPr lang="zh-CN" altLang="en-US" dirty="0" smtClean="0"/>
              <a:t>模板）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156" y="773322"/>
            <a:ext cx="5257800" cy="58755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/>
              <a:t>非</a:t>
            </a:r>
            <a:r>
              <a:rPr lang="zh-CN" altLang="en-US" dirty="0" smtClean="0"/>
              <a:t>调度任务流</a:t>
            </a:r>
            <a:r>
              <a:rPr lang="zh-CN" altLang="en-US" dirty="0" smtClean="0"/>
              <a:t>名称</a:t>
            </a:r>
            <a:r>
              <a:rPr lang="en-US" altLang="zh-CN" dirty="0" smtClean="0"/>
              <a:t>(</a:t>
            </a:r>
            <a:r>
              <a:rPr lang="zh-CN" altLang="en-US" dirty="0" smtClean="0"/>
              <a:t>标准名称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062" y="782649"/>
            <a:ext cx="4631634" cy="57244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64" y="1343676"/>
            <a:ext cx="11489635" cy="5345360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任务描述</a:t>
            </a:r>
            <a:r>
              <a:rPr lang="en-US" altLang="zh-CN" dirty="0" smtClean="0"/>
              <a:t>(</a:t>
            </a:r>
            <a:r>
              <a:rPr lang="zh-CN" altLang="en-US" dirty="0" smtClean="0"/>
              <a:t>增加开发相关信息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8964" y="795576"/>
            <a:ext cx="11797749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方便以后管理和处理异常，升级，变更等内容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364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数据源标准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1061" y="1136433"/>
          <a:ext cx="11765895" cy="4846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7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940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94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数据源</a:t>
                      </a:r>
                      <a:r>
                        <a:rPr lang="en-US" altLang="zh-CN" dirty="0" smtClean="0"/>
                        <a:t>(MES)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命名规范：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MES_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机种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_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工厂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_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数据库类型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_(_PRD/_TEST)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如果要区分</a:t>
                      </a:r>
                      <a:r>
                        <a:rPr lang="en-US" altLang="zh-CN" dirty="0" smtClean="0"/>
                        <a:t>PRD</a:t>
                      </a:r>
                      <a:r>
                        <a:rPr lang="zh-CN" altLang="en-US" dirty="0" smtClean="0"/>
                        <a:t>和</a:t>
                      </a:r>
                      <a:r>
                        <a:rPr lang="en-US" altLang="zh-CN" dirty="0" smtClean="0"/>
                        <a:t>TEST</a:t>
                      </a:r>
                      <a:r>
                        <a:rPr lang="zh-CN" altLang="en-US" dirty="0" smtClean="0"/>
                        <a:t>库，须要后面添加</a:t>
                      </a:r>
                      <a:r>
                        <a:rPr lang="en-US" altLang="zh-CN" dirty="0" smtClean="0"/>
                        <a:t>_PRD</a:t>
                      </a:r>
                      <a:r>
                        <a:rPr lang="zh-CN" altLang="en-US" baseline="0" dirty="0" smtClean="0"/>
                        <a:t> 和</a:t>
                      </a:r>
                      <a:r>
                        <a:rPr lang="en-US" altLang="zh-CN" baseline="0" dirty="0" smtClean="0"/>
                        <a:t> _TEST,</a:t>
                      </a:r>
                      <a:r>
                        <a:rPr lang="zh-CN" altLang="en-US" baseline="0" dirty="0" smtClean="0"/>
                        <a:t>如</a:t>
                      </a:r>
                      <a:r>
                        <a:rPr lang="en-US" altLang="zh-CN" baseline="0" dirty="0" smtClean="0"/>
                        <a:t>MES_X4_FATP_ORA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809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数据源</a:t>
                      </a:r>
                      <a:r>
                        <a:rPr lang="en-US" altLang="zh-CN" dirty="0" smtClean="0"/>
                        <a:t>(NON MES)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命名规范：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业务系统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_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数据库类型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_(_PRD/_TEST)</a:t>
                      </a:r>
                    </a:p>
                    <a:p>
                      <a:endParaRPr lang="en-US" altLang="zh-CN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endParaRPr lang="en-US" altLang="zh-CN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如果要区分</a:t>
                      </a:r>
                      <a:r>
                        <a:rPr lang="en-US" altLang="zh-CN" dirty="0" smtClean="0"/>
                        <a:t>PRD</a:t>
                      </a:r>
                      <a:r>
                        <a:rPr lang="zh-CN" altLang="en-US" dirty="0" smtClean="0"/>
                        <a:t>和</a:t>
                      </a:r>
                      <a:r>
                        <a:rPr lang="en-US" altLang="zh-CN" dirty="0" smtClean="0"/>
                        <a:t>TEST</a:t>
                      </a:r>
                      <a:r>
                        <a:rPr lang="zh-CN" altLang="en-US" dirty="0" smtClean="0"/>
                        <a:t>库，须要后面添加</a:t>
                      </a:r>
                      <a:r>
                        <a:rPr lang="en-US" altLang="zh-CN" dirty="0" smtClean="0"/>
                        <a:t>_PRD</a:t>
                      </a:r>
                      <a:r>
                        <a:rPr lang="zh-CN" altLang="en-US" baseline="0" dirty="0" smtClean="0"/>
                        <a:t> </a:t>
                      </a:r>
                      <a:r>
                        <a:rPr lang="en-US" altLang="zh-CN" baseline="0" dirty="0" smtClean="0"/>
                        <a:t>and _TEST</a:t>
                      </a: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数仓层级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1366" y="649718"/>
          <a:ext cx="11896825" cy="6127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8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8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9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5898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03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业务系统源表</a:t>
                      </a:r>
                      <a:r>
                        <a:rPr lang="en-US" altLang="zh-CN" dirty="0" smtClean="0"/>
                        <a:t>(ODS)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命名规范：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1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ODS+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系统名称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原表名称</a:t>
                      </a:r>
                      <a:endParaRPr lang="en-US" altLang="zh-CN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增加固定栏位：数据同步时间，同步</a:t>
                      </a:r>
                      <a:r>
                        <a:rPr lang="en-US" altLang="zh-CN" dirty="0" smtClean="0"/>
                        <a:t>AP</a:t>
                      </a:r>
                      <a:r>
                        <a:rPr lang="zh-CN" altLang="en-US" dirty="0" smtClean="0"/>
                        <a:t>名称，核对数据一致性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 </a:t>
                      </a:r>
                      <a:r>
                        <a:rPr lang="zh-CN" altLang="en-US" dirty="0" smtClean="0"/>
                        <a:t>原表要求提供数据业务时间，</a:t>
                      </a:r>
                      <a:r>
                        <a:rPr lang="en-US" altLang="zh-CN" dirty="0" smtClean="0"/>
                        <a:t>ROW</a:t>
                      </a:r>
                      <a:r>
                        <a:rPr lang="en-US" altLang="zh-CN" baseline="0" dirty="0" smtClean="0"/>
                        <a:t> ID</a:t>
                      </a:r>
                      <a:r>
                        <a:rPr lang="zh-CN" altLang="en-US" baseline="0" dirty="0" smtClean="0"/>
                        <a:t>或交易</a:t>
                      </a:r>
                      <a:r>
                        <a:rPr lang="en-US" altLang="zh-CN" baseline="0" dirty="0" smtClean="0"/>
                        <a:t>ID(</a:t>
                      </a:r>
                      <a:r>
                        <a:rPr lang="zh-CN" altLang="en-US" baseline="0" dirty="0" smtClean="0"/>
                        <a:t>此处根据业务场景来决定</a:t>
                      </a:r>
                      <a:r>
                        <a:rPr lang="en-US" altLang="zh-CN" baseline="0" dirty="0" smtClean="0"/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增加数据落库的资料如</a:t>
                      </a:r>
                      <a:r>
                        <a:rPr lang="en-US" altLang="zh-CN" baseline="0" dirty="0" smtClean="0"/>
                        <a:t>(</a:t>
                      </a:r>
                      <a:r>
                        <a:rPr lang="zh-CN" altLang="en-US" baseline="0" dirty="0" smtClean="0"/>
                        <a:t>方便数据追踪和异常处理</a:t>
                      </a:r>
                      <a:r>
                        <a:rPr lang="en-US" altLang="zh-CN" baseline="0" dirty="0" smtClean="0"/>
                        <a:t>)</a:t>
                      </a:r>
                      <a:r>
                        <a:rPr lang="zh-CN" altLang="en-US" baseline="0" dirty="0" smtClean="0"/>
                        <a:t>：</a:t>
                      </a:r>
                      <a:r>
                        <a:rPr lang="en-US" altLang="zh-CN" dirty="0" err="1" smtClean="0">
                          <a:solidFill>
                            <a:srgbClr val="FF0000"/>
                          </a:solidFill>
                        </a:rPr>
                        <a:t>create_by,create_time,upate_by,update_time,remark</a:t>
                      </a:r>
                      <a:endParaRPr lang="en-US" altLang="zh-CN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0957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数据明细表</a:t>
                      </a:r>
                      <a:r>
                        <a:rPr lang="en-US" altLang="zh-CN" dirty="0" smtClean="0"/>
                        <a:t>(DWD)</a:t>
                      </a:r>
                      <a:endParaRPr lang="zh-CN" altLang="en-US" dirty="0"/>
                    </a:p>
                    <a:p>
                      <a:pPr algn="ctr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1 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DWD+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模块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系统名称，功能</a:t>
                      </a:r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)+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统计维度</a:t>
                      </a:r>
                      <a:endParaRPr lang="en-US" altLang="zh-CN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4 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要写明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PK,UK,FK(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可以无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),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索引等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确保资料逻辑严谨性</a:t>
                      </a:r>
                      <a:endParaRPr lang="en-US" altLang="zh-CN" baseline="0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5 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大表要建立分区表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dirty="0" smtClean="0"/>
                        <a:t>此层表名根据业务场景来决定，可有可无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854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明细表一般定义标准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>
                          <a:solidFill>
                            <a:srgbClr val="FF0000"/>
                          </a:solidFill>
                        </a:rPr>
                        <a:t>根据业务场景决定</a:t>
                      </a:r>
                      <a:r>
                        <a:rPr lang="en-US" altLang="zh-CN" dirty="0" smtClean="0"/>
                        <a:t>)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zh-CN" altLang="en-US" dirty="0" smtClean="0"/>
                        <a:t>时间维度： 小时，分钟为明细天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dirty="0" smtClean="0"/>
                        <a:t>天及以上为汇总报表</a:t>
                      </a:r>
                      <a:endParaRPr lang="en-US" altLang="zh-CN" dirty="0" smtClean="0"/>
                    </a:p>
                    <a:p>
                      <a:pPr marL="342900" indent="-342900">
                        <a:buAutoNum type="arabicPeriod"/>
                      </a:pPr>
                      <a:r>
                        <a:rPr lang="zh-CN" altLang="en-US" dirty="0" smtClean="0"/>
                        <a:t>生产维护： </a:t>
                      </a:r>
                      <a:r>
                        <a:rPr lang="zh-CN" altLang="en-US" baseline="0" dirty="0" smtClean="0"/>
                        <a:t> 站别，工位为明细表</a:t>
                      </a:r>
                      <a:endParaRPr lang="en-US" altLang="zh-CN" baseline="0" dirty="0" smtClean="0"/>
                    </a:p>
                    <a:p>
                      <a:pPr marL="342900" indent="-342900">
                        <a:buAutoNum type="arabicPeriod"/>
                      </a:pPr>
                      <a:r>
                        <a:rPr lang="zh-CN" altLang="en-US" baseline="0" dirty="0" smtClean="0"/>
                        <a:t>组织维度： 个人为明细，课级以上为汇总表</a:t>
                      </a:r>
                      <a:endParaRPr lang="en-US" altLang="zh-CN" baseline="0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数仓层级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82928" y="967768"/>
          <a:ext cx="11817577" cy="5125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8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673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4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数据汇总层</a:t>
                      </a:r>
                      <a:r>
                        <a:rPr lang="en-US" altLang="zh-CN" dirty="0" smtClean="0"/>
                        <a:t>(DWS)</a:t>
                      </a:r>
                      <a:endParaRPr lang="zh-CN" altLang="en-US" dirty="0"/>
                    </a:p>
                    <a:p>
                      <a:pPr algn="ctr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1 DWS+</a:t>
                      </a:r>
                      <a:r>
                        <a:rPr lang="zh-CN" altLang="en-US" dirty="0" smtClean="0"/>
                        <a:t>模块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功能</a:t>
                      </a:r>
                      <a:r>
                        <a:rPr lang="en-US" altLang="zh-CN" dirty="0" smtClean="0"/>
                        <a:t>)+</a:t>
                      </a:r>
                      <a:r>
                        <a:rPr lang="zh-CN" altLang="en-US" dirty="0" smtClean="0"/>
                        <a:t>统计维度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要写明</a:t>
                      </a:r>
                      <a:r>
                        <a:rPr lang="en-US" altLang="zh-CN" baseline="0" dirty="0" smtClean="0"/>
                        <a:t>PK,UK,FK(</a:t>
                      </a:r>
                      <a:r>
                        <a:rPr lang="zh-CN" altLang="en-US" baseline="0" dirty="0" smtClean="0"/>
                        <a:t>可以无</a:t>
                      </a:r>
                      <a:r>
                        <a:rPr lang="en-US" altLang="zh-CN" baseline="0" dirty="0" smtClean="0"/>
                        <a:t>),</a:t>
                      </a:r>
                      <a:r>
                        <a:rPr lang="zh-CN" altLang="en-US" baseline="0" dirty="0" smtClean="0"/>
                        <a:t>索引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rgbClr val="C00000"/>
                          </a:solidFill>
                        </a:rPr>
                        <a:t>这层表是必须的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384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数据应用层</a:t>
                      </a:r>
                      <a:r>
                        <a:rPr lang="en-US" altLang="zh-CN" dirty="0" smtClean="0"/>
                        <a:t>(ADS)</a:t>
                      </a:r>
                      <a:endParaRPr lang="zh-CN" altLang="en-US" dirty="0"/>
                    </a:p>
                    <a:p>
                      <a:pPr algn="ctr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1 ADS+</a:t>
                      </a:r>
                      <a:r>
                        <a:rPr lang="zh-CN" altLang="en-US" dirty="0" smtClean="0"/>
                        <a:t>模块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功能</a:t>
                      </a:r>
                      <a:r>
                        <a:rPr lang="en-US" altLang="zh-CN" dirty="0" smtClean="0"/>
                        <a:t>)+</a:t>
                      </a:r>
                      <a:r>
                        <a:rPr lang="zh-CN" altLang="en-US" dirty="0" smtClean="0"/>
                        <a:t>统计维度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要写明</a:t>
                      </a:r>
                      <a:r>
                        <a:rPr lang="en-US" altLang="zh-CN" baseline="0" dirty="0" smtClean="0"/>
                        <a:t>PK,UK,FK(</a:t>
                      </a:r>
                      <a:r>
                        <a:rPr lang="zh-CN" altLang="en-US" baseline="0" dirty="0" smtClean="0"/>
                        <a:t>可以无），索引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5.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此层业务场景使用决定，可有可无，也可以使用</a:t>
                      </a:r>
                      <a:r>
                        <a:rPr lang="en-US" altLang="zh-CN" baseline="0" dirty="0" smtClean="0">
                          <a:solidFill>
                            <a:srgbClr val="FF0000"/>
                          </a:solidFill>
                        </a:rPr>
                        <a:t>View</a:t>
                      </a:r>
                      <a:r>
                        <a:rPr lang="zh-CN" altLang="en-US" baseline="0" dirty="0" smtClean="0">
                          <a:solidFill>
                            <a:srgbClr val="FF0000"/>
                          </a:solidFill>
                        </a:rPr>
                        <a:t>来实现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这层表根据业务场景决定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>
                <a:sym typeface="+mn-ea"/>
              </a:rPr>
              <a:t>-</a:t>
            </a:r>
            <a:r>
              <a:rPr lang="zh-CN" altLang="en-US" dirty="0" smtClean="0">
                <a:sym typeface="+mn-ea"/>
              </a:rPr>
              <a:t>数仓层级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9210" y="679535"/>
          <a:ext cx="11827564" cy="5999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3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4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605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7557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数据集市层</a:t>
                      </a:r>
                      <a:r>
                        <a:rPr lang="en-US" altLang="zh-CN" dirty="0" smtClean="0"/>
                        <a:t>(DM)</a:t>
                      </a:r>
                      <a:endParaRPr lang="zh-CN" altLang="en-US" dirty="0"/>
                    </a:p>
                    <a:p>
                      <a:pPr algn="ctr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数据来自数据底座采用如下方式命名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 smtClean="0"/>
                        <a:t>1 DM+</a:t>
                      </a:r>
                      <a:r>
                        <a:rPr lang="zh-CN" altLang="en-US" dirty="0" smtClean="0"/>
                        <a:t>模块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功能</a:t>
                      </a:r>
                      <a:r>
                        <a:rPr lang="en-US" altLang="zh-CN" dirty="0" smtClean="0"/>
                        <a:t>)+</a:t>
                      </a:r>
                      <a:r>
                        <a:rPr lang="zh-CN" altLang="en-US" dirty="0" smtClean="0"/>
                        <a:t>统计维度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要写明</a:t>
                      </a:r>
                      <a:r>
                        <a:rPr lang="en-US" altLang="zh-CN" baseline="0" dirty="0" smtClean="0"/>
                        <a:t>PK,UK,FK(</a:t>
                      </a:r>
                      <a:r>
                        <a:rPr lang="zh-CN" altLang="en-US" baseline="0" dirty="0" smtClean="0"/>
                        <a:t>可以无</a:t>
                      </a:r>
                      <a:r>
                        <a:rPr lang="en-US" altLang="zh-CN" baseline="0" dirty="0" smtClean="0"/>
                        <a:t>),</a:t>
                      </a:r>
                      <a:r>
                        <a:rPr lang="zh-CN" altLang="en-US" baseline="0" dirty="0" smtClean="0"/>
                        <a:t>索引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595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数据来自数据底座以外的业务系统或</a:t>
                      </a:r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API</a:t>
                      </a:r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接口名称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 smtClean="0"/>
                        <a:t>1 DM+</a:t>
                      </a:r>
                      <a:r>
                        <a:rPr lang="zh-CN" altLang="en-US" dirty="0" smtClean="0"/>
                        <a:t>原业务系统</a:t>
                      </a:r>
                      <a:r>
                        <a:rPr lang="en-US" altLang="zh-CN" dirty="0" smtClean="0"/>
                        <a:t>+</a:t>
                      </a:r>
                      <a:r>
                        <a:rPr lang="zh-CN" altLang="en-US" dirty="0" smtClean="0"/>
                        <a:t>原系统表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视图</a:t>
                      </a:r>
                      <a:r>
                        <a:rPr lang="en-US" altLang="zh-CN" dirty="0" smtClean="0"/>
                        <a:t>/API</a:t>
                      </a:r>
                      <a:r>
                        <a:rPr lang="zh-CN" altLang="en-US" dirty="0" smtClean="0"/>
                        <a:t>接口名称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主表名称，业务数据名称）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要写明</a:t>
                      </a:r>
                      <a:r>
                        <a:rPr lang="en-US" altLang="zh-CN" baseline="0" dirty="0" smtClean="0"/>
                        <a:t>PK,UK,FK(</a:t>
                      </a:r>
                      <a:r>
                        <a:rPr lang="zh-CN" altLang="en-US" baseline="0" dirty="0" smtClean="0"/>
                        <a:t>可以无</a:t>
                      </a:r>
                      <a:r>
                        <a:rPr lang="en-US" altLang="zh-CN" baseline="0" dirty="0" smtClean="0"/>
                        <a:t>),</a:t>
                      </a:r>
                      <a:r>
                        <a:rPr lang="zh-CN" altLang="en-US" baseline="0" dirty="0" smtClean="0"/>
                        <a:t>索引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13" y="57527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数仓层级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9453" y="1534300"/>
          <a:ext cx="11946834" cy="3306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5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1002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5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数据维度</a:t>
                      </a:r>
                      <a:r>
                        <a:rPr lang="en-US" altLang="zh-CN" dirty="0" smtClean="0"/>
                        <a:t>(DIM)</a:t>
                      </a:r>
                      <a:endParaRPr lang="zh-CN" altLang="en-US" dirty="0"/>
                    </a:p>
                    <a:p>
                      <a:pPr algn="ctr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命名规范</a:t>
                      </a:r>
                      <a:endParaRPr lang="en-US" altLang="zh-CN" dirty="0" smtClean="0"/>
                    </a:p>
                    <a:p>
                      <a:r>
                        <a:rPr lang="zh-CN" altLang="en-US" b="1" dirty="0" smtClean="0">
                          <a:solidFill>
                            <a:srgbClr val="FF0000"/>
                          </a:solidFill>
                        </a:rPr>
                        <a:t>采用如下方式命名</a:t>
                      </a:r>
                      <a:endParaRPr lang="en-US" altLang="zh-CN" b="1" dirty="0" smtClean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dirty="0" smtClean="0"/>
                        <a:t>1 DIM+</a:t>
                      </a:r>
                      <a:r>
                        <a:rPr lang="zh-CN" altLang="en-US" dirty="0" smtClean="0"/>
                        <a:t>数据维度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增加固定栏位：</a:t>
                      </a:r>
                      <a:r>
                        <a:rPr lang="en-US" altLang="zh-CN" dirty="0" err="1" smtClean="0"/>
                        <a:t>create_by,create_time,upate_by,update_time,remark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3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填写表用途和栏位注解</a:t>
                      </a:r>
                      <a:endParaRPr lang="en-US" altLang="zh-CN" baseline="0" dirty="0" smtClean="0"/>
                    </a:p>
                    <a:p>
                      <a:r>
                        <a:rPr lang="en-US" altLang="zh-CN" baseline="0" dirty="0" smtClean="0"/>
                        <a:t>4 </a:t>
                      </a:r>
                      <a:r>
                        <a:rPr lang="zh-CN" altLang="en-US" baseline="0" dirty="0" smtClean="0"/>
                        <a:t>要写明</a:t>
                      </a:r>
                      <a:r>
                        <a:rPr lang="en-US" altLang="zh-CN" baseline="0" dirty="0" smtClean="0"/>
                        <a:t>PK,UK,FK(</a:t>
                      </a:r>
                      <a:r>
                        <a:rPr lang="zh-CN" altLang="en-US" baseline="0" dirty="0" smtClean="0"/>
                        <a:t>可以无</a:t>
                      </a:r>
                      <a:r>
                        <a:rPr lang="en-US" altLang="zh-CN" baseline="0" dirty="0" smtClean="0"/>
                        <a:t>),</a:t>
                      </a:r>
                      <a:r>
                        <a:rPr lang="zh-CN" altLang="en-US" baseline="0" dirty="0" smtClean="0"/>
                        <a:t>索引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940" y="0"/>
            <a:ext cx="9628742" cy="622008"/>
          </a:xfrm>
        </p:spPr>
        <p:txBody>
          <a:bodyPr/>
          <a:lstStyle/>
          <a:p>
            <a:r>
              <a:rPr lang="zh-CN" altLang="en-US" dirty="0" smtClean="0"/>
              <a:t>数据底座</a:t>
            </a:r>
            <a:r>
              <a:rPr lang="en-US" altLang="zh-CN" dirty="0" smtClean="0"/>
              <a:t>-</a:t>
            </a:r>
            <a:r>
              <a:rPr lang="zh-CN" altLang="en-US" dirty="0" smtClean="0"/>
              <a:t>命名实例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47777" y="846681"/>
          <a:ext cx="11737569" cy="567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6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3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8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184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业务系统原表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数据底座表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说明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范例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标准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822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ZTPP_MPS_HD </a:t>
                      </a:r>
                      <a:endParaRPr lang="zh-CN" altLang="en-US" dirty="0"/>
                    </a:p>
                    <a:p>
                      <a:pPr algn="l"/>
                      <a:r>
                        <a:rPr lang="zh-CN" altLang="en-US" dirty="0" smtClean="0"/>
                        <a:t>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 smtClean="0"/>
                        <a:t>ods_sap_ztpp_mps_hd</a:t>
                      </a:r>
                      <a:r>
                        <a:rPr lang="en-US" altLang="zh-CN" dirty="0" smtClean="0"/>
                        <a:t>   </a:t>
                      </a:r>
                      <a:r>
                        <a:rPr lang="zh-CN" altLang="en-US" dirty="0" smtClean="0"/>
                        <a:t>原表</a:t>
                      </a:r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CN" dirty="0" err="1" smtClean="0"/>
                        <a:t>dwd_mps</a:t>
                      </a:r>
                      <a:r>
                        <a:rPr lang="en-US" altLang="zh-CN" dirty="0" smtClean="0"/>
                        <a:t>  </a:t>
                      </a:r>
                      <a:r>
                        <a:rPr lang="zh-CN" altLang="en-US" dirty="0" smtClean="0"/>
                        <a:t>明细表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en-US" altLang="zh-CN" dirty="0" err="1" smtClean="0"/>
                        <a:t>dws_mps</a:t>
                      </a:r>
                      <a:r>
                        <a:rPr lang="en-US" altLang="zh-CN" baseline="0" dirty="0" smtClean="0"/>
                        <a:t>  </a:t>
                      </a:r>
                      <a:r>
                        <a:rPr lang="zh-CN" altLang="en-US" baseline="0" dirty="0" smtClean="0"/>
                        <a:t>汇总表</a:t>
                      </a:r>
                      <a:endParaRPr lang="en-US" altLang="zh-CN" baseline="0" dirty="0" smtClean="0"/>
                    </a:p>
                    <a:p>
                      <a:pPr algn="l"/>
                      <a:r>
                        <a:rPr lang="en-US" altLang="zh-CN" baseline="0" dirty="0" err="1" smtClean="0"/>
                        <a:t>dws_mps_summar_bymonth</a:t>
                      </a:r>
                      <a:r>
                        <a:rPr lang="en-US" altLang="zh-CN" baseline="0" dirty="0" smtClean="0"/>
                        <a:t>   BY </a:t>
                      </a:r>
                      <a:r>
                        <a:rPr lang="zh-CN" altLang="en-US" baseline="0" dirty="0" smtClean="0"/>
                        <a:t>月汇总</a:t>
                      </a:r>
                      <a:endParaRPr lang="en-US" altLang="zh-CN" baseline="0" dirty="0" smtClean="0"/>
                    </a:p>
                    <a:p>
                      <a:pPr algn="l"/>
                      <a:r>
                        <a:rPr lang="en-US" altLang="zh-CN" baseline="0" dirty="0" err="1" smtClean="0"/>
                        <a:t>dws_mps_bymodel</a:t>
                      </a:r>
                      <a:r>
                        <a:rPr lang="en-US" altLang="zh-CN" baseline="0" dirty="0" smtClean="0"/>
                        <a:t>   BY </a:t>
                      </a:r>
                      <a:r>
                        <a:rPr lang="zh-CN" altLang="en-US" baseline="0" dirty="0" smtClean="0"/>
                        <a:t>机种</a:t>
                      </a:r>
                      <a:endParaRPr lang="en-US" altLang="zh-CN" baseline="0" dirty="0" smtClean="0"/>
                    </a:p>
                    <a:p>
                      <a:pPr algn="l"/>
                      <a:r>
                        <a:rPr lang="en-US" altLang="zh-CN" baseline="0" dirty="0" smtClean="0"/>
                        <a:t>APS_MPS  </a:t>
                      </a:r>
                      <a:r>
                        <a:rPr lang="zh-CN" altLang="en-US" baseline="0" dirty="0" smtClean="0"/>
                        <a:t>应用层</a:t>
                      </a:r>
                      <a:endParaRPr lang="en-US" altLang="zh-CN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105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ZTPP_MPS_ITEM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 smtClean="0"/>
                        <a:t>ods_sap_ztpp_mps_item</a:t>
                      </a:r>
                      <a:r>
                        <a:rPr lang="en-US" altLang="zh-CN" dirty="0" smtClean="0"/>
                        <a:t> </a:t>
                      </a:r>
                      <a:r>
                        <a:rPr lang="zh-CN" altLang="en-US" dirty="0" smtClean="0"/>
                        <a:t>原表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9136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标准维度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栏位名称）</a:t>
                      </a:r>
                      <a:endParaRPr lang="en-US" altLang="zh-CN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时间维度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dirty="0" smtClean="0"/>
                        <a:t>产品维度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品质维度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dirty="0" smtClean="0"/>
                        <a:t>组织维度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存货维度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dirty="0" smtClean="0"/>
                        <a:t>销售维度</a:t>
                      </a:r>
                      <a:endParaRPr lang="en-US" altLang="zh-CN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采购维度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dirty="0" smtClean="0"/>
                        <a:t>财务维度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1 </a:t>
                      </a:r>
                      <a:r>
                        <a:rPr lang="zh-CN" altLang="en-US" dirty="0" smtClean="0"/>
                        <a:t>参与</a:t>
                      </a:r>
                      <a:r>
                        <a:rPr lang="en-US" altLang="zh-CN" dirty="0" smtClean="0"/>
                        <a:t>MES</a:t>
                      </a:r>
                      <a:r>
                        <a:rPr lang="zh-CN" altLang="en-US" dirty="0" smtClean="0"/>
                        <a:t>中的标准维度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栏位名称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zh-CN" altLang="en-US" dirty="0" smtClean="0"/>
                        <a:t>栏位名称保持一致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符合数据库约定</a:t>
                      </a:r>
                      <a:r>
                        <a:rPr lang="zh-CN" altLang="en-US" baseline="0" dirty="0" smtClean="0"/>
                        <a:t>规则，</a:t>
                      </a:r>
                      <a:r>
                        <a:rPr lang="en-US" altLang="zh-CN" baseline="0" dirty="0" smtClean="0"/>
                        <a:t>oracle</a:t>
                      </a:r>
                      <a:r>
                        <a:rPr lang="zh-CN" altLang="en-US" baseline="0" dirty="0" smtClean="0"/>
                        <a:t>大写</a:t>
                      </a:r>
                      <a:r>
                        <a:rPr lang="en-US" altLang="zh-CN" baseline="0" dirty="0" smtClean="0"/>
                        <a:t>, </a:t>
                      </a:r>
                      <a:r>
                        <a:rPr lang="en-US" altLang="zh-CN" baseline="0" dirty="0" err="1" smtClean="0"/>
                        <a:t>postgresql</a:t>
                      </a:r>
                      <a:r>
                        <a:rPr lang="zh-CN" altLang="en-US" baseline="0" dirty="0" smtClean="0"/>
                        <a:t>小写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栏位名称定义</a:t>
                      </a:r>
                      <a:endParaRPr lang="en-US" altLang="zh-CN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采用英文单词全称，标准名词术语可用缩写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en-US" altLang="zh-CN" dirty="0" smtClean="0"/>
                        <a:t>2 </a:t>
                      </a:r>
                      <a:r>
                        <a:rPr lang="zh-CN" altLang="en-US" dirty="0" smtClean="0"/>
                        <a:t>英文单词之间用</a:t>
                      </a:r>
                      <a:r>
                        <a:rPr lang="en-US" altLang="zh-CN" dirty="0" smtClean="0"/>
                        <a:t>”_”</a:t>
                      </a:r>
                      <a:r>
                        <a:rPr lang="zh-CN" altLang="en-US" dirty="0" smtClean="0"/>
                        <a:t>来区分，</a:t>
                      </a:r>
                      <a:endParaRPr lang="en-US" altLang="zh-CN" dirty="0" smtClean="0"/>
                    </a:p>
                    <a:p>
                      <a:pPr algn="l"/>
                      <a:r>
                        <a:rPr lang="en-US" altLang="zh-CN" dirty="0" smtClean="0"/>
                        <a:t>3 </a:t>
                      </a:r>
                      <a:r>
                        <a:rPr lang="zh-CN" altLang="en-US" dirty="0" smtClean="0"/>
                        <a:t>添加表用途说明和栏位名称说明</a:t>
                      </a:r>
                      <a:endParaRPr lang="en-US" altLang="zh-CN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4736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数据表质理</a:t>
                      </a:r>
                      <a:endParaRPr lang="en-US" altLang="zh-CN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lang="zh-CN" altLang="en-US" dirty="0" smtClean="0">
                          <a:solidFill>
                            <a:srgbClr val="C00000"/>
                          </a:solidFill>
                        </a:rPr>
                        <a:t>定义主键</a:t>
                      </a:r>
                      <a:r>
                        <a:rPr lang="en-US" altLang="zh-CN" dirty="0" smtClean="0">
                          <a:solidFill>
                            <a:srgbClr val="C00000"/>
                          </a:solidFill>
                        </a:rPr>
                        <a:t>(PK)</a:t>
                      </a:r>
                      <a:r>
                        <a:rPr lang="zh-CN" altLang="en-US" dirty="0" smtClean="0">
                          <a:solidFill>
                            <a:srgbClr val="C00000"/>
                          </a:solidFill>
                        </a:rPr>
                        <a:t>，可以是联合主键，必须的</a:t>
                      </a:r>
                      <a:endParaRPr lang="en-US" altLang="zh-CN" dirty="0" smtClean="0">
                        <a:solidFill>
                          <a:srgbClr val="C00000"/>
                        </a:solidFill>
                      </a:endParaRP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定义唯一索引</a:t>
                      </a:r>
                      <a:r>
                        <a:rPr lang="en-US" altLang="zh-CN" baseline="0" dirty="0" smtClean="0"/>
                        <a:t>(UK),</a:t>
                      </a:r>
                      <a:r>
                        <a:rPr lang="zh-CN" altLang="en-US" baseline="0" dirty="0" smtClean="0"/>
                        <a:t>根据业务场景决定</a:t>
                      </a:r>
                      <a:endParaRPr lang="en-US" altLang="zh-CN" baseline="0" dirty="0" smtClean="0"/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baseline="0" dirty="0" smtClean="0"/>
                        <a:t>定义外键</a:t>
                      </a:r>
                      <a:r>
                        <a:rPr lang="en-US" altLang="zh-CN" baseline="0" dirty="0" smtClean="0"/>
                        <a:t>(FK),</a:t>
                      </a:r>
                      <a:r>
                        <a:rPr lang="zh-CN" altLang="en-US" baseline="0" dirty="0" smtClean="0"/>
                        <a:t>根据业务场景决定</a:t>
                      </a:r>
                      <a:endParaRPr lang="en-US" altLang="zh-CN" baseline="0" dirty="0" smtClean="0"/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zh-CN" altLang="en-US" baseline="0" dirty="0" smtClean="0"/>
                        <a:t>定义索引，根据业务场景决定</a:t>
                      </a:r>
                      <a:endParaRPr lang="en-US" altLang="zh-CN" baseline="0" dirty="0" smtClean="0"/>
                    </a:p>
                    <a:p>
                      <a:pPr marL="342900" indent="-342900" algn="l">
                        <a:buAutoNum type="arabicPeriod"/>
                      </a:pP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8"/>
          <p:cNvSpPr>
            <a:spLocks noGrp="1"/>
          </p:cNvSpPr>
          <p:nvPr>
            <p:ph type="title"/>
          </p:nvPr>
        </p:nvSpPr>
        <p:spPr>
          <a:xfrm>
            <a:off x="0" y="4090"/>
            <a:ext cx="10515600" cy="634335"/>
          </a:xfrm>
        </p:spPr>
        <p:txBody>
          <a:bodyPr>
            <a:normAutofit/>
          </a:bodyPr>
          <a:lstStyle/>
          <a:p>
            <a:r>
              <a:rPr kumimoji="1" lang="en-US" altLang="zh-TW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LUXSAN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TECH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  <a:sym typeface="Helvetica Neue"/>
              </a:rPr>
              <a:t>|</a:t>
            </a:r>
            <a:r>
              <a:rPr lang="zh-CN" altLang="en-US" sz="2800" kern="0" dirty="0">
                <a:solidFill>
                  <a:srgbClr val="FFFFFF">
                    <a:lumMod val="50000"/>
                  </a:srgb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solidFill>
                  <a:schemeClr val="bg1">
                    <a:lumMod val="65000"/>
                  </a:scheme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latin typeface="黑体" panose="02010609060101010101" pitchFamily="49" charset="-122"/>
                <a:ea typeface="黑体" panose="02010609060101010101" pitchFamily="49" charset="-122"/>
                <a:cs typeface="Helvetica Neue" panose="02000503000000020004" pitchFamily="2" charset="0"/>
                <a:sym typeface="Helvetica Neue"/>
              </a:rPr>
              <a:t>目录</a:t>
            </a:r>
            <a:endParaRPr kumimoji="1" lang="zh-TW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2142074" y="1221127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15665" y="1221127"/>
            <a:ext cx="5823752" cy="5835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</a:t>
            </a:r>
            <a:r>
              <a:rPr lang="zh-CN" altLang="en-US" dirty="0"/>
              <a:t>架构</a:t>
            </a:r>
          </a:p>
        </p:txBody>
      </p:sp>
      <p:sp>
        <p:nvSpPr>
          <p:cNvPr id="8" name="六边形 7"/>
          <p:cNvSpPr/>
          <p:nvPr/>
        </p:nvSpPr>
        <p:spPr>
          <a:xfrm>
            <a:off x="2142074" y="2238396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215665" y="2243539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数据底座规范</a:t>
            </a:r>
            <a:endParaRPr lang="zh-CN" altLang="en-US" dirty="0"/>
          </a:p>
        </p:txBody>
      </p:sp>
      <p:sp>
        <p:nvSpPr>
          <p:cNvPr id="10" name="六边形 9"/>
          <p:cNvSpPr/>
          <p:nvPr/>
        </p:nvSpPr>
        <p:spPr>
          <a:xfrm>
            <a:off x="2142074" y="339911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215665" y="3399115"/>
            <a:ext cx="5823752" cy="5835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数据计算和分析流程</a:t>
            </a:r>
          </a:p>
        </p:txBody>
      </p:sp>
      <p:sp>
        <p:nvSpPr>
          <p:cNvPr id="12" name="六边形 11"/>
          <p:cNvSpPr/>
          <p:nvPr/>
        </p:nvSpPr>
        <p:spPr>
          <a:xfrm>
            <a:off x="2142074" y="443040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15665" y="43416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数据应用层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8"/>
          <p:cNvSpPr>
            <a:spLocks noGrp="1"/>
          </p:cNvSpPr>
          <p:nvPr>
            <p:ph type="title"/>
          </p:nvPr>
        </p:nvSpPr>
        <p:spPr>
          <a:xfrm>
            <a:off x="0" y="4090"/>
            <a:ext cx="10515600" cy="63433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ym typeface="Helvetica Neue"/>
              </a:rPr>
              <a:t>数据计算和分析流程</a:t>
            </a:r>
            <a:endParaRPr lang="zh-TW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147" y="710970"/>
            <a:ext cx="1507367" cy="11215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5" y="732246"/>
            <a:ext cx="1507367" cy="100358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05165" y="1735835"/>
            <a:ext cx="1507367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原</a:t>
            </a:r>
            <a:r>
              <a:rPr lang="zh-CN" altLang="en-US" sz="1600" dirty="0" smtClean="0"/>
              <a:t>数据</a:t>
            </a:r>
            <a:endParaRPr lang="zh-CN" altLang="en-US" sz="1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304146" y="1832567"/>
            <a:ext cx="1507367" cy="3077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数据处理和计算</a:t>
            </a:r>
            <a:endParaRPr lang="zh-CN" altLang="en-US" sz="1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458" y="732246"/>
            <a:ext cx="1281305" cy="104274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519675" y="1832567"/>
            <a:ext cx="2528214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维度和指标</a:t>
            </a:r>
            <a:r>
              <a:rPr lang="en-US" altLang="zh-CN" sz="1600" dirty="0" smtClean="0"/>
              <a:t>(</a:t>
            </a:r>
            <a:r>
              <a:rPr lang="zh-CN" altLang="en-US" sz="1600" dirty="0" smtClean="0"/>
              <a:t>中间表）</a:t>
            </a:r>
            <a:endParaRPr lang="zh-CN" altLang="en-US" sz="1600" dirty="0"/>
          </a:p>
        </p:txBody>
      </p:sp>
      <p:grpSp>
        <p:nvGrpSpPr>
          <p:cNvPr id="13" name="组合 12"/>
          <p:cNvGrpSpPr/>
          <p:nvPr/>
        </p:nvGrpSpPr>
        <p:grpSpPr>
          <a:xfrm>
            <a:off x="7481455" y="3162063"/>
            <a:ext cx="2604654" cy="406400"/>
            <a:chOff x="7481455" y="3162063"/>
            <a:chExt cx="2604654" cy="406400"/>
          </a:xfrm>
        </p:grpSpPr>
        <p:sp>
          <p:nvSpPr>
            <p:cNvPr id="9" name="流程图: 过程 8"/>
            <p:cNvSpPr/>
            <p:nvPr/>
          </p:nvSpPr>
          <p:spPr>
            <a:xfrm>
              <a:off x="7481455" y="3162063"/>
              <a:ext cx="2604654" cy="406400"/>
            </a:xfrm>
            <a:prstGeom prst="flowChartProcess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7853458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8264476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675494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9107053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94762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98318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7481455" y="3568463"/>
            <a:ext cx="2604654" cy="406400"/>
            <a:chOff x="7481455" y="3162063"/>
            <a:chExt cx="2604654" cy="406400"/>
          </a:xfrm>
        </p:grpSpPr>
        <p:sp>
          <p:nvSpPr>
            <p:cNvPr id="27" name="流程图: 过程 26"/>
            <p:cNvSpPr/>
            <p:nvPr/>
          </p:nvSpPr>
          <p:spPr>
            <a:xfrm>
              <a:off x="7481455" y="3162063"/>
              <a:ext cx="2604654" cy="406400"/>
            </a:xfrm>
            <a:prstGeom prst="flowChartProcess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7853458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264476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8675494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9107053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94762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98318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7481455" y="3974863"/>
            <a:ext cx="2604654" cy="406400"/>
            <a:chOff x="7481455" y="3162063"/>
            <a:chExt cx="2604654" cy="406400"/>
          </a:xfrm>
        </p:grpSpPr>
        <p:sp>
          <p:nvSpPr>
            <p:cNvPr id="35" name="流程图: 过程 34"/>
            <p:cNvSpPr/>
            <p:nvPr/>
          </p:nvSpPr>
          <p:spPr>
            <a:xfrm>
              <a:off x="7481455" y="3162063"/>
              <a:ext cx="2604654" cy="406400"/>
            </a:xfrm>
            <a:prstGeom prst="flowChartProcess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7853458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8264476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8675494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9107053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94762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9831880" y="3162063"/>
              <a:ext cx="0" cy="406400"/>
            </a:xfrm>
            <a:prstGeom prst="line">
              <a:avLst/>
            </a:prstGeom>
            <a:ln w="63500">
              <a:solidFill>
                <a:srgbClr val="FBFBFC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右箭头 15"/>
          <p:cNvSpPr/>
          <p:nvPr/>
        </p:nvSpPr>
        <p:spPr>
          <a:xfrm>
            <a:off x="2493818" y="1222275"/>
            <a:ext cx="1810328" cy="27709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/>
        </p:nvSpPr>
        <p:spPr>
          <a:xfrm>
            <a:off x="5927322" y="1133222"/>
            <a:ext cx="1810328" cy="27709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/>
          <p:cNvCxnSpPr/>
          <p:nvPr/>
        </p:nvCxnSpPr>
        <p:spPr>
          <a:xfrm flipH="1">
            <a:off x="7737650" y="2246853"/>
            <a:ext cx="903094" cy="793812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8640743" y="2292519"/>
            <a:ext cx="0" cy="748146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8640743" y="2266711"/>
            <a:ext cx="1038966" cy="799762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7481455" y="4451572"/>
            <a:ext cx="2604654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/>
              <a:t>最终业务应用表</a:t>
            </a:r>
            <a:r>
              <a:rPr lang="en-US" altLang="zh-CN" sz="1600" dirty="0" smtClean="0"/>
              <a:t>(</a:t>
            </a:r>
            <a:r>
              <a:rPr lang="zh-CN" altLang="en-US" sz="1600" dirty="0" smtClean="0"/>
              <a:t>多维度）</a:t>
            </a:r>
            <a:endParaRPr lang="zh-CN" altLang="en-US" sz="1600" dirty="0"/>
          </a:p>
        </p:txBody>
      </p:sp>
      <p:sp>
        <p:nvSpPr>
          <p:cNvPr id="58" name="右箭头 57"/>
          <p:cNvSpPr/>
          <p:nvPr/>
        </p:nvSpPr>
        <p:spPr>
          <a:xfrm rot="5400000">
            <a:off x="4637034" y="2339535"/>
            <a:ext cx="578591" cy="2286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7034" y="2772754"/>
            <a:ext cx="1261460" cy="896276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4224080" y="3698654"/>
            <a:ext cx="1703242" cy="3077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数据计算监控看板</a:t>
            </a:r>
            <a:endParaRPr lang="zh-CN" altLang="en-US" sz="1400" dirty="0"/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693" y="2576668"/>
            <a:ext cx="1233511" cy="1275874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1036130" y="3820974"/>
            <a:ext cx="1507367" cy="3077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人为处理异常</a:t>
            </a:r>
            <a:endParaRPr lang="zh-CN" altLang="en-US" sz="1400" dirty="0"/>
          </a:p>
        </p:txBody>
      </p:sp>
      <p:sp>
        <p:nvSpPr>
          <p:cNvPr id="63" name="右箭头 62"/>
          <p:cNvSpPr/>
          <p:nvPr/>
        </p:nvSpPr>
        <p:spPr>
          <a:xfrm rot="10800000">
            <a:off x="2423478" y="3123466"/>
            <a:ext cx="1810328" cy="27709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507" y="5155001"/>
            <a:ext cx="1617974" cy="1308345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7800384" y="6463346"/>
            <a:ext cx="1750220" cy="3077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前端业务应用</a:t>
            </a:r>
            <a:endParaRPr lang="zh-CN" altLang="en-US" sz="1400" dirty="0"/>
          </a:p>
        </p:txBody>
      </p:sp>
      <p:sp>
        <p:nvSpPr>
          <p:cNvPr id="66" name="右箭头 65"/>
          <p:cNvSpPr/>
          <p:nvPr/>
        </p:nvSpPr>
        <p:spPr>
          <a:xfrm rot="5400000">
            <a:off x="8465748" y="4967450"/>
            <a:ext cx="578591" cy="22860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肘形连接符 6"/>
          <p:cNvCxnSpPr>
            <a:stCxn id="4" idx="1"/>
          </p:cNvCxnSpPr>
          <p:nvPr/>
        </p:nvCxnSpPr>
        <p:spPr>
          <a:xfrm rot="10800000" flipH="1" flipV="1">
            <a:off x="905164" y="1234041"/>
            <a:ext cx="6948293" cy="4813190"/>
          </a:xfrm>
          <a:prstGeom prst="bentConnector3">
            <a:avLst>
              <a:gd name="adj1" fmla="val -8379"/>
            </a:avLst>
          </a:prstGeom>
          <a:ln w="9842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Helvetica Neue"/>
              </a:rPr>
              <a:t>数据底座</a:t>
            </a:r>
            <a:r>
              <a:rPr lang="en-US" altLang="zh-CN" dirty="0">
                <a:sym typeface="Helvetica Neue"/>
              </a:rPr>
              <a:t>-</a:t>
            </a:r>
            <a:r>
              <a:rPr lang="zh-CN" altLang="en-US" dirty="0">
                <a:sym typeface="Helvetica Neue"/>
              </a:rPr>
              <a:t>计算框架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7320" y="1589405"/>
          <a:ext cx="11875770" cy="4672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9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739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DATAX</a:t>
                      </a:r>
                      <a:r>
                        <a:rPr lang="zh-CN" altLang="en-US" sz="1600" dirty="0" smtClean="0"/>
                        <a:t>任务流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底座平台</a:t>
                      </a:r>
                      <a:r>
                        <a:rPr lang="en-US" altLang="zh-CN" sz="1600" dirty="0" smtClean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 dirty="0" smtClean="0"/>
                        <a:t>计算和处理简单的数据任务，包括DWD，DWS，DM等层的数据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53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2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 </a:t>
                      </a:r>
                      <a:r>
                        <a:rPr lang="en-US" altLang="zh-CN" sz="1600" dirty="0" smtClean="0"/>
                        <a:t>Python(</a:t>
                      </a:r>
                      <a:r>
                        <a:rPr lang="zh-CN" altLang="en-US" sz="1600" dirty="0" smtClean="0"/>
                        <a:t>外挂计算程序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 smtClean="0"/>
                    </a:p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根据非常复杂的数据处理和计算的业务逻辑，平台实现不了的，使用外挂</a:t>
                      </a:r>
                      <a:r>
                        <a:rPr lang="en-US" altLang="zh-CN" sz="1600" dirty="0" smtClean="0"/>
                        <a:t>Python</a:t>
                      </a:r>
                      <a:r>
                        <a:rPr lang="zh-CN" altLang="en-US" sz="1600" dirty="0" smtClean="0"/>
                        <a:t>程序处理和计算数据，处理</a:t>
                      </a:r>
                      <a:r>
                        <a:rPr lang="zh-CN" altLang="en-US" sz="1600" dirty="0">
                          <a:sym typeface="+mn-ea"/>
                        </a:rPr>
                        <a:t>离线数仓处理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离线数仓处理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3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3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AirFlow(</a:t>
                      </a:r>
                      <a:r>
                        <a:rPr lang="zh-CN" altLang="en-US" sz="1600" dirty="0"/>
                        <a:t>外挂调度</a:t>
                      </a:r>
                      <a:r>
                        <a:rPr lang="en-US" altLang="zh-CN" sz="16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用于外挂的</a:t>
                      </a:r>
                      <a:r>
                        <a:rPr lang="en-US" altLang="zh-CN" sz="1600" dirty="0"/>
                        <a:t>Python</a:t>
                      </a:r>
                      <a:r>
                        <a:rPr lang="zh-CN" altLang="en-US" sz="1600" dirty="0"/>
                        <a:t>程序任务的流程，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 </a:t>
                      </a:r>
                      <a:r>
                        <a:rPr lang="zh-CN" altLang="en-US" sz="1600" dirty="0">
                          <a:sym typeface="+mn-ea"/>
                        </a:rPr>
                        <a:t>离线数仓处理</a:t>
                      </a:r>
                      <a:endParaRPr lang="zh-CN" altLang="en-US" sz="1600" dirty="0"/>
                    </a:p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3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4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Kafka</a:t>
                      </a:r>
                      <a:r>
                        <a:rPr lang="en-US" altLang="zh-CN" sz="1600" dirty="0" smtClean="0">
                          <a:sym typeface="+mn-ea"/>
                        </a:rPr>
                        <a:t>(</a:t>
                      </a:r>
                      <a:r>
                        <a:rPr lang="zh-CN" altLang="en-US" sz="1600" dirty="0" smtClean="0">
                          <a:sym typeface="+mn-ea"/>
                        </a:rPr>
                        <a:t>底座平台</a:t>
                      </a:r>
                      <a:r>
                        <a:rPr lang="en-US" altLang="zh-CN" sz="1600" dirty="0" smtClean="0">
                          <a:sym typeface="+mn-ea"/>
                        </a:rPr>
                        <a:t>)</a:t>
                      </a:r>
                      <a:endParaRPr lang="en-US" altLang="zh-CN" sz="1600" dirty="0" smtClean="0"/>
                    </a:p>
                    <a:p>
                      <a:pPr algn="ctr"/>
                      <a:endParaRPr lang="en-US" altLang="zh-C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流式数据接收，处理，数据落地</a:t>
                      </a:r>
                      <a:endParaRPr lang="en-US" altLang="zh-C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/>
                        <a:t> 流式数据处理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73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5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Flink</a:t>
                      </a:r>
                      <a:r>
                        <a:rPr lang="en-US" altLang="zh-CN" sz="1600" dirty="0" smtClean="0">
                          <a:sym typeface="+mn-ea"/>
                        </a:rPr>
                        <a:t>(</a:t>
                      </a:r>
                      <a:r>
                        <a:rPr lang="zh-CN" altLang="en-US" sz="1600" dirty="0" smtClean="0">
                          <a:sym typeface="+mn-ea"/>
                        </a:rPr>
                        <a:t>底座平台</a:t>
                      </a:r>
                      <a:r>
                        <a:rPr lang="en-US" altLang="zh-CN" sz="1600" dirty="0" smtClean="0">
                          <a:sym typeface="+mn-ea"/>
                        </a:rPr>
                        <a:t>)</a:t>
                      </a:r>
                      <a:endParaRPr lang="en-US" altLang="zh-CN" sz="1600" dirty="0" smtClean="0"/>
                    </a:p>
                    <a:p>
                      <a:pPr algn="ctr"/>
                      <a:endParaRPr lang="en-US" altLang="zh-C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计算和处理流式数据处理和计算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 smtClean="0">
                          <a:sym typeface="+mn-ea"/>
                        </a:rPr>
                        <a:t>流式数据处理</a:t>
                      </a:r>
                      <a:endParaRPr lang="zh-CN" altLang="en-US" sz="1600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47409" y="918868"/>
            <a:ext cx="11973339" cy="3683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根据业务逻辑计算复杂使用不同的计算框架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8"/>
          <p:cNvSpPr>
            <a:spLocks noGrp="1"/>
          </p:cNvSpPr>
          <p:nvPr>
            <p:ph type="title"/>
          </p:nvPr>
        </p:nvSpPr>
        <p:spPr>
          <a:xfrm>
            <a:off x="0" y="4090"/>
            <a:ext cx="10515600" cy="634335"/>
          </a:xfrm>
        </p:spPr>
        <p:txBody>
          <a:bodyPr>
            <a:normAutofit/>
          </a:bodyPr>
          <a:lstStyle/>
          <a:p>
            <a:r>
              <a:rPr kumimoji="1" lang="en-US" altLang="zh-TW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LUXSAN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TECH</a:t>
            </a:r>
            <a:r>
              <a:rPr kumimoji="1" lang="zh-CN" altLang="en-US" sz="2800" kern="0" dirty="0">
                <a:solidFill>
                  <a:srgbClr val="00B0F0"/>
                </a:solidFill>
                <a:ea typeface="Tahoma" panose="020B0604030504040204" pitchFamily="34" charset="0"/>
                <a:cs typeface="Helvetica Neue" panose="02000503000000020004" pitchFamily="2" charset="0"/>
                <a:sym typeface="Helvetica Neue"/>
              </a:rPr>
              <a:t> </a:t>
            </a:r>
            <a:r>
              <a:rPr kumimoji="1" lang="en-US" altLang="zh-CN" sz="2800" kern="0" dirty="0">
                <a:solidFill>
                  <a:srgbClr val="00B0F0"/>
                </a:solidFill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  <a:sym typeface="Helvetica Neue"/>
              </a:rPr>
              <a:t>|</a:t>
            </a:r>
            <a:r>
              <a:rPr lang="zh-CN" altLang="en-US" sz="2800" kern="0" dirty="0">
                <a:solidFill>
                  <a:srgbClr val="FFFFFF">
                    <a:lumMod val="50000"/>
                  </a:srgb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solidFill>
                  <a:schemeClr val="bg1">
                    <a:lumMod val="65000"/>
                  </a:schemeClr>
                </a:solidFill>
                <a:ea typeface="PMingLiU" panose="02020500000000000000" charset="-120"/>
                <a:cs typeface="Helvetica Neue" panose="02000503000000020004" pitchFamily="2" charset="0"/>
                <a:sym typeface="Helvetica Neue"/>
              </a:rPr>
              <a:t> </a:t>
            </a:r>
            <a:r>
              <a:rPr lang="zh-CN" altLang="en-US" sz="2800" kern="0" dirty="0" smtClean="0">
                <a:latin typeface="黑体" panose="02010609060101010101" pitchFamily="49" charset="-122"/>
                <a:ea typeface="黑体" panose="02010609060101010101" pitchFamily="49" charset="-122"/>
                <a:cs typeface="Helvetica Neue" panose="02000503000000020004" pitchFamily="2" charset="0"/>
                <a:sym typeface="Helvetica Neue"/>
              </a:rPr>
              <a:t>目录</a:t>
            </a:r>
            <a:endParaRPr kumimoji="1" lang="zh-TW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六边形 1"/>
          <p:cNvSpPr/>
          <p:nvPr/>
        </p:nvSpPr>
        <p:spPr>
          <a:xfrm>
            <a:off x="2142074" y="1221127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215665" y="1221127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数据底座数据</a:t>
            </a:r>
            <a:r>
              <a:rPr lang="zh-CN" altLang="en-US" dirty="0"/>
              <a:t>架构</a:t>
            </a:r>
          </a:p>
        </p:txBody>
      </p:sp>
      <p:sp>
        <p:nvSpPr>
          <p:cNvPr id="8" name="六边形 7"/>
          <p:cNvSpPr/>
          <p:nvPr/>
        </p:nvSpPr>
        <p:spPr>
          <a:xfrm>
            <a:off x="2142074" y="2238396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3215665" y="2243539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数据底座规范</a:t>
            </a:r>
            <a:endParaRPr lang="zh-CN" altLang="en-US" dirty="0"/>
          </a:p>
        </p:txBody>
      </p:sp>
      <p:sp>
        <p:nvSpPr>
          <p:cNvPr id="10" name="六边形 9"/>
          <p:cNvSpPr/>
          <p:nvPr/>
        </p:nvSpPr>
        <p:spPr>
          <a:xfrm>
            <a:off x="2142074" y="339911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3215665" y="3399115"/>
            <a:ext cx="5823752" cy="58477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数据统计和分析流程</a:t>
            </a:r>
          </a:p>
        </p:txBody>
      </p:sp>
      <p:sp>
        <p:nvSpPr>
          <p:cNvPr id="12" name="六边形 11"/>
          <p:cNvSpPr/>
          <p:nvPr/>
        </p:nvSpPr>
        <p:spPr>
          <a:xfrm>
            <a:off x="2142074" y="4430405"/>
            <a:ext cx="745724" cy="589918"/>
          </a:xfrm>
          <a:prstGeom prst="hexag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15665" y="4341627"/>
            <a:ext cx="5823752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数据应用层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017227" cy="605413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数据底座</a:t>
            </a:r>
            <a:r>
              <a:rPr lang="en-US" altLang="zh-CN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应用访问</a:t>
            </a:r>
            <a:endParaRPr lang="zh-CN" altLang="en-US" sz="28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1247775" y="1538605"/>
            <a:ext cx="9922510" cy="4133850"/>
            <a:chOff x="735497" y="905679"/>
            <a:chExt cx="7087120" cy="2512972"/>
          </a:xfrm>
        </p:grpSpPr>
        <p:sp>
          <p:nvSpPr>
            <p:cNvPr id="4" name="圆柱形 3"/>
            <p:cNvSpPr/>
            <p:nvPr/>
          </p:nvSpPr>
          <p:spPr>
            <a:xfrm>
              <a:off x="735497" y="905679"/>
              <a:ext cx="894522" cy="775254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HIVE</a:t>
              </a:r>
              <a:endParaRPr lang="zh-CN" altLang="en-US" dirty="0"/>
            </a:p>
          </p:txBody>
        </p:sp>
        <p:sp>
          <p:nvSpPr>
            <p:cNvPr id="5" name="圆柱形 4"/>
            <p:cNvSpPr/>
            <p:nvPr/>
          </p:nvSpPr>
          <p:spPr>
            <a:xfrm>
              <a:off x="735497" y="2643397"/>
              <a:ext cx="894522" cy="775254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DORIS</a:t>
              </a:r>
              <a:endParaRPr lang="zh-CN" altLang="en-US" dirty="0"/>
            </a:p>
          </p:txBody>
        </p:sp>
        <p:cxnSp>
          <p:nvCxnSpPr>
            <p:cNvPr id="7" name="直接箭头连接符 6"/>
            <p:cNvCxnSpPr>
              <a:stCxn id="4" idx="3"/>
              <a:endCxn id="5" idx="1"/>
            </p:cNvCxnSpPr>
            <p:nvPr/>
          </p:nvCxnSpPr>
          <p:spPr>
            <a:xfrm>
              <a:off x="1182758" y="1680933"/>
              <a:ext cx="0" cy="96246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流程图: 过程 8"/>
            <p:cNvSpPr/>
            <p:nvPr/>
          </p:nvSpPr>
          <p:spPr>
            <a:xfrm>
              <a:off x="2929394" y="1024949"/>
              <a:ext cx="1343298" cy="536714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API</a:t>
              </a:r>
              <a:endParaRPr lang="zh-CN" altLang="en-US" dirty="0"/>
            </a:p>
          </p:txBody>
        </p:sp>
        <p:cxnSp>
          <p:nvCxnSpPr>
            <p:cNvPr id="15" name="直接箭头连接符 14"/>
            <p:cNvCxnSpPr>
              <a:stCxn id="5" idx="4"/>
              <a:endCxn id="9" idx="2"/>
            </p:cNvCxnSpPr>
            <p:nvPr/>
          </p:nvCxnSpPr>
          <p:spPr>
            <a:xfrm flipV="1">
              <a:off x="1630019" y="1561663"/>
              <a:ext cx="1971024" cy="146936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流程图: 可选过程 15"/>
            <p:cNvSpPr/>
            <p:nvPr/>
          </p:nvSpPr>
          <p:spPr>
            <a:xfrm>
              <a:off x="5407408" y="1024949"/>
              <a:ext cx="2415209" cy="536714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应用程序</a:t>
              </a:r>
              <a:r>
                <a:rPr lang="en-US" altLang="zh-CN" dirty="0" smtClean="0"/>
                <a:t>/</a:t>
              </a:r>
              <a:r>
                <a:rPr lang="zh-CN" altLang="en-US" dirty="0" smtClean="0"/>
                <a:t>其他平台</a:t>
              </a:r>
              <a:endParaRPr lang="zh-CN" altLang="en-US" dirty="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4355376" y="1284765"/>
              <a:ext cx="1052032" cy="993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流程图: 过程 20"/>
            <p:cNvSpPr/>
            <p:nvPr/>
          </p:nvSpPr>
          <p:spPr>
            <a:xfrm>
              <a:off x="2929394" y="2756452"/>
              <a:ext cx="1343298" cy="536714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Fine BI</a:t>
              </a:r>
              <a:endParaRPr lang="zh-CN" altLang="en-US" dirty="0"/>
            </a:p>
          </p:txBody>
        </p:sp>
        <p:cxnSp>
          <p:nvCxnSpPr>
            <p:cNvPr id="25" name="直接箭头连接符 24"/>
            <p:cNvCxnSpPr>
              <a:stCxn id="5" idx="4"/>
              <a:endCxn id="21" idx="1"/>
            </p:cNvCxnSpPr>
            <p:nvPr/>
          </p:nvCxnSpPr>
          <p:spPr>
            <a:xfrm flipV="1">
              <a:off x="1630019" y="3024809"/>
              <a:ext cx="1299375" cy="62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4355376" y="3031024"/>
              <a:ext cx="1052032" cy="993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流程图: 可选过程 27"/>
            <p:cNvSpPr/>
            <p:nvPr/>
          </p:nvSpPr>
          <p:spPr>
            <a:xfrm>
              <a:off x="5407407" y="2731771"/>
              <a:ext cx="2415209" cy="536714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呈现用户</a:t>
              </a:r>
              <a:endParaRPr lang="zh-CN" altLang="en-US" dirty="0"/>
            </a:p>
          </p:txBody>
        </p:sp>
        <p:cxnSp>
          <p:nvCxnSpPr>
            <p:cNvPr id="30" name="直接箭头连接符 29"/>
            <p:cNvCxnSpPr/>
            <p:nvPr/>
          </p:nvCxnSpPr>
          <p:spPr>
            <a:xfrm>
              <a:off x="1766847" y="1293306"/>
              <a:ext cx="102571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017227" cy="605413"/>
          </a:xfrm>
        </p:spPr>
        <p:txBody>
          <a:bodyPr>
            <a:normAutofit/>
          </a:bodyPr>
          <a:lstStyle/>
          <a:p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数据底座</a:t>
            </a:r>
            <a:r>
              <a:rPr lang="en-US" altLang="zh-CN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应用层</a:t>
            </a:r>
            <a:endParaRPr lang="zh-CN" altLang="en-US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18324" y="1909997"/>
          <a:ext cx="11977598" cy="3327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9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302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内容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490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1. </a:t>
                      </a:r>
                      <a:r>
                        <a:rPr lang="zh-CN" altLang="en-US" dirty="0" smtClean="0"/>
                        <a:t>前端业务使用数据时，登记注册制度，什么系统使用了什么数据（</a:t>
                      </a:r>
                      <a:r>
                        <a:rPr lang="zh-CN" altLang="en-US" dirty="0" smtClean="0">
                          <a:solidFill>
                            <a:srgbClr val="C00000"/>
                          </a:solidFill>
                        </a:rPr>
                        <a:t>特别敏感数据</a:t>
                      </a:r>
                      <a:r>
                        <a:rPr lang="en-US" altLang="zh-CN" dirty="0" smtClean="0"/>
                        <a:t>)</a:t>
                      </a:r>
                      <a:r>
                        <a:rPr lang="zh-CN" altLang="en-US" dirty="0" smtClean="0"/>
                        <a:t>，责任人是谁，减少重复的开发成本</a:t>
                      </a:r>
                      <a:endParaRPr lang="en-US" altLang="zh-CN" dirty="0" smtClean="0"/>
                    </a:p>
                    <a:p>
                      <a:r>
                        <a:rPr lang="en-US" altLang="zh-CN" dirty="0" smtClean="0"/>
                        <a:t>2. </a:t>
                      </a:r>
                      <a:r>
                        <a:rPr lang="zh-CN" altLang="en-US" dirty="0" smtClean="0"/>
                        <a:t>方便后期在升级时，评估影响风险和范围，通知相关责任人，确保数据安全性</a:t>
                      </a:r>
                      <a:endParaRPr lang="en-US" altLang="zh-CN" dirty="0" smtClean="0"/>
                    </a:p>
                    <a:p>
                      <a:pPr marL="0" indent="0">
                        <a:buNone/>
                      </a:pPr>
                      <a:r>
                        <a:rPr lang="en-US" altLang="zh-CN" baseline="0" dirty="0" smtClean="0"/>
                        <a:t>3. </a:t>
                      </a:r>
                      <a:r>
                        <a:rPr lang="zh-CN" altLang="en-US" baseline="0" dirty="0" smtClean="0"/>
                        <a:t>目的是确认数据在同一维度上，同一区间的数据一致性和准确性</a:t>
                      </a:r>
                      <a:endParaRPr lang="en-US" altLang="zh-CN" baseline="0" dirty="0" smtClean="0"/>
                    </a:p>
                    <a:p>
                      <a:pPr marL="0" indent="0">
                        <a:buNone/>
                      </a:pPr>
                      <a:r>
                        <a:rPr lang="en-US" altLang="zh-CN" baseline="0" dirty="0" smtClean="0"/>
                        <a:t>4. </a:t>
                      </a:r>
                      <a:r>
                        <a:rPr lang="zh-CN" altLang="en-US" baseline="0" dirty="0" smtClean="0"/>
                        <a:t>减少数据异常，提高用户满意度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249953" y="2581908"/>
            <a:ext cx="2429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Helvetica" panose="020B0500000000000000" pitchFamily="2" charset="0"/>
                <a:ea typeface="微软雅黑" panose="020B0503020204020204" charset="-122"/>
                <a:cs typeface="+mn-cs"/>
              </a:rPr>
              <a:t>Thank You</a:t>
            </a: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Helvetica" panose="020B0500000000000000" pitchFamily="2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7"/>
          <p:cNvSpPr txBox="1"/>
          <p:nvPr/>
        </p:nvSpPr>
        <p:spPr>
          <a:xfrm>
            <a:off x="3623693" y="3155721"/>
            <a:ext cx="5309292" cy="33855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ea typeface="Tahoma" panose="020B0604030504040204" pitchFamily="34" charset="0"/>
                <a:cs typeface="Calibri" panose="020F0502020204030204" charset="0"/>
                <a:sym typeface="+mn-lt"/>
              </a:rPr>
              <a:t>Smart Link, Bright Future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ea typeface="Tahoma" panose="020B0604030504040204" pitchFamily="34" charset="0"/>
                <a:cs typeface="Calibri" panose="020F0502020204030204" charset="0"/>
                <a:sym typeface="+mn-lt"/>
              </a:rPr>
              <a:t>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ea typeface="华文行楷" panose="02010800040101010101" pitchFamily="2" charset="-122"/>
                <a:cs typeface="Adobe Arabic" panose="02040503050201020203" pitchFamily="18" charset="-78"/>
                <a:sym typeface="+mn-lt"/>
              </a:rPr>
              <a:t>连接创新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ea typeface="华文行楷" panose="02010800040101010101" pitchFamily="2" charset="-122"/>
                <a:cs typeface="Adobe Arabic" panose="02040503050201020203" pitchFamily="18" charset="-78"/>
                <a:sym typeface="+mn-lt"/>
              </a:rPr>
              <a:t>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uLnTx/>
                <a:uFillTx/>
                <a:latin typeface="Helvetica" panose="020B0500000000000000" pitchFamily="2" charset="0"/>
                <a:ea typeface="华文行楷" panose="02010800040101010101" pitchFamily="2" charset="-122"/>
                <a:cs typeface="Adobe Arabic" panose="02040503050201020203" pitchFamily="18" charset="-78"/>
                <a:sym typeface="+mn-lt"/>
              </a:rPr>
              <a:t>成就未来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uLnTx/>
              <a:uFillTx/>
              <a:latin typeface="Helvetica" panose="020B0500000000000000" pitchFamily="2" charset="0"/>
              <a:ea typeface="华文行楷" panose="02010800040101010101" pitchFamily="2" charset="-122"/>
              <a:cs typeface="Adobe Arabic" panose="02040503050201020203" pitchFamily="18" charset="-78"/>
            </a:endParaRPr>
          </a:p>
        </p:txBody>
      </p:sp>
      <p:cxnSp>
        <p:nvCxnSpPr>
          <p:cNvPr id="29" name="直線接點 28"/>
          <p:cNvCxnSpPr/>
          <p:nvPr/>
        </p:nvCxnSpPr>
        <p:spPr>
          <a:xfrm>
            <a:off x="0" y="3534031"/>
            <a:ext cx="1220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dc6b799-4aac-49a4-996f-d7fac4cefd14"/>
  <p:tag name="COMMONDATA" val="eyJoZGlkIjoiYjIwYjY3NjBkYjc3NDI1MWMwM2Q3NzNjYjgxYzkzM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b611eb8-3c0c-4237-9ae1-70ae96506086}"/>
  <p:tag name="TABLE_ENDDRAG_ORIGIN_RECT" val="912*331"/>
  <p:tag name="TABLE_ENDDRAG_RECT" val="9*63*912*33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c0daf596-8752-45c2-acc8-a264d4cfb60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f6b84ec-892f-4081-8620-c1ee90c1843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e971c43-fe3e-4a10-96c0-ebce64f3f9f3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7d7fda3-13f7-42ea-87c7-8bd0b6cf0f4f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114d558-d537-420c-aa82-e4d42c130ba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114d558-d537-420c-aa82-e4d42c130ba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93574d1-4ec7-4f90-a393-e020b447b2e1}"/>
  <p:tag name="TABLE_ENDDRAG_ORIGIN_RECT" val="935*367"/>
  <p:tag name="TABLE_ENDDRAG_RECT" val="11*125*935*367"/>
</p:tagLst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BB901724E1233443BE54A04461917D14" ma:contentTypeVersion="1" ma:contentTypeDescription="新建文档。" ma:contentTypeScope="" ma:versionID="2dcaca0b1967e487a06d80a004959bad">
  <xsd:schema xmlns:xsd="http://www.w3.org/2001/XMLSchema" xmlns:xs="http://www.w3.org/2001/XMLSchema" xmlns:p="http://schemas.microsoft.com/office/2006/metadata/properties" xmlns:ns2="57197446-0b78-417e-92cf-9cb65f43c996" targetNamespace="http://schemas.microsoft.com/office/2006/metadata/properties" ma:root="true" ma:fieldsID="a6a1eddc7c91eb1c075ce97a9657aaee" ns2:_="">
    <xsd:import namespace="57197446-0b78-417e-92cf-9cb65f43c99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97446-0b78-417e-92cf-9cb65f43c99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文档 ID 值" ma:description="分配至此项的文档 ID 值。" ma:internalName="_dlc_DocId" ma:readOnly="true">
      <xsd:simpleType>
        <xsd:restriction base="dms:Text"/>
      </xsd:simpleType>
    </xsd:element>
    <xsd:element name="_dlc_DocIdUrl" ma:index="9" nillable="true" ma:displayName="文档 ID" ma:description="此文档的永久链接。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永久 ID" ma:description="在添加过程中保留 ID。" ma:hidden="true" ma:internalName="_dlc_DocIdPersistId" ma:readOnly="true">
      <xsd:simpleType>
        <xsd:restriction base="dms:Boolean"/>
      </xsd:simpleType>
    </xsd:element>
    <xsd:element name="SharedWithUsers" ma:index="11" nillable="true" ma:displayName="共享对象: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57197446-0b78-417e-92cf-9cb65f43c996">WYQRU22M7QQV-1965666017-315</_dlc_DocId>
    <_dlc_DocIdUrl xmlns="57197446-0b78-417e-92cf-9cb65f43c996">
      <Url>http://sp.luxshare-ict.com/sites/ITinfra/_layouts/15/DocIdRedir.aspx?ID=WYQRU22M7QQV-1965666017-315</Url>
      <Description>WYQRU22M7QQV-1965666017-315</Description>
    </_dlc_DocIdUrl>
  </documentManagement>
</p:properties>
</file>

<file path=customXml/itemProps1.xml><?xml version="1.0" encoding="utf-8"?>
<ds:datastoreItem xmlns:ds="http://schemas.openxmlformats.org/officeDocument/2006/customXml" ds:itemID="{E4660E2E-EBA7-421B-B5D9-98A1B938CDDE}">
  <ds:schemaRefs/>
</ds:datastoreItem>
</file>

<file path=customXml/itemProps2.xml><?xml version="1.0" encoding="utf-8"?>
<ds:datastoreItem xmlns:ds="http://schemas.openxmlformats.org/officeDocument/2006/customXml" ds:itemID="{7A61FB6C-4C65-431C-9047-9224A35F8970}">
  <ds:schemaRefs/>
</ds:datastoreItem>
</file>

<file path=customXml/itemProps3.xml><?xml version="1.0" encoding="utf-8"?>
<ds:datastoreItem xmlns:ds="http://schemas.openxmlformats.org/officeDocument/2006/customXml" ds:itemID="{74F78CBB-97DB-4808-B3FF-19079BCC70FA}">
  <ds:schemaRefs/>
</ds:datastoreItem>
</file>

<file path=customXml/itemProps4.xml><?xml version="1.0" encoding="utf-8"?>
<ds:datastoreItem xmlns:ds="http://schemas.openxmlformats.org/officeDocument/2006/customXml" ds:itemID="{DB175974-A8C8-407C-BDD0-4CF42C9B504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2516</Words>
  <Application>Microsoft Office PowerPoint</Application>
  <PresentationFormat>宽屏</PresentationFormat>
  <Paragraphs>536</Paragraphs>
  <Slides>32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50" baseType="lpstr">
      <vt:lpstr>Adobe Arabic</vt:lpstr>
      <vt:lpstr>Helvetica Neue</vt:lpstr>
      <vt:lpstr>Helvetica Neue UltraLight</vt:lpstr>
      <vt:lpstr>PMingLiU</vt:lpstr>
      <vt:lpstr>PMingLiU</vt:lpstr>
      <vt:lpstr>Zapf Dingbats</vt:lpstr>
      <vt:lpstr>等线</vt:lpstr>
      <vt:lpstr>等线 Light</vt:lpstr>
      <vt:lpstr>黑体</vt:lpstr>
      <vt:lpstr>华文行楷</vt:lpstr>
      <vt:lpstr>宋体</vt:lpstr>
      <vt:lpstr>微软雅黑</vt:lpstr>
      <vt:lpstr>Arial</vt:lpstr>
      <vt:lpstr>Calibri</vt:lpstr>
      <vt:lpstr>Calibri Light</vt:lpstr>
      <vt:lpstr>Helvetica</vt:lpstr>
      <vt:lpstr>Tahoma</vt:lpstr>
      <vt:lpstr>自訂設計</vt:lpstr>
      <vt:lpstr>PowerPoint 演示文稿</vt:lpstr>
      <vt:lpstr>LUXSAN TECH |  目录</vt:lpstr>
      <vt:lpstr>数据底座架构</vt:lpstr>
      <vt:lpstr>LUXSAN TECH |  目录</vt:lpstr>
      <vt:lpstr>数据底座-工作职责</vt:lpstr>
      <vt:lpstr>数据底座-帐号权限管理(Flow 中央管理的模式)</vt:lpstr>
      <vt:lpstr>数据底座-数据入湖流程</vt:lpstr>
      <vt:lpstr>数据底座-API对外发布数据</vt:lpstr>
      <vt:lpstr>数据底座-团队清单</vt:lpstr>
      <vt:lpstr>数据底座-账号清单</vt:lpstr>
      <vt:lpstr>数据底座-后台DB管理群组帐号</vt:lpstr>
      <vt:lpstr>数据底座-工作分工协同</vt:lpstr>
      <vt:lpstr>数据底座-ETL 同步标准</vt:lpstr>
      <vt:lpstr>数据底座-调度任务流命名标准</vt:lpstr>
      <vt:lpstr>数据底座-非调度任务流命名标准</vt:lpstr>
      <vt:lpstr>数据底座-任务命名规范</vt:lpstr>
      <vt:lpstr>数据底座-调度任务流名称（标准名称模板）</vt:lpstr>
      <vt:lpstr>数据底座-非调度任务流名称(标准名称)</vt:lpstr>
      <vt:lpstr>数据底座-任务描述(增加开发相关信息)</vt:lpstr>
      <vt:lpstr>数据底座-数据源标准</vt:lpstr>
      <vt:lpstr>数据底座-数仓层级</vt:lpstr>
      <vt:lpstr>数据底座-数仓层级</vt:lpstr>
      <vt:lpstr>数据底座-数仓层级</vt:lpstr>
      <vt:lpstr>数据底座-数仓层级</vt:lpstr>
      <vt:lpstr>数据底座-命名实例</vt:lpstr>
      <vt:lpstr>LUXSAN TECH |  目录</vt:lpstr>
      <vt:lpstr>数据计算和分析流程</vt:lpstr>
      <vt:lpstr>数据底座-计算框架</vt:lpstr>
      <vt:lpstr>LUXSAN TECH |  目录</vt:lpstr>
      <vt:lpstr>数据底座-应用访问</vt:lpstr>
      <vt:lpstr>数据底座-应用层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 Du(LUXSHARE-ICT)</dc:creator>
  <cp:lastModifiedBy>Brant Yang(LUXSAN-ICT)</cp:lastModifiedBy>
  <cp:revision>1733</cp:revision>
  <dcterms:created xsi:type="dcterms:W3CDTF">2018-02-01T02:02:00Z</dcterms:created>
  <dcterms:modified xsi:type="dcterms:W3CDTF">2023-05-17T05:11:40Z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0x010100BB901724E1233443BE54A04461917D14</vt:lpwstr>
  </property>
  <property fmtid="{D5CDD505-2E9C-101B-9397-08002B2CF9AE}" pid="3" name="_dlc_DocIdItemGuid">
    <vt:lpwstr>33371b35-0e23-42f3-85d4-4e3e3105710d</vt:lpwstr>
  </property>
  <property fmtid="{D5CDD505-2E9C-101B-9397-08002B2CF9AE}" pid="4" name="ICV">
    <vt:lpwstr>7BBF74A341334F5D8312A69D214EA146_13</vt:lpwstr>
  </property>
  <property fmtid="{D5CDD505-2E9C-101B-9397-08002B2CF9AE}" pid="5" name="KSOProductBuildVer">
    <vt:lpwstr>2052-11.1.0.14309</vt:lpwstr>
  </property>
</Properties>
</file>